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0" r:id="rId12"/>
    <p:sldId id="261" r:id="rId13"/>
    <p:sldId id="262" r:id="rId14"/>
    <p:sldId id="263" r:id="rId15"/>
    <p:sldId id="264" r:id="rId16"/>
    <p:sldId id="268" r:id="rId20"/>
    <p:sldId id="269" r:id="rId21"/>
    <p:sldId id="267" r:id="rId19"/>
    <p:sldId id="259" r:id="rId11"/>
    <p:sldId id="265" r:id="rId17"/>
    <p:sldId id="266" r:id="rId18"/>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Good afternoon. We are Lucas, Phuc, Hai and Kha. Order Rescue is a policy-gated decision layer for failed last-mile deliveries, designed to host an LLM agent. It recommends to Ops; it never acts on its own. Everything runs on synthetic data and is labelled as such. Be upfront: today a deterministic assessor stands in for the LLM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[0:15-0:25] (10 seconds) We align with Autonomous and Adaptive AI: an agent that reasons, asks, then reassesses within limits. It also reflects Deep Domain AI: the rules come from how delivery Ops actually reasons, such as silence is not refusal.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[0:25-0:50] When a first delivery attempt fails, Ops sees a code like recipient unavailable or refused. Public Shopee guidance itself says delivery status can be incorrect or incomplete. Re-attempting blindly wastes a courier trip; closing too early loses a sale. Four parties feel it: buyers, couriers, Ops, sellers (detail 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Four parties feel this. Buyers wait for parcels; couriers burn attempts; Ops triage case by case without evidence; sellers risk returns. The hard part is that one status maps to many causes, and the buyer is the only person who can resolve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[0:50-1:05] We prioritised a trustworthy decision, not a flashy integration. In scope: evidence-based assessment, one buyer question, a deterministic policy gate and an audit trail. Out of scope: anything that touches the real world.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[1:05-1:45] Walk the diagram. Raw data goes through a pre-check; malformed or closed cases never reach the AI. Agent assessment 1 produces evidence and a hypothesis. If information is missing, the backend contact gate allows exactly one buyer question. A reply triggers assessment 2; a manual no-reply keeps assessment 1. Then the policy engine decides what is permitted, and Ops receives the recommendation. Say plainly: the deterministic assessor plays the agent role today; the LLM agent is next. The novelty is the bounded design: one buyer question, fixed vocabularies, policy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[1:45-1:55] The agent (today the deterministic assessor) returns exactly six fields, and values must come from approved lists: 7 hypotheses, 8 missing-info codes, 5 candidate actions. Confidence measures support for the hypothesis, not delivery success.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[1:55-2:15] This is the trust story. High confidence does not override policy. Retry needs direct buyer intent, availability and sufficient delivery info. Anything outside the MVP, such as changing an address, is blocked and escalated. These checks are plain deterministic code that we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[2:15-2:30] Today it is a local Vite, React and TypeScript app. Fixtures stand in for the data stores; a deterministic assessor stands in for the LLM agent; the policy gate and audit trail are real local code. The target design has the same three layers, backed by the 9-table data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Scaling is a path, not a claim. The evaluation harness does not exist yet; only the 30 cases and unit tests do. Real carrier data replaces fixtures, a queue handles volume, each policy version gets its own profile, and an evaluation harness reuses our 30 synthetic cases as a regression suite.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Integration is designed, not built. The agent would read delivery-event and order stores, ask the buyer through a backend-controlled channel, and show recommendations in an Ops console with a human decision. State clearly: the MVP integrates with nothing live.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(15 seconds) These are hypotheses to validate with real data, not results. We deliberately show no savings or accuracy numbers because we have none. What we can show is the mechanism: evidence-backed, explainable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[2:30-3:15] (45 seconds) TEAM MUST CONFIRM before presenting which files Codex generated versus Claude Code; the repo also contains .claude/ and CLAUDE.md, so do not imply Codex did everything. Verifiable facts: 15 Codex agent configs in .codex/agents, 34 skills in .agents/skills, a Vitest suite (23 tests in 6 files passed on 29 Oct; re-run npm run test:unit immediately before presenting and quote the fresh number) and a Playwright spec in e2e/. Show the repo view on screen. Do not state accuracy or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[3:15-5:45] (2.5 minutes, live) Show one case end to end: evidence, assessment, policy result, audit. Then the blocked request. Use the truth legend: real local code versus simulated data versus future.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after the end; Q&amp;A] Likely questions: How is the LLM kept honest? Policy gate and fixed vocabularies. What about real data? Not accessed; next step needs permission. Where is the AI? The v2.2 contract, six fixed-vocabulary fields and the recommendation prompt branch define the LLM part; a deterministic assessor stands in today. Where do numbers come from? We claim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2011680" y="960120"/>
            <a:ext cx="5120640" cy="274320"/>
          </a:xfrm>
          <a:prstGeom prst="rect">
            <a:avLst/>
          </a:prstGeom>
          <a:noFill/>
        </p:spPr>
        <p:txBody>
          <a:bodyPr wrap="square" anchor="t" lIns="40000" rIns="40000" tIns="20000" bIns="20000">
            <a:spAutoFit/>
          </a:bodyPr>
          <a:lstStyle/>
          <a:p>
            <a:pPr algn="ctr">
              <a:spcBef>
                <a:spcPts val="0"/>
              </a:spcBef>
              <a:spcAft>
                <a:spcPts val="0"/>
              </a:spcAft>
            </a:pPr>
            <a:r>
              <a:rPr sz="1200" b="1">
                <a:solidFill>
                  <a:srgbClr val="FF5520"/>
                </a:solidFill>
                <a:latin typeface="Open Sans"/>
              </a:rPr>
              <a:t>SEA X OPENAI CODEX HACKATHON | 31 OCT 2026</a:t>
            </a:r>
          </a:p>
        </p:txBody>
      </p:sp>
      <p:sp>
        <p:nvSpPr>
          <p:cNvPr id="4" name="TextBox 3"/>
          <p:cNvSpPr txBox="1"/>
          <p:nvPr/>
        </p:nvSpPr>
        <p:spPr>
          <a:xfrm>
            <a:off x="1828800" y="1207008"/>
            <a:ext cx="5486400" cy="731520"/>
          </a:xfrm>
          <a:prstGeom prst="rect">
            <a:avLst/>
          </a:prstGeom>
          <a:noFill/>
        </p:spPr>
        <p:txBody>
          <a:bodyPr wrap="square" anchor="t" lIns="40000" rIns="40000" tIns="20000" bIns="20000">
            <a:spAutoFit/>
          </a:bodyPr>
          <a:lstStyle/>
          <a:p>
            <a:pPr algn="ctr">
              <a:spcBef>
                <a:spcPts val="0"/>
              </a:spcBef>
              <a:spcAft>
                <a:spcPts val="0"/>
              </a:spcAft>
            </a:pPr>
            <a:r>
              <a:rPr sz="4000" b="1">
                <a:solidFill>
                  <a:srgbClr val="FFFFFF"/>
                </a:solidFill>
                <a:latin typeface="Open Sans"/>
              </a:rPr>
              <a:t>Order Rescue</a:t>
            </a:r>
          </a:p>
        </p:txBody>
      </p:sp>
      <p:sp>
        <p:nvSpPr>
          <p:cNvPr id="5" name="TextBox 4"/>
          <p:cNvSpPr txBox="1"/>
          <p:nvPr/>
        </p:nvSpPr>
        <p:spPr>
          <a:xfrm>
            <a:off x="1737360" y="1920240"/>
            <a:ext cx="5669280" cy="411480"/>
          </a:xfrm>
          <a:prstGeom prst="rect">
            <a:avLst/>
          </a:prstGeom>
          <a:noFill/>
        </p:spPr>
        <p:txBody>
          <a:bodyPr wrap="square" anchor="t" lIns="40000" rIns="40000" tIns="20000" bIns="20000">
            <a:spAutoFit/>
          </a:bodyPr>
          <a:lstStyle/>
          <a:p>
            <a:pPr algn="ctr">
              <a:spcBef>
                <a:spcPts val="0"/>
              </a:spcBef>
              <a:spcAft>
                <a:spcPts val="0"/>
              </a:spcAft>
            </a:pPr>
            <a:r>
              <a:rPr sz="2000" b="1">
                <a:solidFill>
                  <a:srgbClr val="00D4A0"/>
                </a:solidFill>
                <a:latin typeface="Open Sans"/>
              </a:rPr>
              <a:t>Adaptive Delivery Recovery Agent</a:t>
            </a:r>
          </a:p>
        </p:txBody>
      </p:sp>
      <p:sp>
        <p:nvSpPr>
          <p:cNvPr id="6" name="TextBox 5"/>
          <p:cNvSpPr txBox="1"/>
          <p:nvPr/>
        </p:nvSpPr>
        <p:spPr>
          <a:xfrm>
            <a:off x="2011680" y="2377440"/>
            <a:ext cx="5120640" cy="685800"/>
          </a:xfrm>
          <a:prstGeom prst="rect">
            <a:avLst/>
          </a:prstGeom>
          <a:noFill/>
        </p:spPr>
        <p:txBody>
          <a:bodyPr wrap="square" anchor="t" lIns="40000" rIns="40000" tIns="20000" bIns="20000">
            <a:spAutoFit/>
          </a:bodyPr>
          <a:lstStyle/>
          <a:p>
            <a:pPr algn="ctr">
              <a:spcBef>
                <a:spcPts val="0"/>
              </a:spcBef>
              <a:spcAft>
                <a:spcPts val="0"/>
              </a:spcAft>
            </a:pPr>
            <a:r>
              <a:rPr sz="1400" b="0">
                <a:solidFill>
                  <a:srgbClr val="FFFFFF"/>
                </a:solidFill>
                <a:latin typeface="Open Sans"/>
              </a:rPr>
              <a:t>Works out why a delivery failed, asks the buyer one good question, and hands Ops an explainable, policy-checked recommendation.</a:t>
            </a:r>
          </a:p>
        </p:txBody>
      </p:sp>
      <p:sp>
        <p:nvSpPr>
          <p:cNvPr id="7" name="TextBox 6"/>
          <p:cNvSpPr txBox="1"/>
          <p:nvPr/>
        </p:nvSpPr>
        <p:spPr>
          <a:xfrm>
            <a:off x="2011680" y="3063240"/>
            <a:ext cx="5120640" cy="685800"/>
          </a:xfrm>
          <a:prstGeom prst="rect">
            <a:avLst/>
          </a:prstGeom>
          <a:noFill/>
        </p:spPr>
        <p:txBody>
          <a:bodyPr wrap="square" anchor="t" lIns="40000" rIns="40000" tIns="20000" bIns="20000">
            <a:spAutoFit/>
          </a:bodyPr>
          <a:lstStyle/>
          <a:p>
            <a:pPr algn="ctr">
              <a:spcBef>
                <a:spcPts val="0"/>
              </a:spcBef>
              <a:spcAft>
                <a:spcPts val="0"/>
              </a:spcAft>
            </a:pPr>
            <a:r>
              <a:rPr sz="1400" b="1">
                <a:solidFill>
                  <a:srgbClr val="FF5520"/>
                </a:solidFill>
                <a:latin typeface="Open Sans"/>
              </a:rPr>
              <a:t>Honest status: today a deterministic assessor stands in for the LLM agent; the LLM agent is the next step.</a:t>
            </a:r>
          </a:p>
        </p:txBody>
      </p:sp>
      <p:sp>
        <p:nvSpPr>
          <p:cNvPr id="8" name="Rounded Rectangle 7"/>
          <p:cNvSpPr/>
          <p:nvPr/>
        </p:nvSpPr>
        <p:spPr>
          <a:xfrm>
            <a:off x="2103120" y="3657600"/>
            <a:ext cx="1188720" cy="987552"/>
          </a:xfrm>
          <a:prstGeom prst="roundRect">
            <a:avLst>
              <a:gd name="adj" fmla="val 833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91440" bIns="91440"/>
          <a:lstStyle/>
          <a:p>
            <a:pPr algn="ctr">
              <a:spcBef>
                <a:spcPts val="0"/>
              </a:spcBef>
              <a:spcAft>
                <a:spcPts val="100"/>
              </a:spcAft>
            </a:pPr>
            <a:r>
              <a:rPr sz="1400" b="1">
                <a:solidFill>
                  <a:srgbClr val="FFFFFF"/>
                </a:solidFill>
                <a:latin typeface="Open Sans"/>
              </a:rPr>
              <a:t>Lucas</a:t>
            </a:r>
          </a:p>
          <a:p>
            <a:pPr algn="ctr">
              <a:spcBef>
                <a:spcPts val="0"/>
              </a:spcBef>
              <a:spcAft>
                <a:spcPts val="0"/>
              </a:spcAft>
            </a:pPr>
            <a:r>
              <a:rPr sz="1200" b="0">
                <a:solidFill>
                  <a:srgbClr val="8AAACC"/>
                </a:solidFill>
                <a:latin typeface="Open Sans"/>
              </a:rPr>
              <a:t>Scope and demo flow</a:t>
            </a:r>
          </a:p>
        </p:txBody>
      </p:sp>
      <p:sp>
        <p:nvSpPr>
          <p:cNvPr id="9" name="Rectangle 8"/>
          <p:cNvSpPr/>
          <p:nvPr/>
        </p:nvSpPr>
        <p:spPr>
          <a:xfrm>
            <a:off x="2267712" y="365760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83279" y="3657600"/>
            <a:ext cx="1188720" cy="987552"/>
          </a:xfrm>
          <a:prstGeom prst="roundRect">
            <a:avLst>
              <a:gd name="adj" fmla="val 833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91440" bIns="91440"/>
          <a:lstStyle/>
          <a:p>
            <a:pPr algn="ctr">
              <a:spcBef>
                <a:spcPts val="0"/>
              </a:spcBef>
              <a:spcAft>
                <a:spcPts val="100"/>
              </a:spcAft>
            </a:pPr>
            <a:r>
              <a:rPr sz="1400" b="1">
                <a:solidFill>
                  <a:srgbClr val="FFFFFF"/>
                </a:solidFill>
                <a:latin typeface="Open Sans"/>
              </a:rPr>
              <a:t>Phuc</a:t>
            </a:r>
          </a:p>
          <a:p>
            <a:pPr algn="ctr">
              <a:spcBef>
                <a:spcPts val="0"/>
              </a:spcBef>
              <a:spcAft>
                <a:spcPts val="0"/>
              </a:spcAft>
            </a:pPr>
            <a:r>
              <a:rPr sz="1200" b="0">
                <a:solidFill>
                  <a:srgbClr val="8AAACC"/>
                </a:solidFill>
                <a:latin typeface="Open Sans"/>
              </a:rPr>
              <a:t>AI feasibility</a:t>
            </a:r>
          </a:p>
        </p:txBody>
      </p:sp>
      <p:sp>
        <p:nvSpPr>
          <p:cNvPr id="11" name="Rectangle 10"/>
          <p:cNvSpPr/>
          <p:nvPr/>
        </p:nvSpPr>
        <p:spPr>
          <a:xfrm>
            <a:off x="3547872" y="365760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663440" y="3657600"/>
            <a:ext cx="1188720" cy="987552"/>
          </a:xfrm>
          <a:prstGeom prst="roundRect">
            <a:avLst>
              <a:gd name="adj" fmla="val 833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91440" bIns="91440"/>
          <a:lstStyle/>
          <a:p>
            <a:pPr algn="ctr">
              <a:spcBef>
                <a:spcPts val="0"/>
              </a:spcBef>
              <a:spcAft>
                <a:spcPts val="100"/>
              </a:spcAft>
            </a:pPr>
            <a:r>
              <a:rPr sz="1400" b="1">
                <a:solidFill>
                  <a:srgbClr val="FFFFFF"/>
                </a:solidFill>
                <a:latin typeface="Open Sans"/>
              </a:rPr>
              <a:t>Hai</a:t>
            </a:r>
          </a:p>
          <a:p>
            <a:pPr algn="ctr">
              <a:spcBef>
                <a:spcPts val="0"/>
              </a:spcBef>
              <a:spcAft>
                <a:spcPts val="0"/>
              </a:spcAft>
            </a:pPr>
            <a:r>
              <a:rPr sz="1200" b="0">
                <a:solidFill>
                  <a:srgbClr val="8AAACC"/>
                </a:solidFill>
                <a:latin typeface="Open Sans"/>
              </a:rPr>
              <a:t>Business rules and test cases</a:t>
            </a:r>
          </a:p>
        </p:txBody>
      </p:sp>
      <p:sp>
        <p:nvSpPr>
          <p:cNvPr id="13" name="Rectangle 12"/>
          <p:cNvSpPr/>
          <p:nvPr/>
        </p:nvSpPr>
        <p:spPr>
          <a:xfrm>
            <a:off x="4828031" y="365760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599" y="3657600"/>
            <a:ext cx="1188720" cy="987552"/>
          </a:xfrm>
          <a:prstGeom prst="roundRect">
            <a:avLst>
              <a:gd name="adj" fmla="val 833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91440" bIns="91440"/>
          <a:lstStyle/>
          <a:p>
            <a:pPr algn="ctr">
              <a:spcBef>
                <a:spcPts val="0"/>
              </a:spcBef>
              <a:spcAft>
                <a:spcPts val="100"/>
              </a:spcAft>
            </a:pPr>
            <a:r>
              <a:rPr sz="1400" b="1">
                <a:solidFill>
                  <a:srgbClr val="FFFFFF"/>
                </a:solidFill>
                <a:latin typeface="Open Sans"/>
              </a:rPr>
              <a:t>Kha</a:t>
            </a:r>
          </a:p>
          <a:p>
            <a:pPr algn="ctr">
              <a:spcBef>
                <a:spcPts val="0"/>
              </a:spcBef>
              <a:spcAft>
                <a:spcPts val="0"/>
              </a:spcAft>
            </a:pPr>
            <a:r>
              <a:rPr sz="1200" b="0">
                <a:solidFill>
                  <a:srgbClr val="8AAACC"/>
                </a:solidFill>
                <a:latin typeface="Open Sans"/>
              </a:rPr>
              <a:t>Concept owner</a:t>
            </a:r>
          </a:p>
        </p:txBody>
      </p:sp>
      <p:sp>
        <p:nvSpPr>
          <p:cNvPr id="15" name="Rectangle 14"/>
          <p:cNvSpPr/>
          <p:nvPr/>
        </p:nvSpPr>
        <p:spPr>
          <a:xfrm>
            <a:off x="6108191" y="365760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754880"/>
            <a:ext cx="4023360" cy="256032"/>
          </a:xfrm>
          <a:prstGeom prst="rect">
            <a:avLst/>
          </a:prstGeom>
          <a:noFill/>
        </p:spPr>
        <p:txBody>
          <a:bodyPr wrap="square" anchor="t" lIns="40000" rIns="40000" tIns="20000" bIns="20000">
            <a:spAutoFit/>
          </a:bodyPr>
          <a:lstStyle/>
          <a:p>
            <a:pPr algn="ctr">
              <a:spcBef>
                <a:spcPts val="0"/>
              </a:spcBef>
              <a:spcAft>
                <a:spcPts val="0"/>
              </a:spcAft>
            </a:pPr>
            <a:r>
              <a:rPr sz="1000" b="0">
                <a:solidFill>
                  <a:srgbClr val="7A8FA8"/>
                </a:solidFill>
                <a:latin typeface="Open Sans"/>
              </a:rPr>
              <a:t>Order Rescue | synthetic data only | local MVP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1  INTRO</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Why this fits the build directions</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2</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2560320" cy="2103120"/>
          </a:xfrm>
          <a:prstGeom prst="roundRect">
            <a:avLst>
              <a:gd name="adj" fmla="val 391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01</a:t>
            </a:r>
          </a:p>
          <a:p>
            <a:pPr algn="l">
              <a:spcBef>
                <a:spcPts val="0"/>
              </a:spcBef>
              <a:spcAft>
                <a:spcPts val="400"/>
              </a:spcAft>
            </a:pPr>
            <a:r>
              <a:rPr sz="1600" b="1">
                <a:solidFill>
                  <a:srgbClr val="FFFFFF"/>
                </a:solidFill>
                <a:latin typeface="Open Sans"/>
              </a:rPr>
              <a:t>Autonomous &amp; Adaptive AI</a:t>
            </a:r>
          </a:p>
          <a:p>
            <a:pPr algn="l">
              <a:spcBef>
                <a:spcPts val="0"/>
              </a:spcBef>
              <a:spcAft>
                <a:spcPts val="0"/>
              </a:spcAft>
            </a:pPr>
            <a:r>
              <a:rPr sz="1400" b="0">
                <a:solidFill>
                  <a:srgbClr val="8AAACC"/>
                </a:solidFill>
                <a:latin typeface="Open Sans"/>
              </a:rPr>
              <a:t>Reassesses after one buyer reply; stays inside hard limits</a:t>
            </a:r>
          </a:p>
        </p:txBody>
      </p:sp>
      <p:sp>
        <p:nvSpPr>
          <p:cNvPr id="9" name="Rectangle 8"/>
          <p:cNvSpPr/>
          <p:nvPr/>
        </p:nvSpPr>
        <p:spPr>
          <a:xfrm>
            <a:off x="713232"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91840" y="1463040"/>
            <a:ext cx="2560320" cy="2103120"/>
          </a:xfrm>
          <a:prstGeom prst="roundRect">
            <a:avLst>
              <a:gd name="adj" fmla="val 391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00D4A0"/>
                </a:solidFill>
                <a:latin typeface="Open Sans"/>
              </a:rPr>
              <a:t>02</a:t>
            </a:r>
          </a:p>
          <a:p>
            <a:pPr algn="l">
              <a:spcBef>
                <a:spcPts val="0"/>
              </a:spcBef>
              <a:spcAft>
                <a:spcPts val="400"/>
              </a:spcAft>
            </a:pPr>
            <a:r>
              <a:rPr sz="1600" b="1">
                <a:solidFill>
                  <a:srgbClr val="FFFFFF"/>
                </a:solidFill>
                <a:latin typeface="Open Sans"/>
              </a:rPr>
              <a:t>Deep Domain AI</a:t>
            </a:r>
          </a:p>
          <a:p>
            <a:pPr algn="l">
              <a:spcBef>
                <a:spcPts val="0"/>
              </a:spcBef>
              <a:spcAft>
                <a:spcPts val="0"/>
              </a:spcAft>
            </a:pPr>
            <a:r>
              <a:rPr sz="1400" b="0">
                <a:solidFill>
                  <a:srgbClr val="8AAACC"/>
                </a:solidFill>
                <a:latin typeface="Open Sans"/>
              </a:rPr>
              <a:t>Ops logic encoded: courier notes are unverified, silence is not refusal</a:t>
            </a:r>
          </a:p>
        </p:txBody>
      </p:sp>
      <p:sp>
        <p:nvSpPr>
          <p:cNvPr id="11" name="Rectangle 10"/>
          <p:cNvSpPr/>
          <p:nvPr/>
        </p:nvSpPr>
        <p:spPr>
          <a:xfrm>
            <a:off x="3456432"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1463040"/>
            <a:ext cx="2560320" cy="2103120"/>
          </a:xfrm>
          <a:prstGeom prst="roundRect">
            <a:avLst>
              <a:gd name="adj" fmla="val 391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FF5520"/>
                </a:solidFill>
                <a:latin typeface="Open Sans"/>
              </a:rPr>
              <a:t>03</a:t>
            </a:r>
          </a:p>
          <a:p>
            <a:pPr algn="l">
              <a:spcBef>
                <a:spcPts val="0"/>
              </a:spcBef>
              <a:spcAft>
                <a:spcPts val="400"/>
              </a:spcAft>
            </a:pPr>
            <a:r>
              <a:rPr sz="1600" b="1">
                <a:solidFill>
                  <a:srgbClr val="FFFFFF"/>
                </a:solidFill>
                <a:latin typeface="Open Sans"/>
              </a:rPr>
              <a:t>AI-Native Operations</a:t>
            </a:r>
          </a:p>
          <a:p>
            <a:pPr algn="l">
              <a:spcBef>
                <a:spcPts val="0"/>
              </a:spcBef>
              <a:spcAft>
                <a:spcPts val="0"/>
              </a:spcAft>
            </a:pPr>
            <a:r>
              <a:rPr sz="1400" b="0">
                <a:solidFill>
                  <a:srgbClr val="8AAACC"/>
                </a:solidFill>
                <a:latin typeface="Open Sans"/>
              </a:rPr>
              <a:t>Recommendation with evidence, not a bare status code</a:t>
            </a:r>
          </a:p>
        </p:txBody>
      </p:sp>
      <p:sp>
        <p:nvSpPr>
          <p:cNvPr id="13" name="Rectangle 12"/>
          <p:cNvSpPr/>
          <p:nvPr/>
        </p:nvSpPr>
        <p:spPr>
          <a:xfrm>
            <a:off x="6199631" y="14630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3794760"/>
            <a:ext cx="8046720" cy="548640"/>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91440" bIns="91440"/>
          <a:lstStyle/>
          <a:p>
            <a:pPr algn="l">
              <a:spcBef>
                <a:spcPts val="0"/>
              </a:spcBef>
              <a:spcAft>
                <a:spcPts val="0"/>
              </a:spcAft>
            </a:pPr>
            <a:r>
              <a:rPr sz="1600" b="1">
                <a:solidFill>
                  <a:srgbClr val="00D4A0"/>
                </a:solidFill>
                <a:latin typeface="Open Sans"/>
              </a:rPr>
              <a:t>Primary: </a:t>
            </a:r>
            <a:r>
              <a:rPr sz="1600" b="1">
                <a:solidFill>
                  <a:srgbClr val="FFFFFF"/>
                </a:solidFill>
                <a:latin typeface="Open Sans"/>
              </a:rPr>
              <a:t>Autonomous &amp; Adaptive AI.  </a:t>
            </a:r>
            <a:r>
              <a:rPr sz="1600" b="1">
                <a:solidFill>
                  <a:srgbClr val="3AB5F0"/>
                </a:solidFill>
                <a:latin typeface="Open Sans"/>
              </a:rPr>
              <a:t>Secondary: </a:t>
            </a:r>
            <a:r>
              <a:rPr sz="1600" b="1">
                <a:solidFill>
                  <a:srgbClr val="FFFFFF"/>
                </a:solidFill>
                <a:latin typeface="Open Sans"/>
              </a:rPr>
              <a:t>Deep Domain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2  PROBLEM STATEMENT</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Problem: a failed attempt is a status, not a cause</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3</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TextBox 7"/>
          <p:cNvSpPr txBox="1"/>
          <p:nvPr/>
        </p:nvSpPr>
        <p:spPr>
          <a:xfrm>
            <a:off x="548640" y="1508760"/>
            <a:ext cx="4846320" cy="2926080"/>
          </a:xfrm>
          <a:prstGeom prst="rect">
            <a:avLst/>
          </a:prstGeom>
          <a:noFill/>
        </p:spPr>
        <p:txBody>
          <a:bodyPr wrap="square" anchor="t" lIns="40000" rIns="40000" tIns="20000" bIns="20000">
            <a:spAutoFit/>
          </a:bodyPr>
          <a:lstStyle/>
          <a:p>
            <a:pPr algn="l">
              <a:spcBef>
                <a:spcPts val="0"/>
              </a:spcBef>
              <a:spcAft>
                <a:spcPts val="1000"/>
              </a:spcAft>
            </a:pPr>
            <a:r>
              <a:rPr sz="1600" b="1">
                <a:solidFill>
                  <a:srgbClr val="FF5520"/>
                </a:solidFill>
                <a:latin typeface="Open Sans"/>
              </a:rPr>
              <a:t>•  </a:t>
            </a:r>
            <a:r>
              <a:rPr sz="1600" b="0">
                <a:solidFill>
                  <a:srgbClr val="FFFFFF"/>
                </a:solidFill>
                <a:latin typeface="Open Sans"/>
              </a:rPr>
              <a:t>First attempts fail; the raw code is all Ops sees.</a:t>
            </a:r>
          </a:p>
          <a:p>
            <a:pPr algn="l">
              <a:spcBef>
                <a:spcPts val="0"/>
              </a:spcBef>
              <a:spcAft>
                <a:spcPts val="1000"/>
              </a:spcAft>
            </a:pPr>
            <a:r>
              <a:rPr sz="1600" b="1">
                <a:solidFill>
                  <a:srgbClr val="FF5520"/>
                </a:solidFill>
                <a:latin typeface="Open Sans"/>
              </a:rPr>
              <a:t>•  </a:t>
            </a:r>
            <a:r>
              <a:rPr sz="1600" b="0">
                <a:solidFill>
                  <a:srgbClr val="FFFFFF"/>
                </a:solidFill>
                <a:latin typeface="Open Sans"/>
              </a:rPr>
              <a:t>Courier notes are unverified and often vague.</a:t>
            </a:r>
          </a:p>
          <a:p>
            <a:pPr algn="l">
              <a:spcBef>
                <a:spcPts val="0"/>
              </a:spcBef>
              <a:spcAft>
                <a:spcPts val="1000"/>
              </a:spcAft>
            </a:pPr>
            <a:r>
              <a:rPr sz="1600" b="1">
                <a:solidFill>
                  <a:srgbClr val="FF5520"/>
                </a:solidFill>
                <a:latin typeface="Open Sans"/>
              </a:rPr>
              <a:t>•  </a:t>
            </a:r>
            <a:r>
              <a:rPr sz="1600" b="0">
                <a:solidFill>
                  <a:srgbClr val="FFFFFF"/>
                </a:solidFill>
                <a:latin typeface="Open Sans"/>
              </a:rPr>
              <a:t>Wrong guess: a wasted re-attempt, or a lost order.</a:t>
            </a:r>
          </a:p>
          <a:p>
            <a:pPr algn="l">
              <a:spcBef>
                <a:spcPts val="0"/>
              </a:spcBef>
              <a:spcAft>
                <a:spcPts val="1000"/>
              </a:spcAft>
            </a:pPr>
            <a:r>
              <a:rPr sz="1600" b="1">
                <a:solidFill>
                  <a:srgbClr val="FF5520"/>
                </a:solidFill>
                <a:latin typeface="Open Sans"/>
              </a:rPr>
              <a:t>•  </a:t>
            </a:r>
            <a:r>
              <a:rPr sz="1600" b="0">
                <a:solidFill>
                  <a:srgbClr val="FFFFFF"/>
                </a:solidFill>
                <a:latin typeface="Open Sans"/>
              </a:rPr>
              <a:t>No structured record of why a decision was made.</a:t>
            </a:r>
          </a:p>
        </p:txBody>
      </p:sp>
      <p:sp>
        <p:nvSpPr>
          <p:cNvPr id="9" name="Rounded Rectangle 8"/>
          <p:cNvSpPr/>
          <p:nvPr/>
        </p:nvSpPr>
        <p:spPr>
          <a:xfrm>
            <a:off x="5760720" y="1508760"/>
            <a:ext cx="2834640" cy="1005840"/>
          </a:xfrm>
          <a:prstGeom prst="roundRect">
            <a:avLst>
              <a:gd name="adj" fmla="val 8181"/>
            </a:avLst>
          </a:prstGeom>
          <a:solidFill>
            <a:srgbClr val="0B1220"/>
          </a:solidFill>
          <a:ln w="19050">
            <a:solidFill>
              <a:srgbClr val="FF552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spcBef>
                <a:spcPts val="0"/>
              </a:spcBef>
              <a:spcAft>
                <a:spcPts val="0"/>
              </a:spcAft>
            </a:pPr>
            <a:r>
              <a:rPr sz="1800" b="1">
                <a:solidFill>
                  <a:srgbClr val="FFFFFF"/>
                </a:solidFill>
                <a:latin typeface="Open Sans"/>
              </a:rPr>
              <a:t>recipient unavailable</a:t>
            </a:r>
          </a:p>
        </p:txBody>
      </p:sp>
      <p:sp>
        <p:nvSpPr>
          <p:cNvPr id="10" name="Rectangle 9"/>
          <p:cNvSpPr/>
          <p:nvPr/>
        </p:nvSpPr>
        <p:spPr>
          <a:xfrm>
            <a:off x="5925312" y="150876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2697480"/>
            <a:ext cx="2834640" cy="1280160"/>
          </a:xfrm>
          <a:prstGeom prst="rect">
            <a:avLst/>
          </a:prstGeom>
          <a:noFill/>
        </p:spPr>
        <p:txBody>
          <a:bodyPr wrap="square" anchor="t" lIns="40000" rIns="40000" tIns="20000" bIns="20000">
            <a:spAutoFit/>
          </a:bodyPr>
          <a:lstStyle/>
          <a:p>
            <a:pPr algn="l">
              <a:spcBef>
                <a:spcPts val="0"/>
              </a:spcBef>
              <a:spcAft>
                <a:spcPts val="0"/>
              </a:spcAft>
            </a:pPr>
            <a:r>
              <a:rPr sz="1400" b="0">
                <a:solidFill>
                  <a:srgbClr val="8AAACC"/>
                </a:solidFill>
                <a:latin typeface="Open Sans"/>
              </a:rPr>
              <a:t>Could mean: at work, wrong landmark, unreachable phone, or a disrupted route.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BACKUP | WHO IS HURT</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Why rescue is hard, and who is hurt</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12</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1874519" cy="1600200"/>
          </a:xfrm>
          <a:prstGeom prst="roundRect">
            <a:avLst>
              <a:gd name="adj" fmla="val 5142"/>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01</a:t>
            </a:r>
          </a:p>
          <a:p>
            <a:pPr algn="l">
              <a:spcBef>
                <a:spcPts val="0"/>
              </a:spcBef>
              <a:spcAft>
                <a:spcPts val="400"/>
              </a:spcAft>
            </a:pPr>
            <a:r>
              <a:rPr sz="1600" b="1">
                <a:solidFill>
                  <a:srgbClr val="FFFFFF"/>
                </a:solidFill>
                <a:latin typeface="Open Sans"/>
              </a:rPr>
              <a:t>Buyers</a:t>
            </a:r>
          </a:p>
          <a:p>
            <a:pPr algn="l">
              <a:spcBef>
                <a:spcPts val="0"/>
              </a:spcBef>
              <a:spcAft>
                <a:spcPts val="0"/>
              </a:spcAft>
            </a:pPr>
            <a:r>
              <a:rPr sz="1400" b="0">
                <a:solidFill>
                  <a:srgbClr val="8AAACC"/>
                </a:solidFill>
                <a:latin typeface="Open Sans"/>
              </a:rPr>
              <a:t>Wait, get re-contacted blindly</a:t>
            </a:r>
          </a:p>
        </p:txBody>
      </p:sp>
      <p:sp>
        <p:nvSpPr>
          <p:cNvPr id="9" name="Rectangle 8"/>
          <p:cNvSpPr/>
          <p:nvPr/>
        </p:nvSpPr>
        <p:spPr>
          <a:xfrm>
            <a:off x="713232"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606040" y="1463040"/>
            <a:ext cx="1874519" cy="1600200"/>
          </a:xfrm>
          <a:prstGeom prst="roundRect">
            <a:avLst>
              <a:gd name="adj" fmla="val 5142"/>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00D4A0"/>
                </a:solidFill>
                <a:latin typeface="Open Sans"/>
              </a:rPr>
              <a:t>02</a:t>
            </a:r>
          </a:p>
          <a:p>
            <a:pPr algn="l">
              <a:spcBef>
                <a:spcPts val="0"/>
              </a:spcBef>
              <a:spcAft>
                <a:spcPts val="400"/>
              </a:spcAft>
            </a:pPr>
            <a:r>
              <a:rPr sz="1600" b="1">
                <a:solidFill>
                  <a:srgbClr val="FFFFFF"/>
                </a:solidFill>
                <a:latin typeface="Open Sans"/>
              </a:rPr>
              <a:t>Couriers</a:t>
            </a:r>
          </a:p>
          <a:p>
            <a:pPr algn="l">
              <a:spcBef>
                <a:spcPts val="0"/>
              </a:spcBef>
              <a:spcAft>
                <a:spcPts val="0"/>
              </a:spcAft>
            </a:pPr>
            <a:r>
              <a:rPr sz="1400" b="0">
                <a:solidFill>
                  <a:srgbClr val="8AAACC"/>
                </a:solidFill>
                <a:latin typeface="Open Sans"/>
              </a:rPr>
              <a:t>Spend limited attempts</a:t>
            </a:r>
          </a:p>
        </p:txBody>
      </p:sp>
      <p:sp>
        <p:nvSpPr>
          <p:cNvPr id="11" name="Rectangle 10"/>
          <p:cNvSpPr/>
          <p:nvPr/>
        </p:nvSpPr>
        <p:spPr>
          <a:xfrm>
            <a:off x="2770632"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663440" y="1463040"/>
            <a:ext cx="1874519" cy="1600200"/>
          </a:xfrm>
          <a:prstGeom prst="roundRect">
            <a:avLst>
              <a:gd name="adj" fmla="val 5142"/>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FF5520"/>
                </a:solidFill>
                <a:latin typeface="Open Sans"/>
              </a:rPr>
              <a:t>03</a:t>
            </a:r>
          </a:p>
          <a:p>
            <a:pPr algn="l">
              <a:spcBef>
                <a:spcPts val="0"/>
              </a:spcBef>
              <a:spcAft>
                <a:spcPts val="400"/>
              </a:spcAft>
            </a:pPr>
            <a:r>
              <a:rPr sz="1600" b="1">
                <a:solidFill>
                  <a:srgbClr val="FFFFFF"/>
                </a:solidFill>
                <a:latin typeface="Open Sans"/>
              </a:rPr>
              <a:t>Ops</a:t>
            </a:r>
          </a:p>
          <a:p>
            <a:pPr algn="l">
              <a:spcBef>
                <a:spcPts val="0"/>
              </a:spcBef>
              <a:spcAft>
                <a:spcPts val="0"/>
              </a:spcAft>
            </a:pPr>
            <a:r>
              <a:rPr sz="1400" b="0">
                <a:solidFill>
                  <a:srgbClr val="8AAACC"/>
                </a:solidFill>
                <a:latin typeface="Open Sans"/>
              </a:rPr>
              <a:t>Triage case by case</a:t>
            </a:r>
          </a:p>
        </p:txBody>
      </p:sp>
      <p:sp>
        <p:nvSpPr>
          <p:cNvPr id="13" name="Rectangle 12"/>
          <p:cNvSpPr/>
          <p:nvPr/>
        </p:nvSpPr>
        <p:spPr>
          <a:xfrm>
            <a:off x="4828031" y="14630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720840" y="1463040"/>
            <a:ext cx="1874519" cy="1600200"/>
          </a:xfrm>
          <a:prstGeom prst="roundRect">
            <a:avLst>
              <a:gd name="adj" fmla="val 5142"/>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04</a:t>
            </a:r>
          </a:p>
          <a:p>
            <a:pPr algn="l">
              <a:spcBef>
                <a:spcPts val="0"/>
              </a:spcBef>
              <a:spcAft>
                <a:spcPts val="400"/>
              </a:spcAft>
            </a:pPr>
            <a:r>
              <a:rPr sz="1600" b="1">
                <a:solidFill>
                  <a:srgbClr val="FFFFFF"/>
                </a:solidFill>
                <a:latin typeface="Open Sans"/>
              </a:rPr>
              <a:t>Sellers</a:t>
            </a:r>
          </a:p>
          <a:p>
            <a:pPr algn="l">
              <a:spcBef>
                <a:spcPts val="0"/>
              </a:spcBef>
              <a:spcAft>
                <a:spcPts val="0"/>
              </a:spcAft>
            </a:pPr>
            <a:r>
              <a:rPr sz="1400" b="0">
                <a:solidFill>
                  <a:srgbClr val="8AAACC"/>
                </a:solidFill>
                <a:latin typeface="Open Sans"/>
              </a:rPr>
              <a:t>Risk returns and lost sales</a:t>
            </a:r>
          </a:p>
        </p:txBody>
      </p:sp>
      <p:sp>
        <p:nvSpPr>
          <p:cNvPr id="15" name="Rectangle 14"/>
          <p:cNvSpPr/>
          <p:nvPr/>
        </p:nvSpPr>
        <p:spPr>
          <a:xfrm>
            <a:off x="6885431"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337560"/>
            <a:ext cx="8046720" cy="1188720"/>
          </a:xfrm>
          <a:prstGeom prst="rect">
            <a:avLst/>
          </a:prstGeom>
          <a:noFill/>
        </p:spPr>
        <p:txBody>
          <a:bodyPr wrap="square" anchor="t" lIns="40000" rIns="40000" tIns="20000" bIns="20000">
            <a:spAutoFit/>
          </a:bodyPr>
          <a:lstStyle/>
          <a:p>
            <a:pPr algn="l">
              <a:spcBef>
                <a:spcPts val="0"/>
              </a:spcBef>
              <a:spcAft>
                <a:spcPts val="800"/>
              </a:spcAft>
            </a:pPr>
            <a:r>
              <a:rPr sz="1600" b="1">
                <a:solidFill>
                  <a:srgbClr val="FF5520"/>
                </a:solidFill>
                <a:latin typeface="Open Sans"/>
              </a:rPr>
              <a:t>•  </a:t>
            </a:r>
            <a:r>
              <a:rPr sz="1600" b="0">
                <a:solidFill>
                  <a:srgbClr val="FFFFFF"/>
                </a:solidFill>
                <a:latin typeface="Open Sans"/>
              </a:rPr>
              <a:t>One status maps to many possible causes.</a:t>
            </a:r>
          </a:p>
          <a:p>
            <a:pPr algn="l">
              <a:spcBef>
                <a:spcPts val="0"/>
              </a:spcBef>
              <a:spcAft>
                <a:spcPts val="800"/>
              </a:spcAft>
            </a:pPr>
            <a:r>
              <a:rPr sz="1600" b="1">
                <a:solidFill>
                  <a:srgbClr val="FF5520"/>
                </a:solidFill>
                <a:latin typeface="Open Sans"/>
              </a:rPr>
              <a:t>•  </a:t>
            </a:r>
            <a:r>
              <a:rPr sz="1600" b="0">
                <a:solidFill>
                  <a:srgbClr val="FFFFFF"/>
                </a:solidFill>
                <a:latin typeface="Open Sans"/>
              </a:rPr>
              <a:t>Only the buyer can resolve some unknowns.</a:t>
            </a:r>
          </a:p>
          <a:p>
            <a:pPr algn="l">
              <a:spcBef>
                <a:spcPts val="0"/>
              </a:spcBef>
              <a:spcAft>
                <a:spcPts val="800"/>
              </a:spcAft>
            </a:pPr>
            <a:r>
              <a:rPr sz="1600" b="1">
                <a:solidFill>
                  <a:srgbClr val="FF5520"/>
                </a:solidFill>
                <a:latin typeface="Open Sans"/>
              </a:rPr>
              <a:t>•  </a:t>
            </a:r>
            <a:r>
              <a:rPr sz="1600" b="0">
                <a:solidFill>
                  <a:srgbClr val="FFFFFF"/>
                </a:solidFill>
                <a:latin typeface="Open Sans"/>
              </a:rPr>
              <a:t>Attempts are limited; silence must not be read as refusal.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3  PRIORITIES</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Priorities: what we built, what we left out</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4</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3931920" cy="2971800"/>
          </a:xfrm>
          <a:prstGeom prst="roundRect">
            <a:avLst>
              <a:gd name="adj" fmla="val 2769"/>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201168"/>
          <a:lstStyle/>
          <a:p>
            <a:pPr algn="l">
              <a:spcBef>
                <a:spcPts val="0"/>
              </a:spcBef>
              <a:spcAft>
                <a:spcPts val="1000"/>
              </a:spcAft>
            </a:pPr>
            <a:r>
              <a:rPr sz="2000" b="1">
                <a:solidFill>
                  <a:srgbClr val="00D4A0"/>
                </a:solidFill>
                <a:latin typeface="Open Sans"/>
              </a:rPr>
              <a:t>IN the MVP</a:t>
            </a:r>
          </a:p>
          <a:p>
            <a:pPr algn="l">
              <a:spcBef>
                <a:spcPts val="0"/>
              </a:spcBef>
              <a:spcAft>
                <a:spcPts val="600"/>
              </a:spcAft>
            </a:pPr>
            <a:r>
              <a:rPr sz="1600" b="1">
                <a:solidFill>
                  <a:srgbClr val="00D4A0"/>
                </a:solidFill>
                <a:latin typeface="Open Sans"/>
              </a:rPr>
              <a:t>•  </a:t>
            </a:r>
            <a:r>
              <a:rPr sz="1600" b="0">
                <a:solidFill>
                  <a:srgbClr val="FFFFFF"/>
                </a:solidFill>
                <a:latin typeface="Open Sans"/>
              </a:rPr>
              <a:t>Evidence-backed assessment</a:t>
            </a:r>
          </a:p>
          <a:p>
            <a:pPr algn="l">
              <a:spcBef>
                <a:spcPts val="0"/>
              </a:spcBef>
              <a:spcAft>
                <a:spcPts val="600"/>
              </a:spcAft>
            </a:pPr>
            <a:r>
              <a:rPr sz="1600" b="1">
                <a:solidFill>
                  <a:srgbClr val="00D4A0"/>
                </a:solidFill>
                <a:latin typeface="Open Sans"/>
              </a:rPr>
              <a:t>•  </a:t>
            </a:r>
            <a:r>
              <a:rPr sz="1600" b="0">
                <a:solidFill>
                  <a:srgbClr val="FFFFFF"/>
                </a:solidFill>
                <a:latin typeface="Open Sans"/>
              </a:rPr>
              <a:t>One buyer question, max</a:t>
            </a:r>
          </a:p>
          <a:p>
            <a:pPr algn="l">
              <a:spcBef>
                <a:spcPts val="0"/>
              </a:spcBef>
              <a:spcAft>
                <a:spcPts val="600"/>
              </a:spcAft>
            </a:pPr>
            <a:r>
              <a:rPr sz="1600" b="1">
                <a:solidFill>
                  <a:srgbClr val="00D4A0"/>
                </a:solidFill>
                <a:latin typeface="Open Sans"/>
              </a:rPr>
              <a:t>•  </a:t>
            </a:r>
            <a:r>
              <a:rPr sz="1600" b="0">
                <a:solidFill>
                  <a:srgbClr val="FFFFFF"/>
                </a:solidFill>
                <a:latin typeface="Open Sans"/>
              </a:rPr>
              <a:t>Deterministic policy gate</a:t>
            </a:r>
          </a:p>
          <a:p>
            <a:pPr algn="l">
              <a:spcBef>
                <a:spcPts val="0"/>
              </a:spcBef>
              <a:spcAft>
                <a:spcPts val="600"/>
              </a:spcAft>
            </a:pPr>
            <a:r>
              <a:rPr sz="1600" b="1">
                <a:solidFill>
                  <a:srgbClr val="00D4A0"/>
                </a:solidFill>
                <a:latin typeface="Open Sans"/>
              </a:rPr>
              <a:t>•  </a:t>
            </a:r>
            <a:r>
              <a:rPr sz="1600" b="0">
                <a:solidFill>
                  <a:srgbClr val="FFFFFF"/>
                </a:solidFill>
                <a:latin typeface="Open Sans"/>
              </a:rPr>
              <a:t>Recommendation to Ops only</a:t>
            </a:r>
          </a:p>
          <a:p>
            <a:pPr algn="l">
              <a:spcBef>
                <a:spcPts val="0"/>
              </a:spcBef>
              <a:spcAft>
                <a:spcPts val="600"/>
              </a:spcAft>
            </a:pPr>
            <a:r>
              <a:rPr sz="1600" b="1">
                <a:solidFill>
                  <a:srgbClr val="00D4A0"/>
                </a:solidFill>
                <a:latin typeface="Open Sans"/>
              </a:rPr>
              <a:t>•  </a:t>
            </a:r>
            <a:r>
              <a:rPr sz="1600" b="0">
                <a:solidFill>
                  <a:srgbClr val="FFFFFF"/>
                </a:solidFill>
                <a:latin typeface="Open Sans"/>
              </a:rPr>
              <a:t>Audit trail per decision</a:t>
            </a:r>
          </a:p>
        </p:txBody>
      </p:sp>
      <p:sp>
        <p:nvSpPr>
          <p:cNvPr id="9" name="Rectangle 8"/>
          <p:cNvSpPr/>
          <p:nvPr/>
        </p:nvSpPr>
        <p:spPr>
          <a:xfrm>
            <a:off x="713232"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463040"/>
            <a:ext cx="3931920" cy="2971800"/>
          </a:xfrm>
          <a:prstGeom prst="roundRect">
            <a:avLst>
              <a:gd name="adj" fmla="val 2769"/>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01168" bIns="201168"/>
          <a:lstStyle/>
          <a:p>
            <a:pPr algn="l">
              <a:spcBef>
                <a:spcPts val="0"/>
              </a:spcBef>
              <a:spcAft>
                <a:spcPts val="1000"/>
              </a:spcAft>
            </a:pPr>
            <a:r>
              <a:rPr sz="2000" b="1">
                <a:solidFill>
                  <a:srgbClr val="FF5520"/>
                </a:solidFill>
                <a:latin typeface="Open Sans"/>
              </a:rPr>
              <a:t>Deliberately OUT</a:t>
            </a:r>
          </a:p>
          <a:p>
            <a:pPr algn="l">
              <a:spcBef>
                <a:spcPts val="0"/>
              </a:spcBef>
              <a:spcAft>
                <a:spcPts val="600"/>
              </a:spcAft>
            </a:pPr>
            <a:r>
              <a:rPr sz="1600" b="1">
                <a:solidFill>
                  <a:srgbClr val="FF5520"/>
                </a:solidFill>
                <a:latin typeface="Open Sans"/>
              </a:rPr>
              <a:t>•  </a:t>
            </a:r>
            <a:r>
              <a:rPr sz="1600" b="0">
                <a:solidFill>
                  <a:srgbClr val="FFFFFF"/>
                </a:solidFill>
                <a:latin typeface="Open Sans"/>
              </a:rPr>
              <a:t>Live Shopee/SPX data or APIs</a:t>
            </a:r>
          </a:p>
          <a:p>
            <a:pPr algn="l">
              <a:spcBef>
                <a:spcPts val="0"/>
              </a:spcBef>
              <a:spcAft>
                <a:spcPts val="600"/>
              </a:spcAft>
            </a:pPr>
            <a:r>
              <a:rPr sz="1600" b="1">
                <a:solidFill>
                  <a:srgbClr val="FF5520"/>
                </a:solidFill>
                <a:latin typeface="Open Sans"/>
              </a:rPr>
              <a:t>•  </a:t>
            </a:r>
            <a:r>
              <a:rPr sz="1600" b="0">
                <a:solidFill>
                  <a:srgbClr val="FFFFFF"/>
                </a:solidFill>
                <a:latin typeface="Open Sans"/>
              </a:rPr>
              <a:t>Real buyer messaging</a:t>
            </a:r>
          </a:p>
          <a:p>
            <a:pPr algn="l">
              <a:spcBef>
                <a:spcPts val="0"/>
              </a:spcBef>
              <a:spcAft>
                <a:spcPts val="600"/>
              </a:spcAft>
            </a:pPr>
            <a:r>
              <a:rPr sz="1600" b="1">
                <a:solidFill>
                  <a:srgbClr val="FF5520"/>
                </a:solidFill>
                <a:latin typeface="Open Sans"/>
              </a:rPr>
              <a:t>•  </a:t>
            </a:r>
            <a:r>
              <a:rPr sz="1600" b="0">
                <a:solidFill>
                  <a:srgbClr val="FFFFFF"/>
                </a:solidFill>
                <a:latin typeface="Open Sans"/>
              </a:rPr>
              <a:t>Courier dispatch, exact slots</a:t>
            </a:r>
          </a:p>
          <a:p>
            <a:pPr algn="l">
              <a:spcBef>
                <a:spcPts val="0"/>
              </a:spcBef>
              <a:spcAft>
                <a:spcPts val="600"/>
              </a:spcAft>
            </a:pPr>
            <a:r>
              <a:rPr sz="1600" b="1">
                <a:solidFill>
                  <a:srgbClr val="FF5520"/>
                </a:solidFill>
                <a:latin typeface="Open Sans"/>
              </a:rPr>
              <a:t>•  </a:t>
            </a:r>
            <a:r>
              <a:rPr sz="1600" b="0">
                <a:solidFill>
                  <a:srgbClr val="FFFFFF"/>
                </a:solidFill>
                <a:latin typeface="Open Sans"/>
              </a:rPr>
              <a:t>Address or COD changes</a:t>
            </a:r>
          </a:p>
          <a:p>
            <a:pPr algn="l">
              <a:spcBef>
                <a:spcPts val="0"/>
              </a:spcBef>
              <a:spcAft>
                <a:spcPts val="600"/>
              </a:spcAft>
            </a:pPr>
            <a:r>
              <a:rPr sz="1600" b="1">
                <a:solidFill>
                  <a:srgbClr val="FF5520"/>
                </a:solidFill>
                <a:latin typeface="Open Sans"/>
              </a:rPr>
              <a:t>•  </a:t>
            </a:r>
            <a:r>
              <a:rPr sz="1600" b="0">
                <a:solidFill>
                  <a:srgbClr val="FFFFFF"/>
                </a:solidFill>
                <a:latin typeface="Open Sans"/>
              </a:rPr>
              <a:t>Returns and refunds</a:t>
            </a:r>
          </a:p>
        </p:txBody>
      </p:sp>
      <p:sp>
        <p:nvSpPr>
          <p:cNvPr id="11" name="Rectangle 10"/>
          <p:cNvSpPr/>
          <p:nvPr/>
        </p:nvSpPr>
        <p:spPr>
          <a:xfrm>
            <a:off x="4828031" y="14630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4  SOLUTION</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Solution: the two-assessment flow</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5</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371600"/>
            <a:ext cx="1316736" cy="960120"/>
          </a:xfrm>
          <a:prstGeom prst="roundRect">
            <a:avLst>
              <a:gd name="adj" fmla="val 8571"/>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Raw data</a:t>
            </a:r>
          </a:p>
          <a:p>
            <a:pPr algn="ctr">
              <a:spcBef>
                <a:spcPts val="0"/>
              </a:spcBef>
              <a:spcAft>
                <a:spcPts val="0"/>
              </a:spcAft>
            </a:pPr>
            <a:r>
              <a:rPr sz="1200" b="0">
                <a:solidFill>
                  <a:srgbClr val="8AAACC"/>
                </a:solidFill>
                <a:latin typeface="Open Sans"/>
              </a:rPr>
              <a:t>status, notes, lifecycle</a:t>
            </a:r>
          </a:p>
        </p:txBody>
      </p:sp>
      <p:sp>
        <p:nvSpPr>
          <p:cNvPr id="9" name="Rounded Rectangle 8"/>
          <p:cNvSpPr/>
          <p:nvPr/>
        </p:nvSpPr>
        <p:spPr>
          <a:xfrm>
            <a:off x="2231136" y="1371600"/>
            <a:ext cx="1316736" cy="960120"/>
          </a:xfrm>
          <a:prstGeom prst="roundRect">
            <a:avLst>
              <a:gd name="adj" fmla="val 8571"/>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Pre-check</a:t>
            </a:r>
          </a:p>
          <a:p>
            <a:pPr algn="ctr">
              <a:spcBef>
                <a:spcPts val="0"/>
              </a:spcBef>
              <a:spcAft>
                <a:spcPts val="0"/>
              </a:spcAft>
            </a:pPr>
            <a:r>
              <a:rPr sz="1200" b="0">
                <a:solidFill>
                  <a:srgbClr val="8AAACC"/>
                </a:solidFill>
                <a:latin typeface="Open Sans"/>
              </a:rPr>
              <a:t>exclude invalid cases</a:t>
            </a:r>
          </a:p>
        </p:txBody>
      </p:sp>
      <p:sp>
        <p:nvSpPr>
          <p:cNvPr id="10" name="Rounded Rectangle 9"/>
          <p:cNvSpPr/>
          <p:nvPr/>
        </p:nvSpPr>
        <p:spPr>
          <a:xfrm>
            <a:off x="3913632" y="1371600"/>
            <a:ext cx="1316736" cy="960120"/>
          </a:xfrm>
          <a:prstGeom prst="roundRect">
            <a:avLst>
              <a:gd name="adj" fmla="val 8571"/>
            </a:avLst>
          </a:prstGeom>
          <a:solidFill>
            <a:srgbClr val="082A4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Agent assessment 1</a:t>
            </a:r>
          </a:p>
          <a:p>
            <a:pPr algn="ctr">
              <a:spcBef>
                <a:spcPts val="0"/>
              </a:spcBef>
              <a:spcAft>
                <a:spcPts val="0"/>
              </a:spcAft>
            </a:pPr>
            <a:r>
              <a:rPr sz="1200" b="0">
                <a:solidFill>
                  <a:srgbClr val="8AAACC"/>
                </a:solidFill>
                <a:latin typeface="Open Sans"/>
              </a:rPr>
              <a:t>6-field output</a:t>
            </a:r>
          </a:p>
        </p:txBody>
      </p:sp>
      <p:sp>
        <p:nvSpPr>
          <p:cNvPr id="11" name="Rounded Rectangle 10"/>
          <p:cNvSpPr/>
          <p:nvPr/>
        </p:nvSpPr>
        <p:spPr>
          <a:xfrm>
            <a:off x="5596128" y="1371600"/>
            <a:ext cx="1316736" cy="960120"/>
          </a:xfrm>
          <a:prstGeom prst="roundRect">
            <a:avLst>
              <a:gd name="adj" fmla="val 8571"/>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Contact gate</a:t>
            </a:r>
          </a:p>
          <a:p>
            <a:pPr algn="ctr">
              <a:spcBef>
                <a:spcPts val="0"/>
              </a:spcBef>
              <a:spcAft>
                <a:spcPts val="0"/>
              </a:spcAft>
            </a:pPr>
            <a:r>
              <a:rPr sz="1200" b="0">
                <a:solidFill>
                  <a:srgbClr val="8AAACC"/>
                </a:solidFill>
                <a:latin typeface="Open Sans"/>
              </a:rPr>
              <a:t>backend allows 1 question</a:t>
            </a:r>
          </a:p>
        </p:txBody>
      </p:sp>
      <p:sp>
        <p:nvSpPr>
          <p:cNvPr id="12" name="Rounded Rectangle 11"/>
          <p:cNvSpPr/>
          <p:nvPr/>
        </p:nvSpPr>
        <p:spPr>
          <a:xfrm>
            <a:off x="7278624" y="1371600"/>
            <a:ext cx="1316736" cy="960120"/>
          </a:xfrm>
          <a:prstGeom prst="roundRect">
            <a:avLst>
              <a:gd name="adj" fmla="val 8571"/>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One buyer question</a:t>
            </a:r>
          </a:p>
          <a:p>
            <a:pPr algn="ctr">
              <a:spcBef>
                <a:spcPts val="0"/>
              </a:spcBef>
              <a:spcAft>
                <a:spcPts val="0"/>
              </a:spcAft>
            </a:pPr>
            <a:r>
              <a:rPr sz="1200" b="0">
                <a:solidFill>
                  <a:srgbClr val="8AAACC"/>
                </a:solidFill>
                <a:latin typeface="Open Sans"/>
              </a:rPr>
              <a:t>from missing_info</a:t>
            </a:r>
          </a:p>
        </p:txBody>
      </p:sp>
      <p:sp>
        <p:nvSpPr>
          <p:cNvPr id="13" name="Rounded Rectangle 12"/>
          <p:cNvSpPr/>
          <p:nvPr/>
        </p:nvSpPr>
        <p:spPr>
          <a:xfrm>
            <a:off x="7278624" y="2606040"/>
            <a:ext cx="1316736" cy="822960"/>
          </a:xfrm>
          <a:prstGeom prst="roundRect">
            <a:avLst>
              <a:gd name="adj" fmla="val 10000"/>
            </a:avLst>
          </a:prstGeom>
          <a:solidFill>
            <a:srgbClr val="082A40"/>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Reply</a:t>
            </a:r>
          </a:p>
          <a:p>
            <a:pPr algn="ctr">
              <a:spcBef>
                <a:spcPts val="0"/>
              </a:spcBef>
              <a:spcAft>
                <a:spcPts val="0"/>
              </a:spcAft>
            </a:pPr>
            <a:r>
              <a:rPr sz="1200" b="0">
                <a:solidFill>
                  <a:srgbClr val="8AAACC"/>
                </a:solidFill>
                <a:latin typeface="Open Sans"/>
              </a:rPr>
              <a:t>Agent assessment 2</a:t>
            </a:r>
          </a:p>
        </p:txBody>
      </p:sp>
      <p:sp>
        <p:nvSpPr>
          <p:cNvPr id="14" name="Rounded Rectangle 13"/>
          <p:cNvSpPr/>
          <p:nvPr/>
        </p:nvSpPr>
        <p:spPr>
          <a:xfrm>
            <a:off x="5303520" y="2606040"/>
            <a:ext cx="1737360" cy="822960"/>
          </a:xfrm>
          <a:prstGeom prst="roundRect">
            <a:avLst>
              <a:gd name="adj" fmla="val 10000"/>
            </a:avLst>
          </a:prstGeom>
          <a:solidFill>
            <a:srgbClr val="0B1220"/>
          </a:solidFill>
          <a:ln w="19050">
            <a:solidFill>
              <a:srgbClr val="FF552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No reply (manual)</a:t>
            </a:r>
          </a:p>
          <a:p>
            <a:pPr algn="ctr">
              <a:spcBef>
                <a:spcPts val="0"/>
              </a:spcBef>
              <a:spcAft>
                <a:spcPts val="0"/>
              </a:spcAft>
            </a:pPr>
            <a:r>
              <a:rPr sz="1200" b="0">
                <a:solidFill>
                  <a:srgbClr val="8AAACC"/>
                </a:solidFill>
                <a:latin typeface="Open Sans"/>
              </a:rPr>
              <a:t>keep assessment 1</a:t>
            </a:r>
          </a:p>
        </p:txBody>
      </p:sp>
      <p:sp>
        <p:nvSpPr>
          <p:cNvPr id="15" name="Rounded Rectangle 14"/>
          <p:cNvSpPr/>
          <p:nvPr/>
        </p:nvSpPr>
        <p:spPr>
          <a:xfrm>
            <a:off x="2651760" y="2606040"/>
            <a:ext cx="2194560" cy="822960"/>
          </a:xfrm>
          <a:prstGeom prst="roundRect">
            <a:avLst>
              <a:gd name="adj" fmla="val 10000"/>
            </a:avLst>
          </a:prstGeom>
          <a:solidFill>
            <a:srgbClr val="0B1220"/>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600" b="1">
                <a:solidFill>
                  <a:srgbClr val="FFFFFF"/>
                </a:solidFill>
                <a:latin typeface="Open Sans"/>
              </a:rPr>
              <a:t>Policy engine</a:t>
            </a:r>
          </a:p>
          <a:p>
            <a:pPr algn="ctr">
              <a:spcBef>
                <a:spcPts val="0"/>
              </a:spcBef>
              <a:spcAft>
                <a:spcPts val="0"/>
              </a:spcAft>
            </a:pPr>
            <a:r>
              <a:rPr sz="1400" b="0">
                <a:solidFill>
                  <a:srgbClr val="8AAACC"/>
                </a:solidFill>
                <a:latin typeface="Open Sans"/>
              </a:rPr>
              <a:t>deterministic gate</a:t>
            </a:r>
          </a:p>
        </p:txBody>
      </p:sp>
      <p:sp>
        <p:nvSpPr>
          <p:cNvPr id="16" name="Rounded Rectangle 15"/>
          <p:cNvSpPr/>
          <p:nvPr/>
        </p:nvSpPr>
        <p:spPr>
          <a:xfrm>
            <a:off x="548640" y="2606040"/>
            <a:ext cx="1554480" cy="822960"/>
          </a:xfrm>
          <a:prstGeom prst="roundRect">
            <a:avLst>
              <a:gd name="adj" fmla="val 10000"/>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600" b="1">
                <a:solidFill>
                  <a:srgbClr val="000000"/>
                </a:solidFill>
                <a:latin typeface="Open Sans"/>
              </a:rPr>
              <a:t>Ops</a:t>
            </a:r>
          </a:p>
          <a:p>
            <a:pPr algn="ctr">
              <a:spcBef>
                <a:spcPts val="0"/>
              </a:spcBef>
              <a:spcAft>
                <a:spcPts val="0"/>
              </a:spcAft>
            </a:pPr>
            <a:r>
              <a:rPr sz="1400" b="0">
                <a:solidFill>
                  <a:srgbClr val="000000"/>
                </a:solidFill>
                <a:latin typeface="Open Sans"/>
              </a:rPr>
              <a:t>recommendation</a:t>
            </a:r>
          </a:p>
        </p:txBody>
      </p:sp>
      <p:cxnSp>
        <p:nvCxnSpPr>
          <p:cNvPr id="17" name="Connector 16"/>
          <p:cNvCxnSpPr/>
          <p:nvPr/>
        </p:nvCxnSpPr>
        <p:spPr>
          <a:xfrm>
            <a:off x="1865376" y="1851660"/>
            <a:ext cx="36576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547872" y="1851660"/>
            <a:ext cx="36576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230368" y="1851660"/>
            <a:ext cx="36576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912864" y="1851660"/>
            <a:ext cx="36576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936992" y="2331720"/>
            <a:ext cx="0" cy="274320"/>
          </a:xfrm>
          <a:prstGeom prst="line">
            <a:avLst/>
          </a:prstGeom>
          <a:ln w="28575">
            <a:solidFill>
              <a:srgbClr val="00D4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172200" y="2331720"/>
            <a:ext cx="1325879" cy="274320"/>
          </a:xfrm>
          <a:prstGeom prst="line">
            <a:avLst/>
          </a:prstGeom>
          <a:ln w="28575">
            <a:solidFill>
              <a:srgbClr val="FF55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36992" y="3429000"/>
            <a:ext cx="0" cy="109728"/>
          </a:xfrm>
          <a:prstGeom prst="line">
            <a:avLst/>
          </a:prstGeom>
          <a:ln w="28575">
            <a:solidFill>
              <a:srgbClr val="00D4A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3749039" y="3538728"/>
            <a:ext cx="4187953" cy="0"/>
          </a:xfrm>
          <a:prstGeom prst="line">
            <a:avLst/>
          </a:prstGeom>
          <a:ln w="28575">
            <a:solidFill>
              <a:srgbClr val="00D4A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49039" y="3429000"/>
            <a:ext cx="0" cy="109728"/>
          </a:xfrm>
          <a:prstGeom prst="line">
            <a:avLst/>
          </a:prstGeom>
          <a:ln w="28575">
            <a:solidFill>
              <a:srgbClr val="00D4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46320" y="3017520"/>
            <a:ext cx="457200" cy="0"/>
          </a:xfrm>
          <a:prstGeom prst="line">
            <a:avLst/>
          </a:prstGeom>
          <a:ln w="28575">
            <a:solidFill>
              <a:srgbClr val="FF55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103120" y="3017520"/>
            <a:ext cx="548640" cy="0"/>
          </a:xfrm>
          <a:prstGeom prst="line">
            <a:avLst/>
          </a:prstGeom>
          <a:ln w="28575">
            <a:solidFill>
              <a:srgbClr val="00D4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31520" y="3657600"/>
            <a:ext cx="7863840" cy="960120"/>
          </a:xfrm>
          <a:prstGeom prst="rect">
            <a:avLst/>
          </a:prstGeom>
          <a:noFill/>
        </p:spPr>
        <p:txBody>
          <a:bodyPr wrap="square" anchor="t" lIns="40000" rIns="40000" tIns="20000" bIns="20000">
            <a:spAutoFit/>
          </a:bodyPr>
          <a:lstStyle/>
          <a:p>
            <a:pPr algn="l">
              <a:spcBef>
                <a:spcPts val="0"/>
              </a:spcBef>
              <a:spcAft>
                <a:spcPts val="300"/>
              </a:spcAft>
            </a:pPr>
            <a:r>
              <a:rPr sz="1400" b="1">
                <a:solidFill>
                  <a:srgbClr val="00D4A0"/>
                </a:solidFill>
                <a:latin typeface="Open Sans"/>
              </a:rPr>
              <a:t>Novelty: one bounded buyer question + fixed vocabularies. LLM proposes; policy decides; Ops executes.</a:t>
            </a:r>
          </a:p>
          <a:p>
            <a:pPr algn="l">
              <a:spcBef>
                <a:spcPts val="0"/>
              </a:spcBef>
              <a:spcAft>
                <a:spcPts val="0"/>
              </a:spcAft>
            </a:pPr>
            <a:r>
              <a:rPr sz="1400" b="0">
                <a:solidFill>
                  <a:srgbClr val="8AAACC"/>
                </a:solidFill>
                <a:latin typeface="Open Sans"/>
              </a:rPr>
              <a:t>Today a deterministic assessor stands in for the LLM agent (next step). The agent never 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4  SOLUTION</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The agent's output: six fields, fixed vocabularies</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6</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2560320" cy="566928"/>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Bef>
                <a:spcPts val="0"/>
              </a:spcBef>
              <a:spcAft>
                <a:spcPts val="0"/>
              </a:spcAft>
            </a:pPr>
            <a:r>
              <a:rPr sz="1400" b="1">
                <a:solidFill>
                  <a:srgbClr val="3AB5F0"/>
                </a:solidFill>
                <a:latin typeface="Open Sans"/>
              </a:rPr>
              <a:t>01  </a:t>
            </a:r>
            <a:r>
              <a:rPr sz="1400" b="1">
                <a:solidFill>
                  <a:srgbClr val="FFFFFF"/>
                </a:solidFill>
                <a:latin typeface="Open Sans"/>
              </a:rPr>
              <a:t>evidence</a:t>
            </a:r>
          </a:p>
        </p:txBody>
      </p:sp>
      <p:sp>
        <p:nvSpPr>
          <p:cNvPr id="9" name="Rounded Rectangle 8"/>
          <p:cNvSpPr/>
          <p:nvPr/>
        </p:nvSpPr>
        <p:spPr>
          <a:xfrm>
            <a:off x="3291840" y="1463040"/>
            <a:ext cx="2560320" cy="566928"/>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Bef>
                <a:spcPts val="0"/>
              </a:spcBef>
              <a:spcAft>
                <a:spcPts val="0"/>
              </a:spcAft>
            </a:pPr>
            <a:r>
              <a:rPr sz="1400" b="1">
                <a:solidFill>
                  <a:srgbClr val="3AB5F0"/>
                </a:solidFill>
                <a:latin typeface="Open Sans"/>
              </a:rPr>
              <a:t>02  </a:t>
            </a:r>
            <a:r>
              <a:rPr sz="1400" b="1">
                <a:solidFill>
                  <a:srgbClr val="FFFFFF"/>
                </a:solidFill>
                <a:latin typeface="Open Sans"/>
              </a:rPr>
              <a:t>hypothesis</a:t>
            </a:r>
          </a:p>
        </p:txBody>
      </p:sp>
      <p:sp>
        <p:nvSpPr>
          <p:cNvPr id="10" name="Rounded Rectangle 9"/>
          <p:cNvSpPr/>
          <p:nvPr/>
        </p:nvSpPr>
        <p:spPr>
          <a:xfrm>
            <a:off x="6035040" y="1463040"/>
            <a:ext cx="2560320" cy="566928"/>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Bef>
                <a:spcPts val="0"/>
              </a:spcBef>
              <a:spcAft>
                <a:spcPts val="0"/>
              </a:spcAft>
            </a:pPr>
            <a:r>
              <a:rPr sz="1400" b="1">
                <a:solidFill>
                  <a:srgbClr val="3AB5F0"/>
                </a:solidFill>
                <a:latin typeface="Open Sans"/>
              </a:rPr>
              <a:t>03  </a:t>
            </a:r>
            <a:r>
              <a:rPr sz="1400" b="1">
                <a:solidFill>
                  <a:srgbClr val="FFFFFF"/>
                </a:solidFill>
                <a:latin typeface="Open Sans"/>
              </a:rPr>
              <a:t>confidence</a:t>
            </a:r>
          </a:p>
        </p:txBody>
      </p:sp>
      <p:sp>
        <p:nvSpPr>
          <p:cNvPr id="11" name="Rounded Rectangle 10"/>
          <p:cNvSpPr/>
          <p:nvPr/>
        </p:nvSpPr>
        <p:spPr>
          <a:xfrm>
            <a:off x="548640" y="2148840"/>
            <a:ext cx="2560320" cy="566928"/>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Bef>
                <a:spcPts val="0"/>
              </a:spcBef>
              <a:spcAft>
                <a:spcPts val="0"/>
              </a:spcAft>
            </a:pPr>
            <a:r>
              <a:rPr sz="1400" b="1">
                <a:solidFill>
                  <a:srgbClr val="00D4A0"/>
                </a:solidFill>
                <a:latin typeface="Open Sans"/>
              </a:rPr>
              <a:t>04  </a:t>
            </a:r>
            <a:r>
              <a:rPr sz="1400" b="1">
                <a:solidFill>
                  <a:srgbClr val="FFFFFF"/>
                </a:solidFill>
                <a:latin typeface="Open Sans"/>
              </a:rPr>
              <a:t>missing_info</a:t>
            </a:r>
          </a:p>
        </p:txBody>
      </p:sp>
      <p:sp>
        <p:nvSpPr>
          <p:cNvPr id="12" name="Rounded Rectangle 11"/>
          <p:cNvSpPr/>
          <p:nvPr/>
        </p:nvSpPr>
        <p:spPr>
          <a:xfrm>
            <a:off x="3291840" y="2148840"/>
            <a:ext cx="2560320" cy="566928"/>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Bef>
                <a:spcPts val="0"/>
              </a:spcBef>
              <a:spcAft>
                <a:spcPts val="0"/>
              </a:spcAft>
            </a:pPr>
            <a:r>
              <a:rPr sz="1400" b="1">
                <a:solidFill>
                  <a:srgbClr val="00D4A0"/>
                </a:solidFill>
                <a:latin typeface="Open Sans"/>
              </a:rPr>
              <a:t>05  </a:t>
            </a:r>
            <a:r>
              <a:rPr sz="1400" b="1">
                <a:solidFill>
                  <a:srgbClr val="FFFFFF"/>
                </a:solidFill>
                <a:latin typeface="Open Sans"/>
              </a:rPr>
              <a:t>question_key</a:t>
            </a:r>
          </a:p>
        </p:txBody>
      </p:sp>
      <p:sp>
        <p:nvSpPr>
          <p:cNvPr id="13" name="Rounded Rectangle 12"/>
          <p:cNvSpPr/>
          <p:nvPr/>
        </p:nvSpPr>
        <p:spPr>
          <a:xfrm>
            <a:off x="6035040" y="2148840"/>
            <a:ext cx="2560320" cy="566928"/>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Bef>
                <a:spcPts val="0"/>
              </a:spcBef>
              <a:spcAft>
                <a:spcPts val="0"/>
              </a:spcAft>
            </a:pPr>
            <a:r>
              <a:rPr sz="1400" b="1">
                <a:solidFill>
                  <a:srgbClr val="FF5520"/>
                </a:solidFill>
                <a:latin typeface="Open Sans"/>
              </a:rPr>
              <a:t>06  </a:t>
            </a:r>
            <a:r>
              <a:rPr sz="1400" b="1">
                <a:solidFill>
                  <a:srgbClr val="FFFFFF"/>
                </a:solidFill>
                <a:latin typeface="Open Sans"/>
              </a:rPr>
              <a:t>candidate_action</a:t>
            </a:r>
          </a:p>
        </p:txBody>
      </p:sp>
      <p:sp>
        <p:nvSpPr>
          <p:cNvPr id="14" name="Rounded Rectangle 13"/>
          <p:cNvSpPr/>
          <p:nvPr/>
        </p:nvSpPr>
        <p:spPr>
          <a:xfrm>
            <a:off x="548640" y="2971800"/>
            <a:ext cx="2560320" cy="1508760"/>
          </a:xfrm>
          <a:prstGeom prst="roundRect">
            <a:avLst>
              <a:gd name="adj" fmla="val 545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37160" bIns="137160"/>
          <a:lstStyle/>
          <a:p>
            <a:pPr algn="l">
              <a:spcBef>
                <a:spcPts val="0"/>
              </a:spcBef>
              <a:spcAft>
                <a:spcPts val="400"/>
              </a:spcAft>
            </a:pPr>
            <a:r>
              <a:rPr sz="1600" b="1">
                <a:solidFill>
                  <a:srgbClr val="00D4A0"/>
                </a:solidFill>
                <a:latin typeface="Open Sans"/>
              </a:rPr>
              <a:t>7 hypotheses</a:t>
            </a:r>
          </a:p>
          <a:p>
            <a:pPr algn="l">
              <a:spcBef>
                <a:spcPts val="0"/>
              </a:spcBef>
              <a:spcAft>
                <a:spcPts val="0"/>
              </a:spcAft>
            </a:pPr>
            <a:r>
              <a:rPr sz="1400" b="0">
                <a:solidFill>
                  <a:srgbClr val="8AAACC"/>
                </a:solidFill>
                <a:latin typeface="Open Sans"/>
              </a:rPr>
              <a:t>availability, address, contact, buyer intent, payment, logistics, unknown</a:t>
            </a:r>
          </a:p>
        </p:txBody>
      </p:sp>
      <p:sp>
        <p:nvSpPr>
          <p:cNvPr id="15" name="Rectangle 14"/>
          <p:cNvSpPr/>
          <p:nvPr/>
        </p:nvSpPr>
        <p:spPr>
          <a:xfrm>
            <a:off x="713232" y="297180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291840" y="2971800"/>
            <a:ext cx="2560320" cy="1508760"/>
          </a:xfrm>
          <a:prstGeom prst="roundRect">
            <a:avLst>
              <a:gd name="adj" fmla="val 545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37160" bIns="137160"/>
          <a:lstStyle/>
          <a:p>
            <a:pPr algn="l">
              <a:spcBef>
                <a:spcPts val="0"/>
              </a:spcBef>
              <a:spcAft>
                <a:spcPts val="400"/>
              </a:spcAft>
            </a:pPr>
            <a:r>
              <a:rPr sz="1600" b="1">
                <a:solidFill>
                  <a:srgbClr val="3AB5F0"/>
                </a:solidFill>
                <a:latin typeface="Open Sans"/>
              </a:rPr>
              <a:t>8 missing_info</a:t>
            </a:r>
          </a:p>
          <a:p>
            <a:pPr algn="l">
              <a:spcBef>
                <a:spcPts val="0"/>
              </a:spcBef>
              <a:spcAft>
                <a:spcPts val="0"/>
              </a:spcAft>
            </a:pPr>
            <a:r>
              <a:rPr sz="1400" b="0">
                <a:solidFill>
                  <a:srgbClr val="8AAACC"/>
                </a:solidFill>
                <a:latin typeface="Open Sans"/>
              </a:rPr>
              <a:t>intent, availability, address, contact, COD, access, logistics, cause</a:t>
            </a:r>
          </a:p>
        </p:txBody>
      </p:sp>
      <p:sp>
        <p:nvSpPr>
          <p:cNvPr id="17" name="Rectangle 16"/>
          <p:cNvSpPr/>
          <p:nvPr/>
        </p:nvSpPr>
        <p:spPr>
          <a:xfrm>
            <a:off x="3456432" y="297180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35040" y="2971800"/>
            <a:ext cx="2560320" cy="1508760"/>
          </a:xfrm>
          <a:prstGeom prst="roundRect">
            <a:avLst>
              <a:gd name="adj" fmla="val 545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37160" bIns="137160"/>
          <a:lstStyle/>
          <a:p>
            <a:pPr algn="l">
              <a:spcBef>
                <a:spcPts val="0"/>
              </a:spcBef>
              <a:spcAft>
                <a:spcPts val="400"/>
              </a:spcAft>
            </a:pPr>
            <a:r>
              <a:rPr sz="1600" b="1">
                <a:solidFill>
                  <a:srgbClr val="FF5520"/>
                </a:solidFill>
                <a:latin typeface="Open Sans"/>
              </a:rPr>
              <a:t>5 candidate actions</a:t>
            </a:r>
          </a:p>
          <a:p>
            <a:pPr algn="l">
              <a:spcBef>
                <a:spcPts val="0"/>
              </a:spcBef>
              <a:spcAft>
                <a:spcPts val="0"/>
              </a:spcAft>
            </a:pPr>
            <a:r>
              <a:rPr sz="1400" b="0">
                <a:solidFill>
                  <a:srgbClr val="8AAACC"/>
                </a:solidFill>
                <a:latin typeface="Open Sans"/>
              </a:rPr>
              <a:t>clarify, standard re-attempt, hold, escalate review, no action</a:t>
            </a:r>
          </a:p>
        </p:txBody>
      </p:sp>
      <p:sp>
        <p:nvSpPr>
          <p:cNvPr id="19" name="Rectangle 18"/>
          <p:cNvSpPr/>
          <p:nvPr/>
        </p:nvSpPr>
        <p:spPr>
          <a:xfrm>
            <a:off x="6199631" y="297180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4  SOLUTION</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Policy gate: the LLM never grants itself permission</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7</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3931920" cy="2514600"/>
          </a:xfrm>
          <a:prstGeom prst="roundRect">
            <a:avLst>
              <a:gd name="adj" fmla="val 3272"/>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spcBef>
                <a:spcPts val="0"/>
              </a:spcBef>
              <a:spcAft>
                <a:spcPts val="800"/>
              </a:spcAft>
            </a:pPr>
            <a:r>
              <a:rPr sz="1800" b="1">
                <a:solidFill>
                  <a:srgbClr val="3AB5F0"/>
                </a:solidFill>
                <a:latin typeface="Open Sans"/>
              </a:rPr>
              <a:t>Agent proposes</a:t>
            </a:r>
          </a:p>
          <a:p>
            <a:pPr algn="l">
              <a:spcBef>
                <a:spcPts val="0"/>
              </a:spcBef>
              <a:spcAft>
                <a:spcPts val="400"/>
              </a:spcAft>
            </a:pPr>
            <a:r>
              <a:rPr sz="1600" b="1">
                <a:solidFill>
                  <a:srgbClr val="3AB5F0"/>
                </a:solidFill>
                <a:latin typeface="Open Sans"/>
              </a:rPr>
              <a:t>•  </a:t>
            </a:r>
            <a:r>
              <a:rPr sz="1600" b="0">
                <a:solidFill>
                  <a:srgbClr val="FFFFFF"/>
                </a:solidFill>
                <a:latin typeface="Open Sans"/>
              </a:rPr>
              <a:t>Evidence and hypothesis</a:t>
            </a:r>
          </a:p>
          <a:p>
            <a:pPr algn="l">
              <a:spcBef>
                <a:spcPts val="0"/>
              </a:spcBef>
              <a:spcAft>
                <a:spcPts val="400"/>
              </a:spcAft>
            </a:pPr>
            <a:r>
              <a:rPr sz="1600" b="1">
                <a:solidFill>
                  <a:srgbClr val="3AB5F0"/>
                </a:solidFill>
                <a:latin typeface="Open Sans"/>
              </a:rPr>
              <a:t>•  </a:t>
            </a:r>
            <a:r>
              <a:rPr sz="1600" b="0">
                <a:solidFill>
                  <a:srgbClr val="FFFFFF"/>
                </a:solidFill>
                <a:latin typeface="Open Sans"/>
              </a:rPr>
              <a:t>Missing information</a:t>
            </a:r>
          </a:p>
          <a:p>
            <a:pPr algn="l">
              <a:spcBef>
                <a:spcPts val="0"/>
              </a:spcBef>
              <a:spcAft>
                <a:spcPts val="400"/>
              </a:spcAft>
            </a:pPr>
            <a:r>
              <a:rPr sz="1600" b="1">
                <a:solidFill>
                  <a:srgbClr val="3AB5F0"/>
                </a:solidFill>
                <a:latin typeface="Open Sans"/>
              </a:rPr>
              <a:t>•  </a:t>
            </a:r>
            <a:r>
              <a:rPr sz="1600" b="0">
                <a:solidFill>
                  <a:srgbClr val="FFFFFF"/>
                </a:solidFill>
                <a:latin typeface="Open Sans"/>
              </a:rPr>
              <a:t>One question</a:t>
            </a:r>
          </a:p>
          <a:p>
            <a:pPr algn="l">
              <a:spcBef>
                <a:spcPts val="0"/>
              </a:spcBef>
              <a:spcAft>
                <a:spcPts val="400"/>
              </a:spcAft>
            </a:pPr>
            <a:r>
              <a:rPr sz="1600" b="1">
                <a:solidFill>
                  <a:srgbClr val="3AB5F0"/>
                </a:solidFill>
                <a:latin typeface="Open Sans"/>
              </a:rPr>
              <a:t>•  </a:t>
            </a:r>
            <a:r>
              <a:rPr sz="1600" b="0">
                <a:solidFill>
                  <a:srgbClr val="FFFFFF"/>
                </a:solidFill>
                <a:latin typeface="Open Sans"/>
              </a:rPr>
              <a:t>Candidate action</a:t>
            </a:r>
          </a:p>
          <a:p>
            <a:pPr algn="l">
              <a:spcBef>
                <a:spcPts val="0"/>
              </a:spcBef>
              <a:spcAft>
                <a:spcPts val="400"/>
              </a:spcAft>
            </a:pPr>
            <a:r>
              <a:rPr sz="1600" b="1">
                <a:solidFill>
                  <a:srgbClr val="3AB5F0"/>
                </a:solidFill>
                <a:latin typeface="Open Sans"/>
              </a:rPr>
              <a:t>•  </a:t>
            </a:r>
            <a:r>
              <a:rPr sz="1600" b="0">
                <a:solidFill>
                  <a:srgbClr val="FFFFFF"/>
                </a:solidFill>
                <a:latin typeface="Open Sans"/>
              </a:rPr>
              <a:t>Today: rule-based; LLM is next</a:t>
            </a:r>
          </a:p>
        </p:txBody>
      </p:sp>
      <p:sp>
        <p:nvSpPr>
          <p:cNvPr id="9" name="Rectangle 8"/>
          <p:cNvSpPr/>
          <p:nvPr/>
        </p:nvSpPr>
        <p:spPr>
          <a:xfrm>
            <a:off x="713232"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463040"/>
            <a:ext cx="3931920" cy="2514600"/>
          </a:xfrm>
          <a:prstGeom prst="roundRect">
            <a:avLst>
              <a:gd name="adj" fmla="val 3272"/>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spcBef>
                <a:spcPts val="0"/>
              </a:spcBef>
              <a:spcAft>
                <a:spcPts val="800"/>
              </a:spcAft>
            </a:pPr>
            <a:r>
              <a:rPr sz="1800" b="1">
                <a:solidFill>
                  <a:srgbClr val="00D4A0"/>
                </a:solidFill>
                <a:latin typeface="Open Sans"/>
              </a:rPr>
              <a:t>Policy engine decides</a:t>
            </a:r>
          </a:p>
          <a:p>
            <a:pPr algn="l">
              <a:spcBef>
                <a:spcPts val="0"/>
              </a:spcBef>
              <a:spcAft>
                <a:spcPts val="400"/>
              </a:spcAft>
            </a:pPr>
            <a:r>
              <a:rPr sz="1600" b="1">
                <a:solidFill>
                  <a:srgbClr val="00D4A0"/>
                </a:solidFill>
                <a:latin typeface="Open Sans"/>
              </a:rPr>
              <a:t>•  </a:t>
            </a:r>
            <a:r>
              <a:rPr sz="1600" b="0">
                <a:solidFill>
                  <a:srgbClr val="FFFFFF"/>
                </a:solidFill>
                <a:latin typeface="Open Sans"/>
              </a:rPr>
              <a:t>Eligibility and attempts left</a:t>
            </a:r>
          </a:p>
          <a:p>
            <a:pPr algn="l">
              <a:spcBef>
                <a:spcPts val="0"/>
              </a:spcBef>
              <a:spcAft>
                <a:spcPts val="400"/>
              </a:spcAft>
            </a:pPr>
            <a:r>
              <a:rPr sz="1600" b="1">
                <a:solidFill>
                  <a:srgbClr val="00D4A0"/>
                </a:solidFill>
                <a:latin typeface="Open Sans"/>
              </a:rPr>
              <a:t>•  </a:t>
            </a:r>
            <a:r>
              <a:rPr sz="1600" b="0">
                <a:solidFill>
                  <a:srgbClr val="FFFFFF"/>
                </a:solidFill>
                <a:latin typeface="Open Sans"/>
              </a:rPr>
              <a:t>Silence is not refusal</a:t>
            </a:r>
          </a:p>
          <a:p>
            <a:pPr algn="l">
              <a:spcBef>
                <a:spcPts val="0"/>
              </a:spcBef>
              <a:spcAft>
                <a:spcPts val="400"/>
              </a:spcAft>
            </a:pPr>
            <a:r>
              <a:rPr sz="1600" b="1">
                <a:solidFill>
                  <a:srgbClr val="00D4A0"/>
                </a:solidFill>
                <a:latin typeface="Open Sans"/>
              </a:rPr>
              <a:t>•  </a:t>
            </a:r>
            <a:r>
              <a:rPr sz="1600" b="0">
                <a:solidFill>
                  <a:srgbClr val="FFFFFF"/>
                </a:solidFill>
                <a:latin typeface="Open Sans"/>
              </a:rPr>
              <a:t>Courier note is unverified</a:t>
            </a:r>
          </a:p>
          <a:p>
            <a:pPr algn="l">
              <a:spcBef>
                <a:spcPts val="0"/>
              </a:spcBef>
              <a:spcAft>
                <a:spcPts val="400"/>
              </a:spcAft>
            </a:pPr>
            <a:r>
              <a:rPr sz="1600" b="1">
                <a:solidFill>
                  <a:srgbClr val="00D4A0"/>
                </a:solidFill>
                <a:latin typeface="Open Sans"/>
              </a:rPr>
              <a:t>•  </a:t>
            </a:r>
            <a:r>
              <a:rPr sz="1600" b="0">
                <a:solidFill>
                  <a:srgbClr val="FFFFFF"/>
                </a:solidFill>
                <a:latin typeface="Open Sans"/>
              </a:rPr>
              <a:t>Blocks address change, dispatch, refund</a:t>
            </a:r>
          </a:p>
        </p:txBody>
      </p:sp>
      <p:sp>
        <p:nvSpPr>
          <p:cNvPr id="11" name="Rectangle 10"/>
          <p:cNvSpPr/>
          <p:nvPr/>
        </p:nvSpPr>
        <p:spPr>
          <a:xfrm>
            <a:off x="4828031"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4114800"/>
            <a:ext cx="8046720" cy="457200"/>
          </a:xfrm>
          <a:prstGeom prst="roundRect">
            <a:avLst>
              <a:gd name="adj" fmla="val 12000"/>
            </a:avLst>
          </a:prstGeom>
          <a:solidFill>
            <a:srgbClr val="0B1220"/>
          </a:solidFill>
          <a:ln w="19050">
            <a:solidFill>
              <a:srgbClr val="FF552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spcBef>
                <a:spcPts val="0"/>
              </a:spcBef>
              <a:spcAft>
                <a:spcPts val="0"/>
              </a:spcAft>
            </a:pPr>
            <a:r>
              <a:rPr sz="1800" b="1">
                <a:solidFill>
                  <a:srgbClr val="FF5520"/>
                </a:solidFill>
                <a:latin typeface="Open Sans"/>
              </a:rPr>
              <a:t>High confidence never overrides policy.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5  MVP ARCHITECTURE</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MVP architecture</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8</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371600"/>
            <a:ext cx="2468880" cy="1463040"/>
          </a:xfrm>
          <a:prstGeom prst="roundRect">
            <a:avLst>
              <a:gd name="adj" fmla="val 5624"/>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Data layer</a:t>
            </a:r>
          </a:p>
          <a:p>
            <a:pPr algn="ctr">
              <a:spcBef>
                <a:spcPts val="0"/>
              </a:spcBef>
              <a:spcAft>
                <a:spcPts val="0"/>
              </a:spcAft>
            </a:pPr>
            <a:r>
              <a:rPr sz="1400" b="0">
                <a:solidFill>
                  <a:srgbClr val="8AAACC"/>
                </a:solidFill>
                <a:latin typeface="Open Sans"/>
              </a:rPr>
              <a:t>9-table model: buyers, orders, delivery events, rescue cases, interactions</a:t>
            </a:r>
          </a:p>
        </p:txBody>
      </p:sp>
      <p:sp>
        <p:nvSpPr>
          <p:cNvPr id="9" name="Rounded Rectangle 8"/>
          <p:cNvSpPr/>
          <p:nvPr/>
        </p:nvSpPr>
        <p:spPr>
          <a:xfrm>
            <a:off x="3337560" y="1371600"/>
            <a:ext cx="2468880" cy="1463040"/>
          </a:xfrm>
          <a:prstGeom prst="roundRect">
            <a:avLst>
              <a:gd name="adj" fmla="val 5624"/>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Backend</a:t>
            </a:r>
          </a:p>
          <a:p>
            <a:pPr algn="ctr">
              <a:spcBef>
                <a:spcPts val="0"/>
              </a:spcBef>
              <a:spcAft>
                <a:spcPts val="0"/>
              </a:spcAft>
            </a:pPr>
            <a:r>
              <a:rPr sz="1400" b="0">
                <a:solidFill>
                  <a:srgbClr val="8AAACC"/>
                </a:solidFill>
                <a:latin typeface="Open Sans"/>
              </a:rPr>
              <a:t>state, contact gate, question budget, writes</a:t>
            </a:r>
          </a:p>
        </p:txBody>
      </p:sp>
      <p:sp>
        <p:nvSpPr>
          <p:cNvPr id="10" name="Rounded Rectangle 9"/>
          <p:cNvSpPr/>
          <p:nvPr/>
        </p:nvSpPr>
        <p:spPr>
          <a:xfrm>
            <a:off x="6126480" y="1371600"/>
            <a:ext cx="2468880" cy="1463040"/>
          </a:xfrm>
          <a:prstGeom prst="roundRect">
            <a:avLst>
              <a:gd name="adj" fmla="val 5624"/>
            </a:avLst>
          </a:prstGeom>
          <a:solidFill>
            <a:srgbClr val="082A4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Agent (LLM: next step)</a:t>
            </a:r>
          </a:p>
          <a:p>
            <a:pPr algn="ctr">
              <a:spcBef>
                <a:spcPts val="0"/>
              </a:spcBef>
              <a:spcAft>
                <a:spcPts val="0"/>
              </a:spcAft>
            </a:pPr>
            <a:r>
              <a:rPr sz="1400" b="0">
                <a:solidFill>
                  <a:srgbClr val="8AAACC"/>
                </a:solidFill>
                <a:latin typeface="Open Sans"/>
              </a:rPr>
              <a:t>reads allowed sources; outputs 6 fields</a:t>
            </a:r>
          </a:p>
        </p:txBody>
      </p:sp>
      <p:sp>
        <p:nvSpPr>
          <p:cNvPr id="11" name="Rounded Rectangle 10"/>
          <p:cNvSpPr/>
          <p:nvPr/>
        </p:nvSpPr>
        <p:spPr>
          <a:xfrm>
            <a:off x="548640" y="3108960"/>
            <a:ext cx="2468880" cy="1051560"/>
          </a:xfrm>
          <a:prstGeom prst="roundRect">
            <a:avLst>
              <a:gd name="adj" fmla="val 7826"/>
            </a:avLst>
          </a:prstGeom>
          <a:solidFill>
            <a:srgbClr val="0B1220"/>
          </a:solidFill>
          <a:ln w="19050">
            <a:solidFill>
              <a:srgbClr val="FF552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Today: local React app</a:t>
            </a:r>
          </a:p>
          <a:p>
            <a:pPr algn="ctr">
              <a:spcBef>
                <a:spcPts val="0"/>
              </a:spcBef>
              <a:spcAft>
                <a:spcPts val="0"/>
              </a:spcAft>
            </a:pPr>
            <a:r>
              <a:rPr sz="1400" b="0">
                <a:solidFill>
                  <a:srgbClr val="8AAACC"/>
                </a:solidFill>
                <a:latin typeface="Open Sans"/>
              </a:rPr>
              <a:t>fixtures, rule-based assessor</a:t>
            </a:r>
          </a:p>
        </p:txBody>
      </p:sp>
      <p:sp>
        <p:nvSpPr>
          <p:cNvPr id="12" name="Rounded Rectangle 11"/>
          <p:cNvSpPr/>
          <p:nvPr/>
        </p:nvSpPr>
        <p:spPr>
          <a:xfrm>
            <a:off x="3337560" y="3108960"/>
            <a:ext cx="2468880" cy="1051560"/>
          </a:xfrm>
          <a:prstGeom prst="roundRect">
            <a:avLst>
              <a:gd name="adj" fmla="val 7826"/>
            </a:avLst>
          </a:prstGeom>
          <a:solidFill>
            <a:srgbClr val="0B1220"/>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FFFFFF"/>
                </a:solidFill>
                <a:latin typeface="Open Sans"/>
              </a:rPr>
              <a:t>Policy engine</a:t>
            </a:r>
          </a:p>
          <a:p>
            <a:pPr algn="ctr">
              <a:spcBef>
                <a:spcPts val="0"/>
              </a:spcBef>
              <a:spcAft>
                <a:spcPts val="0"/>
              </a:spcAft>
            </a:pPr>
            <a:r>
              <a:rPr sz="1400" b="0">
                <a:solidFill>
                  <a:srgbClr val="8AAACC"/>
                </a:solidFill>
                <a:latin typeface="Open Sans"/>
              </a:rPr>
              <a:t>versioned, deterministic</a:t>
            </a:r>
          </a:p>
        </p:txBody>
      </p:sp>
      <p:sp>
        <p:nvSpPr>
          <p:cNvPr id="13" name="Rounded Rectangle 12"/>
          <p:cNvSpPr/>
          <p:nvPr/>
        </p:nvSpPr>
        <p:spPr>
          <a:xfrm>
            <a:off x="6126480" y="3108960"/>
            <a:ext cx="2468880" cy="1051560"/>
          </a:xfrm>
          <a:prstGeom prst="roundRect">
            <a:avLst>
              <a:gd name="adj" fmla="val 7826"/>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400" b="1">
                <a:solidFill>
                  <a:srgbClr val="000000"/>
                </a:solidFill>
                <a:latin typeface="Open Sans"/>
              </a:rPr>
              <a:t>Ops console</a:t>
            </a:r>
          </a:p>
          <a:p>
            <a:pPr algn="ctr">
              <a:spcBef>
                <a:spcPts val="0"/>
              </a:spcBef>
              <a:spcAft>
                <a:spcPts val="0"/>
              </a:spcAft>
            </a:pPr>
            <a:r>
              <a:rPr sz="1400" b="0">
                <a:solidFill>
                  <a:srgbClr val="000000"/>
                </a:solidFill>
                <a:latin typeface="Open Sans"/>
              </a:rPr>
              <a:t>recommendation, evidence, audit</a:t>
            </a:r>
          </a:p>
        </p:txBody>
      </p:sp>
      <p:cxnSp>
        <p:nvCxnSpPr>
          <p:cNvPr id="14" name="Connector 13"/>
          <p:cNvCxnSpPr/>
          <p:nvPr/>
        </p:nvCxnSpPr>
        <p:spPr>
          <a:xfrm>
            <a:off x="3017520" y="2103120"/>
            <a:ext cx="32004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06440" y="2103120"/>
            <a:ext cx="32004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2834640"/>
            <a:ext cx="0" cy="274320"/>
          </a:xfrm>
          <a:prstGeom prst="line">
            <a:avLst/>
          </a:prstGeom>
          <a:ln w="28575">
            <a:solidFill>
              <a:srgbClr val="00D4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806440" y="3634739"/>
            <a:ext cx="320040" cy="0"/>
          </a:xfrm>
          <a:prstGeom prst="line">
            <a:avLst/>
          </a:prstGeom>
          <a:ln w="28575">
            <a:solidFill>
              <a:srgbClr val="00D4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251960"/>
            <a:ext cx="8046720" cy="320040"/>
          </a:xfrm>
          <a:prstGeom prst="rect">
            <a:avLst/>
          </a:prstGeom>
          <a:noFill/>
        </p:spPr>
        <p:txBody>
          <a:bodyPr wrap="square" anchor="t" lIns="40000" rIns="40000" tIns="20000" bIns="20000">
            <a:spAutoFit/>
          </a:bodyPr>
          <a:lstStyle/>
          <a:p>
            <a:pPr algn="l">
              <a:spcBef>
                <a:spcPts val="0"/>
              </a:spcBef>
              <a:spcAft>
                <a:spcPts val="0"/>
              </a:spcAft>
            </a:pPr>
            <a:r>
              <a:rPr sz="1400" b="0">
                <a:solidFill>
                  <a:srgbClr val="8AAACC"/>
                </a:solidFill>
                <a:latin typeface="Open Sans"/>
              </a:rPr>
              <a:t>Golden test cases are kept out of the assessor's input.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BACKUP | SCALE</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How it scales</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13</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1389888" cy="1874519"/>
          </a:xfrm>
          <a:prstGeom prst="roundRect">
            <a:avLst>
              <a:gd name="adj" fmla="val 5921"/>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FF5520"/>
                </a:solidFill>
                <a:latin typeface="Open Sans"/>
              </a:rPr>
              <a:t>01</a:t>
            </a:r>
          </a:p>
          <a:p>
            <a:pPr algn="l">
              <a:spcBef>
                <a:spcPts val="0"/>
              </a:spcBef>
              <a:spcAft>
                <a:spcPts val="400"/>
              </a:spcAft>
            </a:pPr>
            <a:r>
              <a:rPr sz="1600" b="1">
                <a:solidFill>
                  <a:srgbClr val="FFFFFF"/>
                </a:solidFill>
                <a:latin typeface="Open Sans"/>
              </a:rPr>
              <a:t>Now</a:t>
            </a:r>
          </a:p>
          <a:p>
            <a:pPr algn="l">
              <a:spcBef>
                <a:spcPts val="0"/>
              </a:spcBef>
              <a:spcAft>
                <a:spcPts val="0"/>
              </a:spcAft>
            </a:pPr>
            <a:r>
              <a:rPr sz="1400" b="0">
                <a:solidFill>
                  <a:srgbClr val="8AAACC"/>
                </a:solidFill>
                <a:latin typeface="Open Sans"/>
              </a:rPr>
              <a:t>Local MVP, fixtures</a:t>
            </a:r>
          </a:p>
        </p:txBody>
      </p:sp>
      <p:sp>
        <p:nvSpPr>
          <p:cNvPr id="9" name="Rectangle 8"/>
          <p:cNvSpPr/>
          <p:nvPr/>
        </p:nvSpPr>
        <p:spPr>
          <a:xfrm>
            <a:off x="713232" y="14630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938528" y="2377440"/>
            <a:ext cx="27432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212848" y="1463040"/>
            <a:ext cx="1389888" cy="1874519"/>
          </a:xfrm>
          <a:prstGeom prst="roundRect">
            <a:avLst>
              <a:gd name="adj" fmla="val 5921"/>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02</a:t>
            </a:r>
          </a:p>
          <a:p>
            <a:pPr algn="l">
              <a:spcBef>
                <a:spcPts val="0"/>
              </a:spcBef>
              <a:spcAft>
                <a:spcPts val="400"/>
              </a:spcAft>
            </a:pPr>
            <a:r>
              <a:rPr sz="1600" b="1">
                <a:solidFill>
                  <a:srgbClr val="FFFFFF"/>
                </a:solidFill>
                <a:latin typeface="Open Sans"/>
              </a:rPr>
              <a:t>Next</a:t>
            </a:r>
          </a:p>
          <a:p>
            <a:pPr algn="l">
              <a:spcBef>
                <a:spcPts val="0"/>
              </a:spcBef>
              <a:spcAft>
                <a:spcPts val="0"/>
              </a:spcAft>
            </a:pPr>
            <a:r>
              <a:rPr sz="1400" b="0">
                <a:solidFill>
                  <a:srgbClr val="8AAACC"/>
                </a:solidFill>
                <a:latin typeface="Open Sans"/>
              </a:rPr>
              <a:t>Real carrier data feeds</a:t>
            </a:r>
          </a:p>
        </p:txBody>
      </p:sp>
      <p:sp>
        <p:nvSpPr>
          <p:cNvPr id="12" name="Rectangle 11"/>
          <p:cNvSpPr/>
          <p:nvPr/>
        </p:nvSpPr>
        <p:spPr>
          <a:xfrm>
            <a:off x="2377440"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3602736" y="2377440"/>
            <a:ext cx="27432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877056" y="1463040"/>
            <a:ext cx="1389888" cy="1874519"/>
          </a:xfrm>
          <a:prstGeom prst="roundRect">
            <a:avLst>
              <a:gd name="adj" fmla="val 5921"/>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03</a:t>
            </a:r>
          </a:p>
          <a:p>
            <a:pPr algn="l">
              <a:spcBef>
                <a:spcPts val="0"/>
              </a:spcBef>
              <a:spcAft>
                <a:spcPts val="400"/>
              </a:spcAft>
            </a:pPr>
            <a:r>
              <a:rPr sz="1600" b="1">
                <a:solidFill>
                  <a:srgbClr val="FFFFFF"/>
                </a:solidFill>
                <a:latin typeface="Open Sans"/>
              </a:rPr>
              <a:t>Then</a:t>
            </a:r>
          </a:p>
          <a:p>
            <a:pPr algn="l">
              <a:spcBef>
                <a:spcPts val="0"/>
              </a:spcBef>
              <a:spcAft>
                <a:spcPts val="0"/>
              </a:spcAft>
            </a:pPr>
            <a:r>
              <a:rPr sz="1400" b="0">
                <a:solidFill>
                  <a:srgbClr val="8AAACC"/>
                </a:solidFill>
                <a:latin typeface="Open Sans"/>
              </a:rPr>
              <a:t>Case queue, async agent runs</a:t>
            </a:r>
          </a:p>
        </p:txBody>
      </p:sp>
      <p:sp>
        <p:nvSpPr>
          <p:cNvPr id="15" name="Rectangle 14"/>
          <p:cNvSpPr/>
          <p:nvPr/>
        </p:nvSpPr>
        <p:spPr>
          <a:xfrm>
            <a:off x="4041648"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266944" y="2377440"/>
            <a:ext cx="27432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541264" y="1463040"/>
            <a:ext cx="1389888" cy="1874519"/>
          </a:xfrm>
          <a:prstGeom prst="roundRect">
            <a:avLst>
              <a:gd name="adj" fmla="val 5921"/>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04</a:t>
            </a:r>
          </a:p>
          <a:p>
            <a:pPr algn="l">
              <a:spcBef>
                <a:spcPts val="0"/>
              </a:spcBef>
              <a:spcAft>
                <a:spcPts val="400"/>
              </a:spcAft>
            </a:pPr>
            <a:r>
              <a:rPr sz="1600" b="1">
                <a:solidFill>
                  <a:srgbClr val="FFFFFF"/>
                </a:solidFill>
                <a:latin typeface="Open Sans"/>
              </a:rPr>
              <a:t>Then</a:t>
            </a:r>
          </a:p>
          <a:p>
            <a:pPr algn="l">
              <a:spcBef>
                <a:spcPts val="0"/>
              </a:spcBef>
              <a:spcAft>
                <a:spcPts val="0"/>
              </a:spcAft>
            </a:pPr>
            <a:r>
              <a:rPr sz="1400" b="0">
                <a:solidFill>
                  <a:srgbClr val="8AAACC"/>
                </a:solidFill>
                <a:latin typeface="Open Sans"/>
              </a:rPr>
              <a:t>Policy profile per version</a:t>
            </a:r>
          </a:p>
        </p:txBody>
      </p:sp>
      <p:sp>
        <p:nvSpPr>
          <p:cNvPr id="18" name="Rectangle 17"/>
          <p:cNvSpPr/>
          <p:nvPr/>
        </p:nvSpPr>
        <p:spPr>
          <a:xfrm>
            <a:off x="5705855"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6931152" y="2377440"/>
            <a:ext cx="27432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05472" y="1463040"/>
            <a:ext cx="1389888" cy="1874519"/>
          </a:xfrm>
          <a:prstGeom prst="roundRect">
            <a:avLst>
              <a:gd name="adj" fmla="val 5921"/>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00D4A0"/>
                </a:solidFill>
                <a:latin typeface="Open Sans"/>
              </a:rPr>
              <a:t>05</a:t>
            </a:r>
          </a:p>
          <a:p>
            <a:pPr algn="l">
              <a:spcBef>
                <a:spcPts val="0"/>
              </a:spcBef>
              <a:spcAft>
                <a:spcPts val="400"/>
              </a:spcAft>
            </a:pPr>
            <a:r>
              <a:rPr sz="1600" b="1">
                <a:solidFill>
                  <a:srgbClr val="FFFFFF"/>
                </a:solidFill>
                <a:latin typeface="Open Sans"/>
              </a:rPr>
              <a:t>Then</a:t>
            </a:r>
          </a:p>
          <a:p>
            <a:pPr algn="l">
              <a:spcBef>
                <a:spcPts val="0"/>
              </a:spcBef>
              <a:spcAft>
                <a:spcPts val="0"/>
              </a:spcAft>
            </a:pPr>
            <a:r>
              <a:rPr sz="1400" b="0">
                <a:solidFill>
                  <a:srgbClr val="8AAACC"/>
                </a:solidFill>
                <a:latin typeface="Open Sans"/>
              </a:rPr>
              <a:t>Evaluation harness, 30 cases (not built yet)</a:t>
            </a:r>
          </a:p>
        </p:txBody>
      </p:sp>
      <p:sp>
        <p:nvSpPr>
          <p:cNvPr id="21" name="Rectangle 20"/>
          <p:cNvSpPr/>
          <p:nvPr/>
        </p:nvSpPr>
        <p:spPr>
          <a:xfrm>
            <a:off x="7370064"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48640" y="3611880"/>
            <a:ext cx="8046720" cy="731520"/>
          </a:xfrm>
          <a:prstGeom prst="roundRect">
            <a:avLst>
              <a:gd name="adj" fmla="val 11249"/>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91440" bIns="91440"/>
          <a:lstStyle/>
          <a:p>
            <a:pPr algn="l">
              <a:spcBef>
                <a:spcPts val="0"/>
              </a:spcBef>
              <a:spcAft>
                <a:spcPts val="0"/>
              </a:spcAft>
            </a:pPr>
            <a:r>
              <a:rPr sz="1600" b="0">
                <a:solidFill>
                  <a:srgbClr val="FFFFFF"/>
                </a:solidFill>
                <a:latin typeface="Open Sans"/>
              </a:rPr>
              <a:t>The 30 synthetic cases cover 24 with a buyer reply and 6 manual no-reply paths.</a:t>
            </a:r>
          </a:p>
        </p:txBody>
      </p:sp>
      <p:sp>
        <p:nvSpPr>
          <p:cNvPr id="23" name="Rectangle 22"/>
          <p:cNvSpPr/>
          <p:nvPr/>
        </p:nvSpPr>
        <p:spPr>
          <a:xfrm>
            <a:off x="713232" y="361188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BACKUP | INTEGRATION</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Integration: how it would plug into Ops</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14</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2377440" cy="1051560"/>
          </a:xfrm>
          <a:prstGeom prst="roundRect">
            <a:avLst>
              <a:gd name="adj" fmla="val 7826"/>
            </a:avLst>
          </a:prstGeom>
          <a:solidFill>
            <a:srgbClr val="0B122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500" b="1">
                <a:solidFill>
                  <a:srgbClr val="FFFFFF"/>
                </a:solidFill>
                <a:latin typeface="Open Sans"/>
              </a:rPr>
              <a:t>Order and delivery-event stores</a:t>
            </a:r>
          </a:p>
          <a:p>
            <a:pPr algn="ctr">
              <a:spcBef>
                <a:spcPts val="0"/>
              </a:spcBef>
              <a:spcAft>
                <a:spcPts val="0"/>
              </a:spcAft>
            </a:pPr>
            <a:r>
              <a:rPr sz="1400" b="0">
                <a:solidFill>
                  <a:srgbClr val="8AAACC"/>
                </a:solidFill>
                <a:latin typeface="Open Sans"/>
              </a:rPr>
              <a:t>read only</a:t>
            </a:r>
          </a:p>
        </p:txBody>
      </p:sp>
      <p:sp>
        <p:nvSpPr>
          <p:cNvPr id="9" name="Rounded Rectangle 8"/>
          <p:cNvSpPr/>
          <p:nvPr/>
        </p:nvSpPr>
        <p:spPr>
          <a:xfrm>
            <a:off x="3383280" y="1463040"/>
            <a:ext cx="2377440" cy="1051560"/>
          </a:xfrm>
          <a:prstGeom prst="roundRect">
            <a:avLst>
              <a:gd name="adj" fmla="val 7826"/>
            </a:avLst>
          </a:prstGeom>
          <a:solidFill>
            <a:srgbClr val="082A40"/>
          </a:solidFill>
          <a:ln w="19050">
            <a:solidFill>
              <a:srgbClr val="3AB5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500" b="1">
                <a:solidFill>
                  <a:srgbClr val="FFFFFF"/>
                </a:solidFill>
                <a:latin typeface="Open Sans"/>
              </a:rPr>
              <a:t>Order Rescue service</a:t>
            </a:r>
          </a:p>
          <a:p>
            <a:pPr algn="ctr">
              <a:spcBef>
                <a:spcPts val="0"/>
              </a:spcBef>
              <a:spcAft>
                <a:spcPts val="0"/>
              </a:spcAft>
            </a:pPr>
            <a:r>
              <a:rPr sz="1400" b="0">
                <a:solidFill>
                  <a:srgbClr val="8AAACC"/>
                </a:solidFill>
                <a:latin typeface="Open Sans"/>
              </a:rPr>
              <a:t>agent + policy engine</a:t>
            </a:r>
          </a:p>
        </p:txBody>
      </p:sp>
      <p:sp>
        <p:nvSpPr>
          <p:cNvPr id="10" name="Rounded Rectangle 9"/>
          <p:cNvSpPr/>
          <p:nvPr/>
        </p:nvSpPr>
        <p:spPr>
          <a:xfrm>
            <a:off x="6217920" y="1463040"/>
            <a:ext cx="2377440" cy="1051560"/>
          </a:xfrm>
          <a:prstGeom prst="roundRect">
            <a:avLst>
              <a:gd name="adj" fmla="val 7826"/>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500" b="1">
                <a:solidFill>
                  <a:srgbClr val="000000"/>
                </a:solidFill>
                <a:latin typeface="Open Sans"/>
              </a:rPr>
              <a:t>Ops console</a:t>
            </a:r>
          </a:p>
          <a:p>
            <a:pPr algn="ctr">
              <a:spcBef>
                <a:spcPts val="0"/>
              </a:spcBef>
              <a:spcAft>
                <a:spcPts val="0"/>
              </a:spcAft>
            </a:pPr>
            <a:r>
              <a:rPr sz="1400" b="0">
                <a:solidFill>
                  <a:srgbClr val="000000"/>
                </a:solidFill>
                <a:latin typeface="Open Sans"/>
              </a:rPr>
              <a:t>human approves or rejects</a:t>
            </a:r>
          </a:p>
        </p:txBody>
      </p:sp>
      <p:cxnSp>
        <p:nvCxnSpPr>
          <p:cNvPr id="11" name="Connector 10"/>
          <p:cNvCxnSpPr/>
          <p:nvPr/>
        </p:nvCxnSpPr>
        <p:spPr>
          <a:xfrm>
            <a:off x="2926080" y="1988819"/>
            <a:ext cx="457200" cy="0"/>
          </a:xfrm>
          <a:prstGeom prst="line">
            <a:avLst/>
          </a:prstGeom>
          <a:ln w="28575">
            <a:solidFill>
              <a:srgbClr val="3AB5F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60720" y="1988819"/>
            <a:ext cx="457200" cy="0"/>
          </a:xfrm>
          <a:prstGeom prst="line">
            <a:avLst/>
          </a:prstGeom>
          <a:ln w="28575">
            <a:solidFill>
              <a:srgbClr val="00D4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2880360"/>
            <a:ext cx="2377440" cy="1051560"/>
          </a:xfrm>
          <a:prstGeom prst="roundRect">
            <a:avLst>
              <a:gd name="adj" fmla="val 7826"/>
            </a:avLst>
          </a:prstGeom>
          <a:solidFill>
            <a:srgbClr val="0B1220"/>
          </a:solidFill>
          <a:ln w="19050">
            <a:solidFill>
              <a:srgbClr val="FF552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Bef>
                <a:spcPts val="0"/>
              </a:spcBef>
              <a:spcAft>
                <a:spcPts val="200"/>
              </a:spcAft>
            </a:pPr>
            <a:r>
              <a:rPr sz="1500" b="1">
                <a:solidFill>
                  <a:srgbClr val="FFFFFF"/>
                </a:solidFill>
                <a:latin typeface="Open Sans"/>
              </a:rPr>
              <a:t>Buyer messaging channel</a:t>
            </a:r>
          </a:p>
          <a:p>
            <a:pPr algn="ctr">
              <a:spcBef>
                <a:spcPts val="0"/>
              </a:spcBef>
              <a:spcAft>
                <a:spcPts val="0"/>
              </a:spcAft>
            </a:pPr>
            <a:r>
              <a:rPr sz="1400" b="0">
                <a:solidFill>
                  <a:srgbClr val="8AAACC"/>
                </a:solidFill>
                <a:latin typeface="Open Sans"/>
              </a:rPr>
              <a:t>via backend contact gate</a:t>
            </a:r>
          </a:p>
        </p:txBody>
      </p:sp>
      <p:cxnSp>
        <p:nvCxnSpPr>
          <p:cNvPr id="14" name="Connector 13"/>
          <p:cNvCxnSpPr/>
          <p:nvPr/>
        </p:nvCxnSpPr>
        <p:spPr>
          <a:xfrm>
            <a:off x="4572000" y="2514600"/>
            <a:ext cx="0" cy="365760"/>
          </a:xfrm>
          <a:prstGeom prst="line">
            <a:avLst/>
          </a:prstGeom>
          <a:ln w="28575">
            <a:solidFill>
              <a:srgbClr val="FF552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3931920"/>
            <a:ext cx="8046720" cy="594360"/>
          </a:xfrm>
          <a:prstGeom prst="rect">
            <a:avLst/>
          </a:prstGeom>
          <a:noFill/>
        </p:spPr>
        <p:txBody>
          <a:bodyPr wrap="square" anchor="t" lIns="40000" rIns="40000" tIns="20000" bIns="20000">
            <a:spAutoFit/>
          </a:bodyPr>
          <a:lstStyle/>
          <a:p>
            <a:pPr algn="l">
              <a:spcBef>
                <a:spcPts val="0"/>
              </a:spcBef>
              <a:spcAft>
                <a:spcPts val="0"/>
              </a:spcAft>
            </a:pPr>
            <a:r>
              <a:rPr sz="1600" b="1">
                <a:solidFill>
                  <a:srgbClr val="FF5520"/>
                </a:solidFill>
                <a:latin typeface="Open Sans"/>
              </a:rPr>
              <a:t>Today: no Shopee/SPX data, API, messaging or dispatch. All of the above is FUTURE / UNVERIFIED.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7  IMPACT (HYPOTHESES TO VALIDATE)</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Where AI could create value in operations</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11</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39319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400"/>
              </a:spcAft>
            </a:pPr>
            <a:r>
              <a:rPr sz="1800" b="1">
                <a:solidFill>
                  <a:srgbClr val="3AB5F0"/>
                </a:solidFill>
                <a:latin typeface="Open Sans"/>
              </a:rPr>
              <a:t>01  </a:t>
            </a:r>
            <a:r>
              <a:rPr sz="1600" b="1">
                <a:solidFill>
                  <a:srgbClr val="FFFFFF"/>
                </a:solidFill>
                <a:latin typeface="Open Sans"/>
              </a:rPr>
              <a:t>Fewer wasted re-attempts</a:t>
            </a:r>
          </a:p>
          <a:p>
            <a:pPr algn="l">
              <a:spcBef>
                <a:spcPts val="0"/>
              </a:spcBef>
              <a:spcAft>
                <a:spcPts val="0"/>
              </a:spcAft>
            </a:pPr>
            <a:r>
              <a:rPr sz="1400" b="0">
                <a:solidFill>
                  <a:srgbClr val="8AAACC"/>
                </a:solidFill>
                <a:latin typeface="Open Sans"/>
              </a:rPr>
              <a:t>9 of 30 test cases change hypothesis after the reply, e.g. DEMO-002</a:t>
            </a:r>
          </a:p>
        </p:txBody>
      </p:sp>
      <p:sp>
        <p:nvSpPr>
          <p:cNvPr id="9" name="Rectangle 8"/>
          <p:cNvSpPr/>
          <p:nvPr/>
        </p:nvSpPr>
        <p:spPr>
          <a:xfrm>
            <a:off x="713232"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463040"/>
            <a:ext cx="39319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400"/>
              </a:spcAft>
            </a:pPr>
            <a:r>
              <a:rPr sz="1800" b="1">
                <a:solidFill>
                  <a:srgbClr val="00D4A0"/>
                </a:solidFill>
                <a:latin typeface="Open Sans"/>
              </a:rPr>
              <a:t>02  </a:t>
            </a:r>
            <a:r>
              <a:rPr sz="1600" b="1">
                <a:solidFill>
                  <a:srgbClr val="FFFFFF"/>
                </a:solidFill>
                <a:latin typeface="Open Sans"/>
              </a:rPr>
              <a:t>Faster Ops triage</a:t>
            </a:r>
          </a:p>
          <a:p>
            <a:pPr algn="l">
              <a:spcBef>
                <a:spcPts val="0"/>
              </a:spcBef>
              <a:spcAft>
                <a:spcPts val="0"/>
              </a:spcAft>
            </a:pPr>
            <a:r>
              <a:rPr sz="1400" b="0">
                <a:solidFill>
                  <a:srgbClr val="8AAACC"/>
                </a:solidFill>
                <a:latin typeface="Open Sans"/>
              </a:rPr>
              <a:t>Evidence pre-assembled for all 30 cases</a:t>
            </a:r>
          </a:p>
        </p:txBody>
      </p:sp>
      <p:sp>
        <p:nvSpPr>
          <p:cNvPr id="11" name="Rectangle 10"/>
          <p:cNvSpPr/>
          <p:nvPr/>
        </p:nvSpPr>
        <p:spPr>
          <a:xfrm>
            <a:off x="4828031"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788920"/>
            <a:ext cx="39319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400"/>
              </a:spcAft>
            </a:pPr>
            <a:r>
              <a:rPr sz="1800" b="1">
                <a:solidFill>
                  <a:srgbClr val="FF5520"/>
                </a:solidFill>
                <a:latin typeface="Open Sans"/>
              </a:rPr>
              <a:t>03  </a:t>
            </a:r>
            <a:r>
              <a:rPr sz="1600" b="1">
                <a:solidFill>
                  <a:srgbClr val="FFFFFF"/>
                </a:solidFill>
                <a:latin typeface="Open Sans"/>
              </a:rPr>
              <a:t>Explainable decisions</a:t>
            </a:r>
          </a:p>
          <a:p>
            <a:pPr algn="l">
              <a:spcBef>
                <a:spcPts val="0"/>
              </a:spcBef>
              <a:spcAft>
                <a:spcPts val="0"/>
              </a:spcAft>
            </a:pPr>
            <a:r>
              <a:rPr sz="1400" b="0">
                <a:solidFill>
                  <a:srgbClr val="8AAACC"/>
                </a:solidFill>
                <a:latin typeface="Open Sans"/>
              </a:rPr>
              <a:t>Six traceable fields per case</a:t>
            </a:r>
          </a:p>
        </p:txBody>
      </p:sp>
      <p:sp>
        <p:nvSpPr>
          <p:cNvPr id="13" name="Rectangle 12"/>
          <p:cNvSpPr/>
          <p:nvPr/>
        </p:nvSpPr>
        <p:spPr>
          <a:xfrm>
            <a:off x="713232" y="278892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663440" y="2788920"/>
            <a:ext cx="39319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400"/>
              </a:spcAft>
            </a:pPr>
            <a:r>
              <a:rPr sz="1800" b="1">
                <a:solidFill>
                  <a:srgbClr val="3AB5F0"/>
                </a:solidFill>
                <a:latin typeface="Open Sans"/>
              </a:rPr>
              <a:t>04  </a:t>
            </a:r>
            <a:r>
              <a:rPr sz="1600" b="1">
                <a:solidFill>
                  <a:srgbClr val="FFFFFF"/>
                </a:solidFill>
                <a:latin typeface="Open Sans"/>
              </a:rPr>
              <a:t>Better buyer experience</a:t>
            </a:r>
          </a:p>
          <a:p>
            <a:pPr algn="l">
              <a:spcBef>
                <a:spcPts val="0"/>
              </a:spcBef>
              <a:spcAft>
                <a:spcPts val="0"/>
              </a:spcAft>
            </a:pPr>
            <a:r>
              <a:rPr sz="1400" b="0">
                <a:solidFill>
                  <a:srgbClr val="8AAACC"/>
                </a:solidFill>
                <a:latin typeface="Open Sans"/>
              </a:rPr>
              <a:t>One question; 6 no-reply paths handled</a:t>
            </a:r>
          </a:p>
        </p:txBody>
      </p:sp>
      <p:sp>
        <p:nvSpPr>
          <p:cNvPr id="15" name="Rectangle 14"/>
          <p:cNvSpPr/>
          <p:nvPr/>
        </p:nvSpPr>
        <p:spPr>
          <a:xfrm>
            <a:off x="4828031" y="278892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160520"/>
            <a:ext cx="8046720" cy="457200"/>
          </a:xfrm>
          <a:prstGeom prst="rect">
            <a:avLst/>
          </a:prstGeom>
          <a:noFill/>
        </p:spPr>
        <p:txBody>
          <a:bodyPr wrap="square" anchor="t" lIns="40000" rIns="40000" tIns="20000" bIns="20000">
            <a:spAutoFit/>
          </a:bodyPr>
          <a:lstStyle/>
          <a:p>
            <a:pPr algn="l">
              <a:spcBef>
                <a:spcPts val="0"/>
              </a:spcBef>
              <a:spcAft>
                <a:spcPts val="0"/>
              </a:spcAft>
            </a:pPr>
            <a:r>
              <a:rPr sz="1400" b="0">
                <a:solidFill>
                  <a:srgbClr val="8AAACC"/>
                </a:solidFill>
                <a:latin typeface="Open Sans"/>
              </a:rPr>
              <a:t>Case counts come from the 30 synthetic test cases. No impact numbers claimed; all four are hypotheses.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8  USE OF CODEX</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How we used Codex</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9</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8046720" cy="695706"/>
          </a:xfrm>
          <a:prstGeom prst="roundRect">
            <a:avLst>
              <a:gd name="adj" fmla="val 11829"/>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ctr"/>
          </a:p>
        </p:txBody>
      </p:sp>
      <p:sp>
        <p:nvSpPr>
          <p:cNvPr id="9" name="TextBox 8"/>
          <p:cNvSpPr txBox="1"/>
          <p:nvPr/>
        </p:nvSpPr>
        <p:spPr>
          <a:xfrm>
            <a:off x="685800" y="1463040"/>
            <a:ext cx="640080" cy="695706"/>
          </a:xfrm>
          <a:prstGeom prst="rect">
            <a:avLst/>
          </a:prstGeom>
          <a:noFill/>
        </p:spPr>
        <p:txBody>
          <a:bodyPr wrap="square" anchor="ctr" lIns="40000" rIns="40000" tIns="20000" bIns="20000">
            <a:spAutoFit/>
          </a:bodyPr>
          <a:lstStyle/>
          <a:p>
            <a:pPr algn="l">
              <a:spcBef>
                <a:spcPts val="0"/>
              </a:spcBef>
              <a:spcAft>
                <a:spcPts val="0"/>
              </a:spcAft>
            </a:pPr>
            <a:r>
              <a:rPr sz="2000" b="1">
                <a:solidFill>
                  <a:srgbClr val="3AB5F0"/>
                </a:solidFill>
                <a:latin typeface="Open Sans"/>
              </a:rPr>
              <a:t>01</a:t>
            </a:r>
          </a:p>
        </p:txBody>
      </p:sp>
      <p:sp>
        <p:nvSpPr>
          <p:cNvPr id="10" name="TextBox 9"/>
          <p:cNvSpPr txBox="1"/>
          <p:nvPr/>
        </p:nvSpPr>
        <p:spPr>
          <a:xfrm>
            <a:off x="1371600" y="1463040"/>
            <a:ext cx="7132320" cy="695706"/>
          </a:xfrm>
          <a:prstGeom prst="rect">
            <a:avLst/>
          </a:prstGeom>
          <a:noFill/>
        </p:spPr>
        <p:txBody>
          <a:bodyPr wrap="square" anchor="ctr" lIns="40000" rIns="40000" tIns="20000" bIns="20000">
            <a:spAutoFit/>
          </a:bodyPr>
          <a:lstStyle/>
          <a:p>
            <a:pPr algn="l">
              <a:spcBef>
                <a:spcPts val="0"/>
              </a:spcBef>
              <a:spcAft>
                <a:spcPts val="0"/>
              </a:spcAft>
            </a:pPr>
            <a:r>
              <a:rPr sz="1500" b="0">
                <a:solidFill>
                  <a:srgbClr val="FFFFFF"/>
                </a:solidFill>
                <a:latin typeface="Open Sans"/>
              </a:rPr>
              <a:t>Codex harness in the repo: 15 agent configs (.codex/agents), 34 skills (.agents/skills).</a:t>
            </a:r>
          </a:p>
        </p:txBody>
      </p:sp>
      <p:sp>
        <p:nvSpPr>
          <p:cNvPr id="11" name="Rounded Rectangle 10"/>
          <p:cNvSpPr/>
          <p:nvPr/>
        </p:nvSpPr>
        <p:spPr>
          <a:xfrm>
            <a:off x="548640" y="2250186"/>
            <a:ext cx="8046720" cy="457581"/>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ctr"/>
          </a:p>
        </p:txBody>
      </p:sp>
      <p:sp>
        <p:nvSpPr>
          <p:cNvPr id="12" name="TextBox 11"/>
          <p:cNvSpPr txBox="1"/>
          <p:nvPr/>
        </p:nvSpPr>
        <p:spPr>
          <a:xfrm>
            <a:off x="685800" y="2250186"/>
            <a:ext cx="640080" cy="457581"/>
          </a:xfrm>
          <a:prstGeom prst="rect">
            <a:avLst/>
          </a:prstGeom>
          <a:noFill/>
        </p:spPr>
        <p:txBody>
          <a:bodyPr wrap="square" anchor="ctr" lIns="40000" rIns="40000" tIns="20000" bIns="20000">
            <a:spAutoFit/>
          </a:bodyPr>
          <a:lstStyle/>
          <a:p>
            <a:pPr algn="l">
              <a:spcBef>
                <a:spcPts val="0"/>
              </a:spcBef>
              <a:spcAft>
                <a:spcPts val="0"/>
              </a:spcAft>
            </a:pPr>
            <a:r>
              <a:rPr sz="2000" b="1">
                <a:solidFill>
                  <a:srgbClr val="3AB5F0"/>
                </a:solidFill>
                <a:latin typeface="Open Sans"/>
              </a:rPr>
              <a:t>02</a:t>
            </a:r>
          </a:p>
        </p:txBody>
      </p:sp>
      <p:sp>
        <p:nvSpPr>
          <p:cNvPr id="13" name="TextBox 12"/>
          <p:cNvSpPr txBox="1"/>
          <p:nvPr/>
        </p:nvSpPr>
        <p:spPr>
          <a:xfrm>
            <a:off x="1371600" y="2250186"/>
            <a:ext cx="7132320" cy="457581"/>
          </a:xfrm>
          <a:prstGeom prst="rect">
            <a:avLst/>
          </a:prstGeom>
          <a:noFill/>
        </p:spPr>
        <p:txBody>
          <a:bodyPr wrap="square" anchor="ctr" lIns="40000" rIns="40000" tIns="20000" bIns="20000">
            <a:spAutoFit/>
          </a:bodyPr>
          <a:lstStyle/>
          <a:p>
            <a:pPr algn="l">
              <a:spcBef>
                <a:spcPts val="0"/>
              </a:spcBef>
              <a:spcAft>
                <a:spcPts val="0"/>
              </a:spcAft>
            </a:pPr>
            <a:r>
              <a:rPr sz="1500" b="0">
                <a:solidFill>
                  <a:srgbClr val="FFFFFF"/>
                </a:solidFill>
                <a:latin typeface="Open Sans"/>
              </a:rPr>
              <a:t>Spec-driven loop encoded there: research, plan, validate, execute.</a:t>
            </a:r>
          </a:p>
        </p:txBody>
      </p:sp>
      <p:sp>
        <p:nvSpPr>
          <p:cNvPr id="14" name="Rounded Rectangle 13"/>
          <p:cNvSpPr/>
          <p:nvPr/>
        </p:nvSpPr>
        <p:spPr>
          <a:xfrm>
            <a:off x="548640" y="2799207"/>
            <a:ext cx="8046720" cy="457581"/>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ctr"/>
          </a:p>
        </p:txBody>
      </p:sp>
      <p:sp>
        <p:nvSpPr>
          <p:cNvPr id="15" name="TextBox 14"/>
          <p:cNvSpPr txBox="1"/>
          <p:nvPr/>
        </p:nvSpPr>
        <p:spPr>
          <a:xfrm>
            <a:off x="685800" y="2799207"/>
            <a:ext cx="640080" cy="457581"/>
          </a:xfrm>
          <a:prstGeom prst="rect">
            <a:avLst/>
          </a:prstGeom>
          <a:noFill/>
        </p:spPr>
        <p:txBody>
          <a:bodyPr wrap="square" anchor="ctr" lIns="40000" rIns="40000" tIns="20000" bIns="20000">
            <a:spAutoFit/>
          </a:bodyPr>
          <a:lstStyle/>
          <a:p>
            <a:pPr algn="l">
              <a:spcBef>
                <a:spcPts val="0"/>
              </a:spcBef>
              <a:spcAft>
                <a:spcPts val="0"/>
              </a:spcAft>
            </a:pPr>
            <a:r>
              <a:rPr sz="2000" b="1">
                <a:solidFill>
                  <a:srgbClr val="00D4A0"/>
                </a:solidFill>
                <a:latin typeface="Open Sans"/>
              </a:rPr>
              <a:t>03</a:t>
            </a:r>
          </a:p>
        </p:txBody>
      </p:sp>
      <p:sp>
        <p:nvSpPr>
          <p:cNvPr id="16" name="TextBox 15"/>
          <p:cNvSpPr txBox="1"/>
          <p:nvPr/>
        </p:nvSpPr>
        <p:spPr>
          <a:xfrm>
            <a:off x="1371600" y="2799207"/>
            <a:ext cx="7132320" cy="457581"/>
          </a:xfrm>
          <a:prstGeom prst="rect">
            <a:avLst/>
          </a:prstGeom>
          <a:noFill/>
        </p:spPr>
        <p:txBody>
          <a:bodyPr wrap="square" anchor="ctr" lIns="40000" rIns="40000" tIns="20000" bIns="20000">
            <a:spAutoFit/>
          </a:bodyPr>
          <a:lstStyle/>
          <a:p>
            <a:pPr algn="l">
              <a:spcBef>
                <a:spcPts val="0"/>
              </a:spcBef>
              <a:spcAft>
                <a:spcPts val="0"/>
              </a:spcAft>
            </a:pPr>
            <a:r>
              <a:rPr sz="1500" b="0">
                <a:solidFill>
                  <a:srgbClr val="FFFFFF"/>
                </a:solidFill>
                <a:latin typeface="Open Sans"/>
              </a:rPr>
              <a:t>Vitest: 23 tests in 6 files pass (npm run test:unit, run 29 Oct).</a:t>
            </a:r>
          </a:p>
        </p:txBody>
      </p:sp>
      <p:sp>
        <p:nvSpPr>
          <p:cNvPr id="17" name="Rounded Rectangle 16"/>
          <p:cNvSpPr/>
          <p:nvPr/>
        </p:nvSpPr>
        <p:spPr>
          <a:xfrm>
            <a:off x="548640" y="3348228"/>
            <a:ext cx="8046720" cy="457581"/>
          </a:xfrm>
          <a:prstGeom prst="roundRect">
            <a:avLst>
              <a:gd name="adj" fmla="val 12000"/>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ctr"/>
          </a:p>
        </p:txBody>
      </p:sp>
      <p:sp>
        <p:nvSpPr>
          <p:cNvPr id="18" name="TextBox 17"/>
          <p:cNvSpPr txBox="1"/>
          <p:nvPr/>
        </p:nvSpPr>
        <p:spPr>
          <a:xfrm>
            <a:off x="685800" y="3348228"/>
            <a:ext cx="640080" cy="457581"/>
          </a:xfrm>
          <a:prstGeom prst="rect">
            <a:avLst/>
          </a:prstGeom>
          <a:noFill/>
        </p:spPr>
        <p:txBody>
          <a:bodyPr wrap="square" anchor="ctr" lIns="40000" rIns="40000" tIns="20000" bIns="20000">
            <a:spAutoFit/>
          </a:bodyPr>
          <a:lstStyle/>
          <a:p>
            <a:pPr algn="l">
              <a:spcBef>
                <a:spcPts val="0"/>
              </a:spcBef>
              <a:spcAft>
                <a:spcPts val="0"/>
              </a:spcAft>
            </a:pPr>
            <a:r>
              <a:rPr sz="2000" b="1">
                <a:solidFill>
                  <a:srgbClr val="00D4A0"/>
                </a:solidFill>
                <a:latin typeface="Open Sans"/>
              </a:rPr>
              <a:t>04</a:t>
            </a:r>
          </a:p>
        </p:txBody>
      </p:sp>
      <p:sp>
        <p:nvSpPr>
          <p:cNvPr id="19" name="TextBox 18"/>
          <p:cNvSpPr txBox="1"/>
          <p:nvPr/>
        </p:nvSpPr>
        <p:spPr>
          <a:xfrm>
            <a:off x="1371600" y="3348228"/>
            <a:ext cx="7132320" cy="457581"/>
          </a:xfrm>
          <a:prstGeom prst="rect">
            <a:avLst/>
          </a:prstGeom>
          <a:noFill/>
        </p:spPr>
        <p:txBody>
          <a:bodyPr wrap="square" anchor="ctr" lIns="40000" rIns="40000" tIns="20000" bIns="20000">
            <a:spAutoFit/>
          </a:bodyPr>
          <a:lstStyle/>
          <a:p>
            <a:pPr algn="l">
              <a:spcBef>
                <a:spcPts val="0"/>
              </a:spcBef>
              <a:spcAft>
                <a:spcPts val="0"/>
              </a:spcAft>
            </a:pPr>
            <a:r>
              <a:rPr sz="1500" b="0">
                <a:solidFill>
                  <a:srgbClr val="FFFFFF"/>
                </a:solidFill>
                <a:latin typeface="Open Sans"/>
              </a:rPr>
              <a:t>Playwright spec for the demo flow in e2e/.</a:t>
            </a:r>
          </a:p>
        </p:txBody>
      </p:sp>
      <p:sp>
        <p:nvSpPr>
          <p:cNvPr id="20" name="Rounded Rectangle 19"/>
          <p:cNvSpPr/>
          <p:nvPr/>
        </p:nvSpPr>
        <p:spPr>
          <a:xfrm>
            <a:off x="548640" y="3897249"/>
            <a:ext cx="8046720" cy="695706"/>
          </a:xfrm>
          <a:prstGeom prst="roundRect">
            <a:avLst>
              <a:gd name="adj" fmla="val 11829"/>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ctr"/>
          </a:p>
        </p:txBody>
      </p:sp>
      <p:sp>
        <p:nvSpPr>
          <p:cNvPr id="21" name="TextBox 20"/>
          <p:cNvSpPr txBox="1"/>
          <p:nvPr/>
        </p:nvSpPr>
        <p:spPr>
          <a:xfrm>
            <a:off x="685800" y="3897249"/>
            <a:ext cx="640080" cy="695706"/>
          </a:xfrm>
          <a:prstGeom prst="rect">
            <a:avLst/>
          </a:prstGeom>
          <a:noFill/>
        </p:spPr>
        <p:txBody>
          <a:bodyPr wrap="square" anchor="ctr" lIns="40000" rIns="40000" tIns="20000" bIns="20000">
            <a:spAutoFit/>
          </a:bodyPr>
          <a:lstStyle/>
          <a:p>
            <a:pPr algn="l">
              <a:spcBef>
                <a:spcPts val="0"/>
              </a:spcBef>
              <a:spcAft>
                <a:spcPts val="0"/>
              </a:spcAft>
            </a:pPr>
            <a:r>
              <a:rPr sz="2000" b="1">
                <a:solidFill>
                  <a:srgbClr val="FF5520"/>
                </a:solidFill>
                <a:latin typeface="Open Sans"/>
              </a:rPr>
              <a:t>05</a:t>
            </a:r>
          </a:p>
        </p:txBody>
      </p:sp>
      <p:sp>
        <p:nvSpPr>
          <p:cNvPr id="22" name="TextBox 21"/>
          <p:cNvSpPr txBox="1"/>
          <p:nvPr/>
        </p:nvSpPr>
        <p:spPr>
          <a:xfrm>
            <a:off x="1371600" y="3897249"/>
            <a:ext cx="7132320" cy="695706"/>
          </a:xfrm>
          <a:prstGeom prst="rect">
            <a:avLst/>
          </a:prstGeom>
          <a:noFill/>
        </p:spPr>
        <p:txBody>
          <a:bodyPr wrap="square" anchor="ctr" lIns="40000" rIns="40000" tIns="20000" bIns="20000">
            <a:spAutoFit/>
          </a:bodyPr>
          <a:lstStyle/>
          <a:p>
            <a:pPr algn="l">
              <a:spcBef>
                <a:spcPts val="0"/>
              </a:spcBef>
              <a:spcAft>
                <a:spcPts val="0"/>
              </a:spcAft>
            </a:pPr>
            <a:r>
              <a:rPr sz="1500" b="0">
                <a:solidFill>
                  <a:srgbClr val="FFFFFF"/>
                </a:solidFill>
                <a:latin typeface="Open Sans"/>
              </a:rPr>
              <a:t>Claude Code was also used here (.claude/ in repo): we show the repo, not sole authorship.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9  DEMO</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Demo flow: verified vs simulated</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10</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25603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46304" bIns="146304"/>
          <a:lstStyle/>
          <a:p>
            <a:pPr algn="l">
              <a:spcBef>
                <a:spcPts val="0"/>
              </a:spcBef>
              <a:spcAft>
                <a:spcPts val="400"/>
              </a:spcAft>
            </a:pPr>
            <a:r>
              <a:rPr sz="1500" b="1">
                <a:solidFill>
                  <a:srgbClr val="00D4A0"/>
                </a:solidFill>
                <a:latin typeface="Open Sans"/>
              </a:rPr>
              <a:t>REAL - LOCAL</a:t>
            </a:r>
          </a:p>
          <a:p>
            <a:pPr algn="l">
              <a:spcBef>
                <a:spcPts val="0"/>
              </a:spcBef>
              <a:spcAft>
                <a:spcPts val="0"/>
              </a:spcAft>
            </a:pPr>
            <a:r>
              <a:rPr sz="1400" b="0">
                <a:solidFill>
                  <a:srgbClr val="8AAACC"/>
                </a:solidFill>
                <a:latin typeface="Open Sans"/>
              </a:rPr>
              <a:t>UI, assessor, policy gate, audit, tests</a:t>
            </a:r>
          </a:p>
        </p:txBody>
      </p:sp>
      <p:sp>
        <p:nvSpPr>
          <p:cNvPr id="9" name="Rectangle 8"/>
          <p:cNvSpPr/>
          <p:nvPr/>
        </p:nvSpPr>
        <p:spPr>
          <a:xfrm>
            <a:off x="713232"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91840" y="1463040"/>
            <a:ext cx="25603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46304" bIns="146304"/>
          <a:lstStyle/>
          <a:p>
            <a:pPr algn="l">
              <a:spcBef>
                <a:spcPts val="0"/>
              </a:spcBef>
              <a:spcAft>
                <a:spcPts val="400"/>
              </a:spcAft>
            </a:pPr>
            <a:r>
              <a:rPr sz="1500" b="1">
                <a:solidFill>
                  <a:srgbClr val="FF5520"/>
                </a:solidFill>
                <a:latin typeface="Open Sans"/>
              </a:rPr>
              <a:t>SIMULATED</a:t>
            </a:r>
          </a:p>
          <a:p>
            <a:pPr algn="l">
              <a:spcBef>
                <a:spcPts val="0"/>
              </a:spcBef>
              <a:spcAft>
                <a:spcPts val="0"/>
              </a:spcAft>
            </a:pPr>
            <a:r>
              <a:rPr sz="1400" b="0">
                <a:solidFill>
                  <a:srgbClr val="8AAACC"/>
                </a:solidFill>
                <a:latin typeface="Open Sans"/>
              </a:rPr>
              <a:t>Orders, events, notes, buyer replies</a:t>
            </a:r>
          </a:p>
        </p:txBody>
      </p:sp>
      <p:sp>
        <p:nvSpPr>
          <p:cNvPr id="11" name="Rectangle 10"/>
          <p:cNvSpPr/>
          <p:nvPr/>
        </p:nvSpPr>
        <p:spPr>
          <a:xfrm>
            <a:off x="3456432" y="14630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1463040"/>
            <a:ext cx="25603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46304" bIns="146304"/>
          <a:lstStyle/>
          <a:p>
            <a:pPr algn="l">
              <a:spcBef>
                <a:spcPts val="0"/>
              </a:spcBef>
              <a:spcAft>
                <a:spcPts val="400"/>
              </a:spcAft>
            </a:pPr>
            <a:r>
              <a:rPr sz="1500" b="1">
                <a:solidFill>
                  <a:srgbClr val="3AB5F0"/>
                </a:solidFill>
                <a:latin typeface="Open Sans"/>
              </a:rPr>
              <a:t>FUTURE / UNVERIFIED</a:t>
            </a:r>
          </a:p>
          <a:p>
            <a:pPr algn="l">
              <a:spcBef>
                <a:spcPts val="0"/>
              </a:spcBef>
              <a:spcAft>
                <a:spcPts val="0"/>
              </a:spcAft>
            </a:pPr>
            <a:r>
              <a:rPr sz="1400" b="0">
                <a:solidFill>
                  <a:srgbClr val="8AAACC"/>
                </a:solidFill>
                <a:latin typeface="Open Sans"/>
              </a:rPr>
              <a:t>Shopee/SPX data, messaging, dispatch</a:t>
            </a:r>
          </a:p>
        </p:txBody>
      </p:sp>
      <p:sp>
        <p:nvSpPr>
          <p:cNvPr id="13" name="Rectangle 12"/>
          <p:cNvSpPr/>
          <p:nvPr/>
        </p:nvSpPr>
        <p:spPr>
          <a:xfrm>
            <a:off x="6199631"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926080"/>
            <a:ext cx="1874519" cy="1463040"/>
          </a:xfrm>
          <a:prstGeom prst="roundRect">
            <a:avLst>
              <a:gd name="adj" fmla="val 562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01</a:t>
            </a:r>
          </a:p>
          <a:p>
            <a:pPr algn="l">
              <a:spcBef>
                <a:spcPts val="0"/>
              </a:spcBef>
              <a:spcAft>
                <a:spcPts val="400"/>
              </a:spcAft>
            </a:pPr>
            <a:r>
              <a:rPr sz="1400" b="1">
                <a:solidFill>
                  <a:srgbClr val="FFFFFF"/>
                </a:solidFill>
                <a:latin typeface="Open Sans"/>
              </a:rPr>
              <a:t>Pick a case: raw status plus courier note.</a:t>
            </a:r>
          </a:p>
        </p:txBody>
      </p:sp>
      <p:sp>
        <p:nvSpPr>
          <p:cNvPr id="15" name="Rectangle 14"/>
          <p:cNvSpPr/>
          <p:nvPr/>
        </p:nvSpPr>
        <p:spPr>
          <a:xfrm>
            <a:off x="713232" y="292608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606040" y="2926080"/>
            <a:ext cx="1874519" cy="1463040"/>
          </a:xfrm>
          <a:prstGeom prst="roundRect">
            <a:avLst>
              <a:gd name="adj" fmla="val 562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3AB5F0"/>
                </a:solidFill>
                <a:latin typeface="Open Sans"/>
              </a:rPr>
              <a:t>02</a:t>
            </a:r>
          </a:p>
          <a:p>
            <a:pPr algn="l">
              <a:spcBef>
                <a:spcPts val="0"/>
              </a:spcBef>
              <a:spcAft>
                <a:spcPts val="400"/>
              </a:spcAft>
            </a:pPr>
            <a:r>
              <a:rPr sz="1400" b="1">
                <a:solidFill>
                  <a:srgbClr val="FFFFFF"/>
                </a:solidFill>
                <a:latin typeface="Open Sans"/>
              </a:rPr>
              <a:t>See evidence, hypothesis, missing info.</a:t>
            </a:r>
          </a:p>
        </p:txBody>
      </p:sp>
      <p:sp>
        <p:nvSpPr>
          <p:cNvPr id="17" name="Rectangle 16"/>
          <p:cNvSpPr/>
          <p:nvPr/>
        </p:nvSpPr>
        <p:spPr>
          <a:xfrm>
            <a:off x="2770632" y="292608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63440" y="2926080"/>
            <a:ext cx="1874519" cy="1463040"/>
          </a:xfrm>
          <a:prstGeom prst="roundRect">
            <a:avLst>
              <a:gd name="adj" fmla="val 562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00D4A0"/>
                </a:solidFill>
                <a:latin typeface="Open Sans"/>
              </a:rPr>
              <a:t>03</a:t>
            </a:r>
          </a:p>
          <a:p>
            <a:pPr algn="l">
              <a:spcBef>
                <a:spcPts val="0"/>
              </a:spcBef>
              <a:spcAft>
                <a:spcPts val="400"/>
              </a:spcAft>
            </a:pPr>
            <a:r>
              <a:rPr sz="1400" b="1">
                <a:solidFill>
                  <a:srgbClr val="FFFFFF"/>
                </a:solidFill>
                <a:latin typeface="Open Sans"/>
              </a:rPr>
              <a:t>Apply buyer reply; watch reassessment.</a:t>
            </a:r>
          </a:p>
        </p:txBody>
      </p:sp>
      <p:sp>
        <p:nvSpPr>
          <p:cNvPr id="19" name="Rectangle 18"/>
          <p:cNvSpPr/>
          <p:nvPr/>
        </p:nvSpPr>
        <p:spPr>
          <a:xfrm>
            <a:off x="4828031" y="292608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720840" y="2926080"/>
            <a:ext cx="1874519" cy="1463040"/>
          </a:xfrm>
          <a:prstGeom prst="roundRect">
            <a:avLst>
              <a:gd name="adj" fmla="val 5624"/>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28016" bIns="128016"/>
          <a:lstStyle/>
          <a:p>
            <a:pPr algn="l">
              <a:spcBef>
                <a:spcPts val="0"/>
              </a:spcBef>
              <a:spcAft>
                <a:spcPts val="200"/>
              </a:spcAft>
            </a:pPr>
            <a:r>
              <a:rPr sz="2200" b="1">
                <a:solidFill>
                  <a:srgbClr val="FF5520"/>
                </a:solidFill>
                <a:latin typeface="Open Sans"/>
              </a:rPr>
              <a:t>04</a:t>
            </a:r>
          </a:p>
          <a:p>
            <a:pPr algn="l">
              <a:spcBef>
                <a:spcPts val="0"/>
              </a:spcBef>
              <a:spcAft>
                <a:spcPts val="400"/>
              </a:spcAft>
            </a:pPr>
            <a:r>
              <a:rPr sz="1400" b="1">
                <a:solidFill>
                  <a:srgbClr val="FFFFFF"/>
                </a:solidFill>
                <a:latin typeface="Open Sans"/>
              </a:rPr>
              <a:t>Try a blocked request: policy refuses.</a:t>
            </a:r>
          </a:p>
        </p:txBody>
      </p:sp>
      <p:sp>
        <p:nvSpPr>
          <p:cNvPr id="21" name="Rectangle 20"/>
          <p:cNvSpPr/>
          <p:nvPr/>
        </p:nvSpPr>
        <p:spPr>
          <a:xfrm>
            <a:off x="6885431" y="292608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548640" y="320040"/>
            <a:ext cx="2743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182880"/>
            <a:ext cx="5943600" cy="274320"/>
          </a:xfrm>
          <a:prstGeom prst="rect">
            <a:avLst/>
          </a:prstGeom>
          <a:noFill/>
        </p:spPr>
        <p:txBody>
          <a:bodyPr wrap="square" anchor="t" lIns="40000" rIns="40000" tIns="20000" bIns="20000">
            <a:spAutoFit/>
          </a:bodyPr>
          <a:lstStyle/>
          <a:p>
            <a:pPr algn="l">
              <a:spcBef>
                <a:spcPts val="0"/>
              </a:spcBef>
              <a:spcAft>
                <a:spcPts val="0"/>
              </a:spcAft>
            </a:pPr>
            <a:r>
              <a:rPr sz="1200" b="1">
                <a:solidFill>
                  <a:srgbClr val="FF5520"/>
                </a:solidFill>
                <a:latin typeface="Open Sans"/>
              </a:rPr>
              <a:t>BACKUP | ROADMAP</a:t>
            </a:r>
          </a:p>
        </p:txBody>
      </p:sp>
      <p:sp>
        <p:nvSpPr>
          <p:cNvPr id="5" name="TextBox 4"/>
          <p:cNvSpPr txBox="1"/>
          <p:nvPr/>
        </p:nvSpPr>
        <p:spPr>
          <a:xfrm>
            <a:off x="548640" y="457200"/>
            <a:ext cx="7680960" cy="896112"/>
          </a:xfrm>
          <a:prstGeom prst="rect">
            <a:avLst/>
          </a:prstGeom>
          <a:noFill/>
        </p:spPr>
        <p:txBody>
          <a:bodyPr wrap="square" anchor="t" lIns="40000" rIns="40000" tIns="20000" bIns="20000">
            <a:spAutoFit/>
          </a:bodyPr>
          <a:lstStyle/>
          <a:p>
            <a:pPr algn="l">
              <a:spcBef>
                <a:spcPts val="0"/>
              </a:spcBef>
              <a:spcAft>
                <a:spcPts val="0"/>
              </a:spcAft>
            </a:pPr>
            <a:r>
              <a:rPr sz="2600" b="1">
                <a:solidFill>
                  <a:srgbClr val="FFFFFF"/>
                </a:solidFill>
                <a:latin typeface="Open Sans"/>
              </a:rPr>
              <a:t>Roadmap and Q&amp;A backup</a:t>
            </a:r>
          </a:p>
        </p:txBody>
      </p:sp>
      <p:sp>
        <p:nvSpPr>
          <p:cNvPr id="6" name="TextBox 5"/>
          <p:cNvSpPr txBox="1"/>
          <p:nvPr/>
        </p:nvSpPr>
        <p:spPr>
          <a:xfrm>
            <a:off x="7955279" y="4754880"/>
            <a:ext cx="64008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15</a:t>
            </a:r>
          </a:p>
        </p:txBody>
      </p:sp>
      <p:sp>
        <p:nvSpPr>
          <p:cNvPr id="7" name="TextBox 6"/>
          <p:cNvSpPr txBox="1"/>
          <p:nvPr/>
        </p:nvSpPr>
        <p:spPr>
          <a:xfrm>
            <a:off x="3840480" y="4754880"/>
            <a:ext cx="4114800" cy="256032"/>
          </a:xfrm>
          <a:prstGeom prst="rect">
            <a:avLst/>
          </a:prstGeom>
          <a:noFill/>
        </p:spPr>
        <p:txBody>
          <a:bodyPr wrap="square" anchor="t" lIns="40000" rIns="40000" tIns="20000" bIns="20000">
            <a:spAutoFit/>
          </a:bodyPr>
          <a:lstStyle/>
          <a:p>
            <a:pPr algn="r">
              <a:spcBef>
                <a:spcPts val="0"/>
              </a:spcBef>
              <a:spcAft>
                <a:spcPts val="0"/>
              </a:spcAft>
            </a:pPr>
            <a:r>
              <a:rPr sz="1000" b="0">
                <a:solidFill>
                  <a:srgbClr val="7A8FA8"/>
                </a:solidFill>
                <a:latin typeface="Open Sans"/>
              </a:rPr>
              <a:t>Order Rescue | synthetic data only | local MVP</a:t>
            </a:r>
          </a:p>
        </p:txBody>
      </p:sp>
      <p:sp>
        <p:nvSpPr>
          <p:cNvPr id="8" name="Rounded Rectangle 7"/>
          <p:cNvSpPr/>
          <p:nvPr/>
        </p:nvSpPr>
        <p:spPr>
          <a:xfrm>
            <a:off x="548640" y="1463040"/>
            <a:ext cx="25603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300"/>
              </a:spcAft>
            </a:pPr>
            <a:r>
              <a:rPr sz="1800" b="1">
                <a:solidFill>
                  <a:srgbClr val="3AB5F0"/>
                </a:solidFill>
                <a:latin typeface="Open Sans"/>
              </a:rPr>
              <a:t>01  </a:t>
            </a:r>
            <a:r>
              <a:rPr sz="1600" b="1">
                <a:solidFill>
                  <a:srgbClr val="FFFFFF"/>
                </a:solidFill>
                <a:latin typeface="Open Sans"/>
              </a:rPr>
              <a:t>Next</a:t>
            </a:r>
          </a:p>
          <a:p>
            <a:pPr algn="l">
              <a:spcBef>
                <a:spcPts val="0"/>
              </a:spcBef>
              <a:spcAft>
                <a:spcPts val="0"/>
              </a:spcAft>
            </a:pPr>
            <a:r>
              <a:rPr sz="1400" b="0">
                <a:solidFill>
                  <a:srgbClr val="8AAACC"/>
                </a:solidFill>
                <a:latin typeface="Open Sans"/>
              </a:rPr>
              <a:t>Connect the LLM agent to the v2.2 contract</a:t>
            </a:r>
          </a:p>
        </p:txBody>
      </p:sp>
      <p:sp>
        <p:nvSpPr>
          <p:cNvPr id="9" name="Rectangle 8"/>
          <p:cNvSpPr/>
          <p:nvPr/>
        </p:nvSpPr>
        <p:spPr>
          <a:xfrm>
            <a:off x="713232" y="1463040"/>
            <a:ext cx="502920" cy="36576"/>
          </a:xfrm>
          <a:prstGeom prst="rect">
            <a:avLst/>
          </a:prstGeom>
          <a:solidFill>
            <a:srgbClr val="3AB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91840" y="1463040"/>
            <a:ext cx="25603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300"/>
              </a:spcAft>
            </a:pPr>
            <a:r>
              <a:rPr sz="1800" b="1">
                <a:solidFill>
                  <a:srgbClr val="00D4A0"/>
                </a:solidFill>
                <a:latin typeface="Open Sans"/>
              </a:rPr>
              <a:t>02  </a:t>
            </a:r>
            <a:r>
              <a:rPr sz="1600" b="1">
                <a:solidFill>
                  <a:srgbClr val="FFFFFF"/>
                </a:solidFill>
                <a:latin typeface="Open Sans"/>
              </a:rPr>
              <a:t>Then</a:t>
            </a:r>
          </a:p>
          <a:p>
            <a:pPr algn="l">
              <a:spcBef>
                <a:spcPts val="0"/>
              </a:spcBef>
              <a:spcAft>
                <a:spcPts val="0"/>
              </a:spcAft>
            </a:pPr>
            <a:r>
              <a:rPr sz="1400" b="0">
                <a:solidFill>
                  <a:srgbClr val="8AAACC"/>
                </a:solidFill>
                <a:latin typeface="Open Sans"/>
              </a:rPr>
              <a:t>Run all 30 cases through an evaluator</a:t>
            </a:r>
          </a:p>
        </p:txBody>
      </p:sp>
      <p:sp>
        <p:nvSpPr>
          <p:cNvPr id="11" name="Rectangle 10"/>
          <p:cNvSpPr/>
          <p:nvPr/>
        </p:nvSpPr>
        <p:spPr>
          <a:xfrm>
            <a:off x="3456432" y="1463040"/>
            <a:ext cx="502920" cy="36576"/>
          </a:xfrm>
          <a:prstGeom prst="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1463040"/>
            <a:ext cx="2560320" cy="1188720"/>
          </a:xfrm>
          <a:prstGeom prst="roundRect">
            <a:avLst>
              <a:gd name="adj" fmla="val 6923"/>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146304"/>
          <a:lstStyle/>
          <a:p>
            <a:pPr algn="l">
              <a:spcBef>
                <a:spcPts val="0"/>
              </a:spcBef>
              <a:spcAft>
                <a:spcPts val="300"/>
              </a:spcAft>
            </a:pPr>
            <a:r>
              <a:rPr sz="1800" b="1">
                <a:solidFill>
                  <a:srgbClr val="FF5520"/>
                </a:solidFill>
                <a:latin typeface="Open Sans"/>
              </a:rPr>
              <a:t>03  </a:t>
            </a:r>
            <a:r>
              <a:rPr sz="1600" b="1">
                <a:solidFill>
                  <a:srgbClr val="FFFFFF"/>
                </a:solidFill>
                <a:latin typeface="Open Sans"/>
              </a:rPr>
              <a:t>Later</a:t>
            </a:r>
          </a:p>
          <a:p>
            <a:pPr algn="l">
              <a:spcBef>
                <a:spcPts val="0"/>
              </a:spcBef>
              <a:spcAft>
                <a:spcPts val="0"/>
              </a:spcAft>
            </a:pPr>
            <a:r>
              <a:rPr sz="1400" b="0">
                <a:solidFill>
                  <a:srgbClr val="8AAACC"/>
                </a:solidFill>
                <a:latin typeface="Open Sans"/>
              </a:rPr>
              <a:t>Pilot on real data with permission</a:t>
            </a:r>
          </a:p>
        </p:txBody>
      </p:sp>
      <p:sp>
        <p:nvSpPr>
          <p:cNvPr id="13" name="Rectangle 12"/>
          <p:cNvSpPr/>
          <p:nvPr/>
        </p:nvSpPr>
        <p:spPr>
          <a:xfrm>
            <a:off x="6199631" y="14630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834640"/>
            <a:ext cx="8046720" cy="1719072"/>
          </a:xfrm>
          <a:prstGeom prst="roundRect">
            <a:avLst>
              <a:gd name="adj" fmla="val 4787"/>
            </a:avLst>
          </a:prstGeom>
          <a:solidFill>
            <a:srgbClr val="0B1220"/>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46304" bIns="146304"/>
          <a:lstStyle/>
          <a:p>
            <a:pPr algn="l">
              <a:spcBef>
                <a:spcPts val="0"/>
              </a:spcBef>
              <a:spcAft>
                <a:spcPts val="600"/>
              </a:spcAft>
            </a:pPr>
            <a:r>
              <a:rPr sz="1600" b="1">
                <a:solidFill>
                  <a:srgbClr val="FF5520"/>
                </a:solidFill>
                <a:latin typeface="Open Sans"/>
              </a:rPr>
              <a:t>Q&amp;A backup:</a:t>
            </a:r>
          </a:p>
          <a:p>
            <a:pPr algn="l">
              <a:spcBef>
                <a:spcPts val="0"/>
              </a:spcBef>
              <a:spcAft>
                <a:spcPts val="600"/>
              </a:spcAft>
            </a:pPr>
            <a:r>
              <a:rPr sz="1400" b="1">
                <a:solidFill>
                  <a:srgbClr val="FFFFFF"/>
                </a:solidFill>
                <a:latin typeface="Open Sans"/>
              </a:rPr>
              <a:t>How do you prevent hallucinated actions? </a:t>
            </a:r>
            <a:r>
              <a:rPr sz="1400" b="0">
                <a:solidFill>
                  <a:srgbClr val="8AAACC"/>
                </a:solidFill>
                <a:latin typeface="Open Sans"/>
              </a:rPr>
              <a:t>Fixed vocabularies and a deterministic gate.</a:t>
            </a:r>
          </a:p>
          <a:p>
            <a:pPr algn="l">
              <a:spcBef>
                <a:spcPts val="0"/>
              </a:spcBef>
              <a:spcAft>
                <a:spcPts val="600"/>
              </a:spcAft>
            </a:pPr>
            <a:r>
              <a:rPr sz="1400" b="1">
                <a:solidFill>
                  <a:srgbClr val="FFFFFF"/>
                </a:solidFill>
                <a:latin typeface="Open Sans"/>
              </a:rPr>
              <a:t>Why one question only? </a:t>
            </a:r>
            <a:r>
              <a:rPr sz="1400" b="0">
                <a:solidFill>
                  <a:srgbClr val="8AAACC"/>
                </a:solidFill>
                <a:latin typeface="Open Sans"/>
              </a:rPr>
              <a:t>Policy profile caps buyer questions at 1.</a:t>
            </a:r>
          </a:p>
          <a:p>
            <a:pPr algn="l">
              <a:spcBef>
                <a:spcPts val="0"/>
              </a:spcBef>
              <a:spcAft>
                <a:spcPts val="600"/>
              </a:spcAft>
            </a:pPr>
            <a:r>
              <a:rPr sz="1400" b="1">
                <a:solidFill>
                  <a:srgbClr val="FFFFFF"/>
                </a:solidFill>
                <a:latin typeface="Open Sans"/>
              </a:rPr>
              <a:t>What is real today? </a:t>
            </a:r>
            <a:r>
              <a:rPr sz="1400" b="0">
                <a:solidFill>
                  <a:srgbClr val="8AAACC"/>
                </a:solidFill>
                <a:latin typeface="Open Sans"/>
              </a:rPr>
              <a:t>Local app, policy gate and tests.</a:t>
            </a:r>
          </a:p>
        </p:txBody>
      </p:sp>
      <p:sp>
        <p:nvSpPr>
          <p:cNvPr id="15" name="Rectangle 14"/>
          <p:cNvSpPr/>
          <p:nvPr/>
        </p:nvSpPr>
        <p:spPr>
          <a:xfrm>
            <a:off x="713232" y="2834640"/>
            <a:ext cx="502920" cy="36576"/>
          </a:xfrm>
          <a:prstGeom prst="rect">
            <a:avLst/>
          </a:prstGeom>
          <a:solidFill>
            <a:srgbClr val="FF5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