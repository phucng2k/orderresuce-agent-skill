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 Good afternoon. We are Lucas, Phuc, Hai and Kha. Order Rescue helps Ops understand why a delivery failed, and recommends what to do next. It recommends; it never acts on its own. Everything uses synthetic data. Be upfront: a rule-based assessor stands in for the LLM agent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[0:15-0:55] Hai supplies these numbers (research due 9:00 on 30 Oct). Order: first Shopee operations numbers, then one outside case study where a similar problem was reduced, then say: that is why we built this. If numbers are not ready, delete this slide; do not invent any.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[0:55-1:25] When a delivery fails, Ops sees a code like recipient unavailable. It could mean the buyer was at work, the landmark was wrong, the phone was off, or the route was disrupted. Guessing wrong wastes a courier trip or loses the order, and nobody records why a decision was made.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[1:25-2:15] Four steps. One: read the case, meaning the status, the courier note and the order history. Two: if something is missing, ask the buyer one question, only one. Three: check the answer against the rules. Four: show Ops a recommendation with the evidence; Ops decides. Say plainly: today a rule-based assessor plays the AI role; the LLM agent is the next step.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[2:15-2:45] This is the trust story. The AI suggests, the rules decide. High confidence never overrides the rules. Silence is not a refusal. A courier note alone is not proof. The AI cannot change an address or refund anything; those are escalated to a person.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[2:45-3:25] Say only what the team confirmed: we used Codex for the demo app, its tests (Vitest and Playwright), and the data model, business rules and 30 test cases. Our process was rules and test cases first, then build, then test against them. Do not extend the claim beyond those areas. Do not state accuracy.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[3:25-3:45] Declaration, matching the 5 PM form. Before 31 Oct: data model, business rules, 30 synthetic cases and a first local prototype. On the day: fill in at 5 PM what was added. Judges may audit, so keep this exact.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[3:45-5:45] (2 minutes, live, real time.) Case 1: pick a failed delivery, show evidence and the assessment. Apply the buyer reply and show the reassessment. Case 2: try an address change and show the policy block. Keep the legend in one sentence: app, rules and tests are real; orders, notes and replies are simulated; nothing connects to Shopee or SPX.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[5:45-6:00] These are hypotheses to validate with real data, not results. We show no savings or accuracy numbers because we have none. Next: connect the LLM agent, run all 30 cases through an evaluator, pilot with permission.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Detailed flow. Raw data goes through a pre-check; malformed or closed cases never reach the AI. Assessment 1 produces evidence and a hypothesis. The backend allows exactly one buyer question. A reply triggers assessment 2; a manual no-reply keeps assessment 1. The policy engine decides what is permitted; Ops receives the recommendation.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Today a local Vite, React and TypeScript app. Fixtures stand in for data stores; a rule-based assessor stands in for the LLM; the policy gate and audit trail are real local code. Target design has the same layers backed by the 9-table data model.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Q&amp;A] Keep answers short and honest. LLM kept honest: fixed vocabularies and a deterministic gate. Real data: not accessed; next step needs permission. Where is the AI: the v2.2 contract, six fixed fields and the recommendation prompt define it; a rule-based assessor stands in today. Numbers: we claim none.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Rectangle 1"/>
          <p:cNvSpPr/>
          <p:nvPr/>
        </p:nvSpPr>
        <p:spPr>
          <a:xfrm>
            <a:off x="5943600" y="0"/>
            <a:ext cx="3200400" cy="514350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172200" y="3730752"/>
            <a:ext cx="2514600" cy="237744"/>
          </a:xfrm>
          <a:prstGeom prst="ellipse">
            <a:avLst/>
          </a:prstGeom>
          <a:solidFill>
            <a:srgbClr val="D6C6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263640" y="2423160"/>
            <a:ext cx="1920240" cy="1417320"/>
          </a:xfrm>
          <a:prstGeom prst="rect">
            <a:avLst/>
          </a:prstGeom>
          <a:solidFill>
            <a:srgbClr val="C58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8183880" y="2057400"/>
            <a:ext cx="411480" cy="1783080"/>
          </a:xfrm>
          <a:custGeom>
            <a:avLst/>
            <a:gdLst/>
            <a:ahLst/>
            <a:cxnLst/>
            <a:rect l="l" t="t" r="r" b="b"/>
            <a:pathLst>
              <a:path w="411480" h="1783080">
                <a:moveTo>
                  <a:pt x="0" y="365760"/>
                </a:moveTo>
                <a:lnTo>
                  <a:pt x="411480" y="0"/>
                </a:lnTo>
                <a:lnTo>
                  <a:pt x="411480" y="1417320"/>
                </a:lnTo>
                <a:lnTo>
                  <a:pt x="0" y="1783080"/>
                </a:lnTo>
                <a:close/>
              </a:path>
            </a:pathLst>
          </a:custGeom>
          <a:solidFill>
            <a:srgbClr val="A97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Freeform 5"/>
          <p:cNvSpPr/>
          <p:nvPr/>
        </p:nvSpPr>
        <p:spPr>
          <a:xfrm>
            <a:off x="6263640" y="2057400"/>
            <a:ext cx="2331720" cy="365760"/>
          </a:xfrm>
          <a:custGeom>
            <a:avLst/>
            <a:gdLst/>
            <a:ahLst/>
            <a:cxnLst/>
            <a:rect l="l" t="t" r="r" b="b"/>
            <a:pathLst>
              <a:path w="2331720" h="365760">
                <a:moveTo>
                  <a:pt x="0" y="365760"/>
                </a:moveTo>
                <a:lnTo>
                  <a:pt x="1920240" y="365760"/>
                </a:lnTo>
                <a:lnTo>
                  <a:pt x="2331720" y="0"/>
                </a:lnTo>
                <a:lnTo>
                  <a:pt x="411480" y="0"/>
                </a:lnTo>
                <a:close/>
              </a:path>
            </a:pathLst>
          </a:custGeom>
          <a:solidFill>
            <a:srgbClr val="D9AA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068312" y="2423160"/>
            <a:ext cx="310896" cy="1417320"/>
          </a:xfrm>
          <a:prstGeom prst="rect">
            <a:avLst/>
          </a:prstGeom>
          <a:solidFill>
            <a:srgbClr val="EBDD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7068312" y="2057400"/>
            <a:ext cx="722376" cy="365760"/>
          </a:xfrm>
          <a:custGeom>
            <a:avLst/>
            <a:gdLst/>
            <a:ahLst/>
            <a:cxnLst/>
            <a:rect l="l" t="t" r="r" b="b"/>
            <a:pathLst>
              <a:path w="722376" h="365760">
                <a:moveTo>
                  <a:pt x="0" y="365760"/>
                </a:moveTo>
                <a:lnTo>
                  <a:pt x="310896" y="365760"/>
                </a:lnTo>
                <a:lnTo>
                  <a:pt x="722376" y="0"/>
                </a:lnTo>
                <a:lnTo>
                  <a:pt x="411480" y="0"/>
                </a:lnTo>
                <a:close/>
              </a:path>
            </a:pathLst>
          </a:custGeom>
          <a:solidFill>
            <a:srgbClr val="EBDD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452360" y="3154680"/>
            <a:ext cx="594360" cy="530352"/>
          </a:xfrm>
          <a:prstGeom prst="rect">
            <a:avLst/>
          </a:prstGeom>
          <a:solidFill>
            <a:srgbClr val="FAF6EF"/>
          </a:solidFill>
          <a:ln w="9525">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516368" y="3218688"/>
            <a:ext cx="41148"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573061" y="3218688"/>
            <a:ext cx="27432"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629754" y="3218688"/>
            <a:ext cx="41148"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686446" y="3218688"/>
            <a:ext cx="27432"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743139" y="3218688"/>
            <a:ext cx="41148"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99832" y="3218688"/>
            <a:ext cx="27432"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856525" y="3218688"/>
            <a:ext cx="41148"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913218" y="3218688"/>
            <a:ext cx="27432"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969910" y="3218688"/>
            <a:ext cx="41148" cy="219456"/>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516368" y="3502152"/>
            <a:ext cx="457200" cy="27432"/>
          </a:xfrm>
          <a:prstGeom prst="rect">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516368" y="3575304"/>
            <a:ext cx="310896" cy="27432"/>
          </a:xfrm>
          <a:prstGeom prst="rect">
            <a:avLst/>
          </a:prstGeom>
          <a:solidFill>
            <a:srgbClr val="5B62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00800" y="2560320"/>
            <a:ext cx="457200" cy="457200"/>
          </a:xfrm>
          <a:prstGeom prst="ellipse">
            <a:avLst/>
          </a:prstGeom>
          <a:noFill/>
          <a:ln w="19050">
            <a:solidFill>
              <a:srgbClr val="B83A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537960" y="2697480"/>
            <a:ext cx="182880" cy="182880"/>
          </a:xfrm>
          <a:prstGeom prst="ellipse">
            <a:avLst/>
          </a:prstGeom>
          <a:solidFill>
            <a:srgbClr val="D64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364224" y="603504"/>
            <a:ext cx="73152" cy="73152"/>
          </a:xfrm>
          <a:prstGeom prst="ellipse">
            <a:avLst/>
          </a:prstGeom>
          <a:solidFill>
            <a:srgbClr val="C58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364224" y="1014984"/>
            <a:ext cx="73152" cy="73152"/>
          </a:xfrm>
          <a:prstGeom prst="ellipse">
            <a:avLst/>
          </a:prstGeom>
          <a:solidFill>
            <a:srgbClr val="C58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364224" y="1426464"/>
            <a:ext cx="73152" cy="73152"/>
          </a:xfrm>
          <a:prstGeom prst="ellipse">
            <a:avLst/>
          </a:prstGeom>
          <a:solidFill>
            <a:srgbClr val="C58B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6" name="Connector 25"/>
          <p:cNvCxnSpPr/>
          <p:nvPr/>
        </p:nvCxnSpPr>
        <p:spPr>
          <a:xfrm>
            <a:off x="6400800" y="640080"/>
            <a:ext cx="0" cy="822960"/>
          </a:xfrm>
          <a:prstGeom prst="line">
            <a:avLst/>
          </a:prstGeom>
          <a:ln w="12700">
            <a:solidFill>
              <a:srgbClr val="C58B4B"/>
            </a:solidFill>
            <a:prstDash val="dash"/>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411480"/>
            <a:ext cx="5120640" cy="228600"/>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SEA X OPENAI CODEX HACKATHON | 31 OCT 2026</a:t>
            </a:r>
          </a:p>
        </p:txBody>
      </p:sp>
      <p:sp>
        <p:nvSpPr>
          <p:cNvPr id="28" name="TextBox 27"/>
          <p:cNvSpPr txBox="1"/>
          <p:nvPr/>
        </p:nvSpPr>
        <p:spPr>
          <a:xfrm>
            <a:off x="548640" y="685800"/>
            <a:ext cx="5120640" cy="822960"/>
          </a:xfrm>
          <a:prstGeom prst="rect">
            <a:avLst/>
          </a:prstGeom>
          <a:noFill/>
        </p:spPr>
        <p:txBody>
          <a:bodyPr wrap="square" anchor="t" lIns="45720" rIns="45720" tIns="27432" bIns="27432">
            <a:noAutofit/>
          </a:bodyPr>
          <a:lstStyle/>
          <a:p>
            <a:pPr algn="l">
              <a:lnSpc>
                <a:spcPct val="95000"/>
              </a:lnSpc>
              <a:spcBef>
                <a:spcPts val="0"/>
              </a:spcBef>
              <a:spcAft>
                <a:spcPts val="0"/>
              </a:spcAft>
            </a:pPr>
            <a:r>
              <a:rPr sz="4600" b="1" i="0">
                <a:solidFill>
                  <a:srgbClr val="1F2A37"/>
                </a:solidFill>
                <a:latin typeface="Georgia"/>
              </a:rPr>
              <a:t>Order Rescue</a:t>
            </a:r>
          </a:p>
        </p:txBody>
      </p:sp>
      <p:sp>
        <p:nvSpPr>
          <p:cNvPr id="29" name="Rectangle 28"/>
          <p:cNvSpPr/>
          <p:nvPr/>
        </p:nvSpPr>
        <p:spPr>
          <a:xfrm>
            <a:off x="594360" y="1536192"/>
            <a:ext cx="640080" cy="54864"/>
          </a:xfrm>
          <a:prstGeom prst="rect">
            <a:avLst/>
          </a:prstGeom>
          <a:solidFill>
            <a:srgbClr val="D64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48640" y="1664208"/>
            <a:ext cx="5120640" cy="411480"/>
          </a:xfrm>
          <a:prstGeom prst="rect">
            <a:avLst/>
          </a:prstGeom>
          <a:noFill/>
        </p:spPr>
        <p:txBody>
          <a:bodyPr wrap="square" anchor="t" lIns="45720" rIns="45720" tIns="27432" bIns="27432">
            <a:noAutofit/>
          </a:bodyPr>
          <a:lstStyle/>
          <a:p>
            <a:pPr algn="l">
              <a:spcBef>
                <a:spcPts val="0"/>
              </a:spcBef>
              <a:spcAft>
                <a:spcPts val="0"/>
              </a:spcAft>
            </a:pPr>
            <a:r>
              <a:rPr sz="2000" b="0" i="1">
                <a:solidFill>
                  <a:srgbClr val="0E5E6F"/>
                </a:solidFill>
                <a:latin typeface="Georgia"/>
              </a:rPr>
              <a:t>Adaptive Delivery Recovery Agent</a:t>
            </a:r>
          </a:p>
        </p:txBody>
      </p:sp>
      <p:sp>
        <p:nvSpPr>
          <p:cNvPr id="31" name="TextBox 30"/>
          <p:cNvSpPr txBox="1"/>
          <p:nvPr/>
        </p:nvSpPr>
        <p:spPr>
          <a:xfrm>
            <a:off x="548640" y="2194560"/>
            <a:ext cx="5120640" cy="777240"/>
          </a:xfrm>
          <a:prstGeom prst="rect">
            <a:avLst/>
          </a:prstGeom>
          <a:noFill/>
        </p:spPr>
        <p:txBody>
          <a:bodyPr wrap="square" anchor="t" lIns="45720" rIns="45720" tIns="27432" bIns="27432">
            <a:noAutofit/>
          </a:bodyPr>
          <a:lstStyle/>
          <a:p>
            <a:pPr algn="l">
              <a:spcBef>
                <a:spcPts val="0"/>
              </a:spcBef>
              <a:spcAft>
                <a:spcPts val="0"/>
              </a:spcAft>
            </a:pPr>
            <a:r>
              <a:rPr sz="1600" b="0" i="0">
                <a:solidFill>
                  <a:srgbClr val="1F2A37"/>
                </a:solidFill>
                <a:latin typeface="Calibri"/>
              </a:rPr>
              <a:t>Works out why a delivery failed, asks the buyer one good question, and hands Ops an explainable, policy-checked recommendation.</a:t>
            </a:r>
          </a:p>
        </p:txBody>
      </p:sp>
      <p:sp>
        <p:nvSpPr>
          <p:cNvPr id="32" name="TextBox 31"/>
          <p:cNvSpPr txBox="1"/>
          <p:nvPr/>
        </p:nvSpPr>
        <p:spPr>
          <a:xfrm>
            <a:off x="548640" y="3063240"/>
            <a:ext cx="5120640" cy="502920"/>
          </a:xfrm>
          <a:prstGeom prst="rect">
            <a:avLst/>
          </a:prstGeom>
          <a:noFill/>
        </p:spPr>
        <p:txBody>
          <a:bodyPr wrap="square" anchor="t" lIns="45720" rIns="45720" tIns="27432" bIns="27432">
            <a:noAutofit/>
          </a:bodyPr>
          <a:lstStyle/>
          <a:p>
            <a:pPr algn="l">
              <a:spcBef>
                <a:spcPts val="0"/>
              </a:spcBef>
              <a:spcAft>
                <a:spcPts val="0"/>
              </a:spcAft>
            </a:pPr>
            <a:r>
              <a:rPr sz="1400" b="1" i="0">
                <a:solidFill>
                  <a:srgbClr val="B83A26"/>
                </a:solidFill>
                <a:latin typeface="Calibri"/>
              </a:rPr>
              <a:t>Honest status: today a deterministic assessor stands in for the LLM agent; the LLM agent is the next step.</a:t>
            </a:r>
          </a:p>
        </p:txBody>
      </p:sp>
      <p:sp>
        <p:nvSpPr>
          <p:cNvPr id="33" name="Rounded Rectangle 32"/>
          <p:cNvSpPr/>
          <p:nvPr/>
        </p:nvSpPr>
        <p:spPr>
          <a:xfrm>
            <a:off x="594360" y="3749040"/>
            <a:ext cx="1097280" cy="347472"/>
          </a:xfrm>
          <a:prstGeom prst="roundRect">
            <a:avLst>
              <a:gd name="adj" fmla="val 30000"/>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spcBef>
                <a:spcPts val="0"/>
              </a:spcBef>
              <a:spcAft>
                <a:spcPts val="0"/>
              </a:spcAft>
            </a:pPr>
            <a:r>
              <a:rPr sz="1400" b="1" i="0">
                <a:solidFill>
                  <a:srgbClr val="1F2A37"/>
                </a:solidFill>
                <a:latin typeface="Calibri"/>
              </a:rPr>
              <a:t>Lucas</a:t>
            </a:r>
          </a:p>
        </p:txBody>
      </p:sp>
      <p:sp>
        <p:nvSpPr>
          <p:cNvPr id="34" name="Rounded Rectangle 33"/>
          <p:cNvSpPr/>
          <p:nvPr/>
        </p:nvSpPr>
        <p:spPr>
          <a:xfrm>
            <a:off x="1783080" y="3749040"/>
            <a:ext cx="1097280" cy="347472"/>
          </a:xfrm>
          <a:prstGeom prst="roundRect">
            <a:avLst>
              <a:gd name="adj" fmla="val 30000"/>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spcBef>
                <a:spcPts val="0"/>
              </a:spcBef>
              <a:spcAft>
                <a:spcPts val="0"/>
              </a:spcAft>
            </a:pPr>
            <a:r>
              <a:rPr sz="1400" b="1" i="0">
                <a:solidFill>
                  <a:srgbClr val="1F2A37"/>
                </a:solidFill>
                <a:latin typeface="Calibri"/>
              </a:rPr>
              <a:t>Phuc</a:t>
            </a:r>
          </a:p>
        </p:txBody>
      </p:sp>
      <p:sp>
        <p:nvSpPr>
          <p:cNvPr id="35" name="Rounded Rectangle 34"/>
          <p:cNvSpPr/>
          <p:nvPr/>
        </p:nvSpPr>
        <p:spPr>
          <a:xfrm>
            <a:off x="2971800" y="3749040"/>
            <a:ext cx="1097280" cy="347472"/>
          </a:xfrm>
          <a:prstGeom prst="roundRect">
            <a:avLst>
              <a:gd name="adj" fmla="val 30000"/>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spcBef>
                <a:spcPts val="0"/>
              </a:spcBef>
              <a:spcAft>
                <a:spcPts val="0"/>
              </a:spcAft>
            </a:pPr>
            <a:r>
              <a:rPr sz="1400" b="1" i="0">
                <a:solidFill>
                  <a:srgbClr val="1F2A37"/>
                </a:solidFill>
                <a:latin typeface="Calibri"/>
              </a:rPr>
              <a:t>Hai</a:t>
            </a:r>
          </a:p>
        </p:txBody>
      </p:sp>
      <p:sp>
        <p:nvSpPr>
          <p:cNvPr id="36" name="Rounded Rectangle 35"/>
          <p:cNvSpPr/>
          <p:nvPr/>
        </p:nvSpPr>
        <p:spPr>
          <a:xfrm>
            <a:off x="4160520" y="3749040"/>
            <a:ext cx="1097280" cy="347472"/>
          </a:xfrm>
          <a:prstGeom prst="roundRect">
            <a:avLst>
              <a:gd name="adj" fmla="val 30000"/>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spcBef>
                <a:spcPts val="0"/>
              </a:spcBef>
              <a:spcAft>
                <a:spcPts val="0"/>
              </a:spcAft>
            </a:pPr>
            <a:r>
              <a:rPr sz="1400" b="1" i="0">
                <a:solidFill>
                  <a:srgbClr val="1F2A37"/>
                </a:solidFill>
                <a:latin typeface="Calibri"/>
              </a:rPr>
              <a:t>Kha</a:t>
            </a:r>
          </a:p>
        </p:txBody>
      </p:sp>
      <p:sp>
        <p:nvSpPr>
          <p:cNvPr id="37" name="TextBox 36"/>
          <p:cNvSpPr txBox="1"/>
          <p:nvPr/>
        </p:nvSpPr>
        <p:spPr>
          <a:xfrm>
            <a:off x="548640" y="4206240"/>
            <a:ext cx="5120640" cy="50292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5B6270"/>
                </a:solidFill>
                <a:latin typeface="Calibri"/>
              </a:rPr>
              <a:t>Concept owner: Kha. Lucas: scope and demo flow. Phuc: AI feasibility. Hai: business rules and test cases.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1</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WHY IT MATTERS</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2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8872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496824"/>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Why this problem is worth solving</a:t>
            </a:r>
          </a:p>
        </p:txBody>
      </p:sp>
      <p:cxnSp>
        <p:nvCxnSpPr>
          <p:cNvPr id="21" name="Connector 20"/>
          <p:cNvCxnSpPr/>
          <p:nvPr/>
        </p:nvCxnSpPr>
        <p:spPr>
          <a:xfrm>
            <a:off x="1371600" y="1600200"/>
            <a:ext cx="2286000" cy="0"/>
          </a:xfrm>
          <a:prstGeom prst="line">
            <a:avLst/>
          </a:prstGeom>
          <a:ln w="28575">
            <a:solidFill>
              <a:srgbClr val="C58B4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371600" y="1645920"/>
            <a:ext cx="2286000" cy="822960"/>
          </a:xfrm>
          <a:prstGeom prst="rect">
            <a:avLst/>
          </a:prstGeom>
          <a:noFill/>
        </p:spPr>
        <p:txBody>
          <a:bodyPr wrap="square" anchor="ctr" lIns="45720" rIns="45720" tIns="27432" bIns="27432">
            <a:noAutofit/>
          </a:bodyPr>
          <a:lstStyle/>
          <a:p>
            <a:pPr algn="l">
              <a:spcBef>
                <a:spcPts val="0"/>
              </a:spcBef>
              <a:spcAft>
                <a:spcPts val="0"/>
              </a:spcAft>
            </a:pPr>
            <a:r>
              <a:rPr sz="4000" b="1" i="0">
                <a:solidFill>
                  <a:srgbClr val="0E5E6F"/>
                </a:solidFill>
                <a:latin typeface="Georgia"/>
              </a:rPr>
              <a:t>[ __ ]</a:t>
            </a:r>
          </a:p>
        </p:txBody>
      </p:sp>
      <p:sp>
        <p:nvSpPr>
          <p:cNvPr id="23" name="TextBox 22"/>
          <p:cNvSpPr txBox="1"/>
          <p:nvPr/>
        </p:nvSpPr>
        <p:spPr>
          <a:xfrm>
            <a:off x="1371600" y="2514600"/>
            <a:ext cx="2286000" cy="365760"/>
          </a:xfrm>
          <a:prstGeom prst="rect">
            <a:avLst/>
          </a:prstGeom>
          <a:noFill/>
        </p:spPr>
        <p:txBody>
          <a:bodyPr wrap="square" anchor="t" lIns="45720" rIns="45720" tIns="27432" bIns="27432">
            <a:noAutofit/>
          </a:bodyPr>
          <a:lstStyle/>
          <a:p>
            <a:pPr algn="l">
              <a:spcBef>
                <a:spcPts val="0"/>
              </a:spcBef>
              <a:spcAft>
                <a:spcPts val="0"/>
              </a:spcAft>
            </a:pPr>
            <a:r>
              <a:rPr sz="1600" b="1" i="0">
                <a:solidFill>
                  <a:srgbClr val="1F2A37"/>
                </a:solidFill>
                <a:latin typeface="Georgia"/>
              </a:rPr>
              <a:t>Shopee delivery operations</a:t>
            </a:r>
          </a:p>
        </p:txBody>
      </p:sp>
      <p:sp>
        <p:nvSpPr>
          <p:cNvPr id="24" name="TextBox 23"/>
          <p:cNvSpPr txBox="1"/>
          <p:nvPr/>
        </p:nvSpPr>
        <p:spPr>
          <a:xfrm>
            <a:off x="1371600" y="2926080"/>
            <a:ext cx="2286000" cy="82296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5B6270"/>
                </a:solidFill>
                <a:latin typeface="Calibri"/>
              </a:rPr>
              <a:t>[Hai: failed-attempt figure from research]</a:t>
            </a:r>
          </a:p>
        </p:txBody>
      </p:sp>
      <p:cxnSp>
        <p:nvCxnSpPr>
          <p:cNvPr id="25" name="Connector 24"/>
          <p:cNvCxnSpPr/>
          <p:nvPr/>
        </p:nvCxnSpPr>
        <p:spPr>
          <a:xfrm>
            <a:off x="3840480" y="1600200"/>
            <a:ext cx="2286000" cy="0"/>
          </a:xfrm>
          <a:prstGeom prst="line">
            <a:avLst/>
          </a:prstGeom>
          <a:ln w="28575">
            <a:solidFill>
              <a:srgbClr val="C58B4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840480" y="1645920"/>
            <a:ext cx="2286000" cy="822960"/>
          </a:xfrm>
          <a:prstGeom prst="rect">
            <a:avLst/>
          </a:prstGeom>
          <a:noFill/>
        </p:spPr>
        <p:txBody>
          <a:bodyPr wrap="square" anchor="ctr" lIns="45720" rIns="45720" tIns="27432" bIns="27432">
            <a:noAutofit/>
          </a:bodyPr>
          <a:lstStyle/>
          <a:p>
            <a:pPr algn="l">
              <a:spcBef>
                <a:spcPts val="0"/>
              </a:spcBef>
              <a:spcAft>
                <a:spcPts val="0"/>
              </a:spcAft>
            </a:pPr>
            <a:r>
              <a:rPr sz="4000" b="1" i="0">
                <a:solidFill>
                  <a:srgbClr val="0E5E6F"/>
                </a:solidFill>
                <a:latin typeface="Georgia"/>
              </a:rPr>
              <a:t>[ __ ]</a:t>
            </a:r>
          </a:p>
        </p:txBody>
      </p:sp>
      <p:sp>
        <p:nvSpPr>
          <p:cNvPr id="27" name="TextBox 26"/>
          <p:cNvSpPr txBox="1"/>
          <p:nvPr/>
        </p:nvSpPr>
        <p:spPr>
          <a:xfrm>
            <a:off x="3840480" y="2514600"/>
            <a:ext cx="2286000" cy="365760"/>
          </a:xfrm>
          <a:prstGeom prst="rect">
            <a:avLst/>
          </a:prstGeom>
          <a:noFill/>
        </p:spPr>
        <p:txBody>
          <a:bodyPr wrap="square" anchor="t" lIns="45720" rIns="45720" tIns="27432" bIns="27432">
            <a:noAutofit/>
          </a:bodyPr>
          <a:lstStyle/>
          <a:p>
            <a:pPr algn="l">
              <a:spcBef>
                <a:spcPts val="0"/>
              </a:spcBef>
              <a:spcAft>
                <a:spcPts val="0"/>
              </a:spcAft>
            </a:pPr>
            <a:r>
              <a:rPr sz="1600" b="1" i="0">
                <a:solidFill>
                  <a:srgbClr val="1F2A37"/>
                </a:solidFill>
                <a:latin typeface="Georgia"/>
              </a:rPr>
              <a:t>Outside case study</a:t>
            </a:r>
          </a:p>
        </p:txBody>
      </p:sp>
      <p:sp>
        <p:nvSpPr>
          <p:cNvPr id="28" name="TextBox 27"/>
          <p:cNvSpPr txBox="1"/>
          <p:nvPr/>
        </p:nvSpPr>
        <p:spPr>
          <a:xfrm>
            <a:off x="3840480" y="2926080"/>
            <a:ext cx="2286000" cy="82296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5B6270"/>
                </a:solidFill>
                <a:latin typeface="Calibri"/>
              </a:rPr>
              <a:t>[Hai: similar problem, what improved]</a:t>
            </a:r>
          </a:p>
        </p:txBody>
      </p:sp>
      <p:cxnSp>
        <p:nvCxnSpPr>
          <p:cNvPr id="29" name="Connector 28"/>
          <p:cNvCxnSpPr/>
          <p:nvPr/>
        </p:nvCxnSpPr>
        <p:spPr>
          <a:xfrm>
            <a:off x="6309360" y="1600200"/>
            <a:ext cx="2286000" cy="0"/>
          </a:xfrm>
          <a:prstGeom prst="line">
            <a:avLst/>
          </a:prstGeom>
          <a:ln w="28575">
            <a:solidFill>
              <a:srgbClr val="C58B4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309360" y="1645920"/>
            <a:ext cx="2286000" cy="822960"/>
          </a:xfrm>
          <a:prstGeom prst="rect">
            <a:avLst/>
          </a:prstGeom>
          <a:noFill/>
        </p:spPr>
        <p:txBody>
          <a:bodyPr wrap="square" anchor="ctr" lIns="45720" rIns="45720" tIns="27432" bIns="27432">
            <a:noAutofit/>
          </a:bodyPr>
          <a:lstStyle/>
          <a:p>
            <a:pPr algn="l">
              <a:spcBef>
                <a:spcPts val="0"/>
              </a:spcBef>
              <a:spcAft>
                <a:spcPts val="0"/>
              </a:spcAft>
            </a:pPr>
            <a:r>
              <a:rPr sz="4000" b="1" i="0">
                <a:solidFill>
                  <a:srgbClr val="0E5E6F"/>
                </a:solidFill>
                <a:latin typeface="Georgia"/>
              </a:rPr>
              <a:t>[ __ ]</a:t>
            </a:r>
          </a:p>
        </p:txBody>
      </p:sp>
      <p:sp>
        <p:nvSpPr>
          <p:cNvPr id="31" name="TextBox 30"/>
          <p:cNvSpPr txBox="1"/>
          <p:nvPr/>
        </p:nvSpPr>
        <p:spPr>
          <a:xfrm>
            <a:off x="6309360" y="2514600"/>
            <a:ext cx="2286000" cy="365760"/>
          </a:xfrm>
          <a:prstGeom prst="rect">
            <a:avLst/>
          </a:prstGeom>
          <a:noFill/>
        </p:spPr>
        <p:txBody>
          <a:bodyPr wrap="square" anchor="t" lIns="45720" rIns="45720" tIns="27432" bIns="27432">
            <a:noAutofit/>
          </a:bodyPr>
          <a:lstStyle/>
          <a:p>
            <a:pPr algn="l">
              <a:spcBef>
                <a:spcPts val="0"/>
              </a:spcBef>
              <a:spcAft>
                <a:spcPts val="0"/>
              </a:spcAft>
            </a:pPr>
            <a:r>
              <a:rPr sz="1600" b="1" i="0">
                <a:solidFill>
                  <a:srgbClr val="1F2A37"/>
                </a:solidFill>
                <a:latin typeface="Georgia"/>
              </a:rPr>
              <a:t>What it means for Ops</a:t>
            </a:r>
          </a:p>
        </p:txBody>
      </p:sp>
      <p:sp>
        <p:nvSpPr>
          <p:cNvPr id="32" name="TextBox 31"/>
          <p:cNvSpPr txBox="1"/>
          <p:nvPr/>
        </p:nvSpPr>
        <p:spPr>
          <a:xfrm>
            <a:off x="6309360" y="2926080"/>
            <a:ext cx="2286000" cy="82296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5B6270"/>
                </a:solidFill>
                <a:latin typeface="Calibri"/>
              </a:rPr>
              <a:t>[Hai: estimate, labelled as an estimate]</a:t>
            </a:r>
          </a:p>
        </p:txBody>
      </p:sp>
      <p:sp>
        <p:nvSpPr>
          <p:cNvPr id="33" name="Rectangle 32"/>
          <p:cNvSpPr/>
          <p:nvPr/>
        </p:nvSpPr>
        <p:spPr>
          <a:xfrm>
            <a:off x="1371600" y="3931920"/>
            <a:ext cx="7223760" cy="457200"/>
          </a:xfrm>
          <a:prstGeom prst="rect">
            <a:avLst/>
          </a:prstGeom>
          <a:noFill/>
          <a:ln w="19050">
            <a:solidFill>
              <a:srgbClr val="B83A2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spcBef>
                <a:spcPts val="0"/>
              </a:spcBef>
              <a:spcAft>
                <a:spcPts val="0"/>
              </a:spcAft>
            </a:pPr>
            <a:r>
              <a:rPr sz="1300" b="1" i="0">
                <a:solidFill>
                  <a:srgbClr val="B83A26"/>
                </a:solidFill>
                <a:latin typeface="Calibri"/>
              </a:rPr>
              <a:t>TO FILL by 9:00 on 30 Oct (Hai's research). Delete this slide if the numbers are not ready.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2</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PROBLEM</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3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2024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902208"/>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A failed delivery shows what happened, not why</a:t>
            </a:r>
          </a:p>
        </p:txBody>
      </p:sp>
      <p:cxnSp>
        <p:nvCxnSpPr>
          <p:cNvPr id="21" name="Connector 20"/>
          <p:cNvCxnSpPr/>
          <p:nvPr/>
        </p:nvCxnSpPr>
        <p:spPr>
          <a:xfrm>
            <a:off x="1371600" y="1554480"/>
            <a:ext cx="374904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371600" y="1609344"/>
            <a:ext cx="3749040" cy="603504"/>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Ops sees a status code, not the reason.</a:t>
            </a:r>
          </a:p>
        </p:txBody>
      </p:sp>
      <p:cxnSp>
        <p:nvCxnSpPr>
          <p:cNvPr id="23" name="Connector 22"/>
          <p:cNvCxnSpPr/>
          <p:nvPr/>
        </p:nvCxnSpPr>
        <p:spPr>
          <a:xfrm>
            <a:off x="1371600" y="2267712"/>
            <a:ext cx="374904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371600" y="2322576"/>
            <a:ext cx="3749040" cy="603504"/>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Courier notes are vague and unverified.</a:t>
            </a:r>
          </a:p>
        </p:txBody>
      </p:sp>
      <p:cxnSp>
        <p:nvCxnSpPr>
          <p:cNvPr id="25" name="Connector 24"/>
          <p:cNvCxnSpPr/>
          <p:nvPr/>
        </p:nvCxnSpPr>
        <p:spPr>
          <a:xfrm>
            <a:off x="1371600" y="2980944"/>
            <a:ext cx="374904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371600" y="3035808"/>
            <a:ext cx="3749040" cy="603504"/>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A wrong guess wastes a trip or loses the order.</a:t>
            </a:r>
          </a:p>
        </p:txBody>
      </p:sp>
      <p:cxnSp>
        <p:nvCxnSpPr>
          <p:cNvPr id="27" name="Connector 26"/>
          <p:cNvCxnSpPr/>
          <p:nvPr/>
        </p:nvCxnSpPr>
        <p:spPr>
          <a:xfrm>
            <a:off x="1371600" y="3694176"/>
            <a:ext cx="374904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71600" y="3749040"/>
            <a:ext cx="3749040" cy="603504"/>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No record of why a decision was made.</a:t>
            </a:r>
          </a:p>
        </p:txBody>
      </p:sp>
      <p:sp>
        <p:nvSpPr>
          <p:cNvPr id="29" name="Rectangle 28"/>
          <p:cNvSpPr/>
          <p:nvPr/>
        </p:nvSpPr>
        <p:spPr>
          <a:xfrm>
            <a:off x="5577840" y="1600200"/>
            <a:ext cx="3017520" cy="960120"/>
          </a:xfrm>
          <a:prstGeom prst="rect">
            <a:avLst/>
          </a:prstGeom>
          <a:noFill/>
          <a:ln w="28575">
            <a:solidFill>
              <a:srgbClr val="B83A2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noAutofit/>
          </a:bodyPr>
          <a:lstStyle/>
          <a:p>
            <a:pPr algn="ctr">
              <a:spcBef>
                <a:spcPts val="0"/>
              </a:spcBef>
              <a:spcAft>
                <a:spcPts val="0"/>
              </a:spcAft>
            </a:pPr>
            <a:r>
              <a:rPr sz="2200" b="0" i="1">
                <a:solidFill>
                  <a:srgbClr val="B83A26"/>
                </a:solidFill>
                <a:latin typeface="Georgia"/>
              </a:rPr>
              <a:t>recipient unavailable</a:t>
            </a:r>
          </a:p>
        </p:txBody>
      </p:sp>
      <p:sp>
        <p:nvSpPr>
          <p:cNvPr id="30" name="TextBox 29"/>
          <p:cNvSpPr txBox="1"/>
          <p:nvPr/>
        </p:nvSpPr>
        <p:spPr>
          <a:xfrm>
            <a:off x="5577840" y="2697480"/>
            <a:ext cx="3017520" cy="868680"/>
          </a:xfrm>
          <a:prstGeom prst="rect">
            <a:avLst/>
          </a:prstGeom>
          <a:noFill/>
        </p:spPr>
        <p:txBody>
          <a:bodyPr wrap="square" anchor="t" lIns="45720" rIns="45720" tIns="27432" bIns="27432">
            <a:noAutofit/>
          </a:bodyPr>
          <a:lstStyle/>
          <a:p>
            <a:pPr algn="l">
              <a:spcBef>
                <a:spcPts val="0"/>
              </a:spcBef>
              <a:spcAft>
                <a:spcPts val="0"/>
              </a:spcAft>
            </a:pPr>
            <a:r>
              <a:rPr sz="1600" b="0" i="0">
                <a:solidFill>
                  <a:srgbClr val="1F2A37"/>
                </a:solidFill>
                <a:latin typeface="Calibri"/>
              </a:rPr>
              <a:t>Could mean: at work, wrong landmark, phone off, or a disrupted route.</a:t>
            </a:r>
          </a:p>
        </p:txBody>
      </p:sp>
      <p:sp>
        <p:nvSpPr>
          <p:cNvPr id="31" name="Rectangle 30"/>
          <p:cNvSpPr/>
          <p:nvPr/>
        </p:nvSpPr>
        <p:spPr>
          <a:xfrm>
            <a:off x="5623560"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751576"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879592"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07608"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35624"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263640"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91656"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19672"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647688"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775704"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903720"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031736"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7159752"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287768"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15784"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543800"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671816"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799832"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927848"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055864"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183880" y="3840480"/>
            <a:ext cx="41148"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311896" y="3840480"/>
            <a:ext cx="73152" cy="457200"/>
          </a:xfrm>
          <a:prstGeom prst="rect">
            <a:avLst/>
          </a:prstGeom>
          <a:solidFill>
            <a:srgbClr val="1F2A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3</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SOLUTION</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4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5176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496824"/>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Order Rescue in four steps</a:t>
            </a:r>
          </a:p>
        </p:txBody>
      </p:sp>
      <p:sp>
        <p:nvSpPr>
          <p:cNvPr id="21" name="Rectangle 20"/>
          <p:cNvSpPr/>
          <p:nvPr/>
        </p:nvSpPr>
        <p:spPr>
          <a:xfrm>
            <a:off x="1371600" y="1417320"/>
            <a:ext cx="1691640" cy="192024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l">
              <a:spcBef>
                <a:spcPts val="0"/>
              </a:spcBef>
              <a:spcAft>
                <a:spcPts val="200"/>
              </a:spcAft>
            </a:pPr>
            <a:r>
              <a:rPr sz="2800" b="1" i="0">
                <a:solidFill>
                  <a:srgbClr val="0E5E6F"/>
                </a:solidFill>
                <a:latin typeface="Georgia"/>
              </a:rPr>
              <a:t>1</a:t>
            </a:r>
          </a:p>
          <a:p>
            <a:pPr algn="l">
              <a:spcBef>
                <a:spcPts val="0"/>
              </a:spcBef>
              <a:spcAft>
                <a:spcPts val="400"/>
              </a:spcAft>
            </a:pPr>
            <a:r>
              <a:rPr sz="1600" b="1" i="0">
                <a:solidFill>
                  <a:srgbClr val="1F2A37"/>
                </a:solidFill>
                <a:latin typeface="Georgia"/>
              </a:rPr>
              <a:t>Read the case</a:t>
            </a:r>
          </a:p>
          <a:p>
            <a:pPr algn="l">
              <a:spcBef>
                <a:spcPts val="0"/>
              </a:spcBef>
              <a:spcAft>
                <a:spcPts val="0"/>
              </a:spcAft>
            </a:pPr>
            <a:r>
              <a:rPr sz="1400" b="0" i="0">
                <a:solidFill>
                  <a:srgbClr val="1F2A37"/>
                </a:solidFill>
                <a:latin typeface="Calibri"/>
              </a:rPr>
              <a:t>Status, courier note, order history</a:t>
            </a:r>
          </a:p>
        </p:txBody>
      </p:sp>
      <p:sp>
        <p:nvSpPr>
          <p:cNvPr id="22" name="Rectangle 21"/>
          <p:cNvSpPr/>
          <p:nvPr/>
        </p:nvSpPr>
        <p:spPr>
          <a:xfrm>
            <a:off x="1371600" y="1417320"/>
            <a:ext cx="1691640" cy="64008"/>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18688" y="1417320"/>
            <a:ext cx="1691640" cy="192024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l">
              <a:spcBef>
                <a:spcPts val="0"/>
              </a:spcBef>
              <a:spcAft>
                <a:spcPts val="200"/>
              </a:spcAft>
            </a:pPr>
            <a:r>
              <a:rPr sz="2800" b="1" i="0">
                <a:solidFill>
                  <a:srgbClr val="0E5E6F"/>
                </a:solidFill>
                <a:latin typeface="Georgia"/>
              </a:rPr>
              <a:t>2</a:t>
            </a:r>
          </a:p>
          <a:p>
            <a:pPr algn="l">
              <a:spcBef>
                <a:spcPts val="0"/>
              </a:spcBef>
              <a:spcAft>
                <a:spcPts val="400"/>
              </a:spcAft>
            </a:pPr>
            <a:r>
              <a:rPr sz="1600" b="1" i="0">
                <a:solidFill>
                  <a:srgbClr val="1F2A37"/>
                </a:solidFill>
                <a:latin typeface="Georgia"/>
              </a:rPr>
              <a:t>Ask once</a:t>
            </a:r>
          </a:p>
          <a:p>
            <a:pPr algn="l">
              <a:spcBef>
                <a:spcPts val="0"/>
              </a:spcBef>
              <a:spcAft>
                <a:spcPts val="0"/>
              </a:spcAft>
            </a:pPr>
            <a:r>
              <a:rPr sz="1400" b="0" i="0">
                <a:solidFill>
                  <a:srgbClr val="1F2A37"/>
                </a:solidFill>
                <a:latin typeface="Calibri"/>
              </a:rPr>
              <a:t>One question to the buyer, only if something is missing</a:t>
            </a:r>
          </a:p>
        </p:txBody>
      </p:sp>
      <p:sp>
        <p:nvSpPr>
          <p:cNvPr id="24" name="Rectangle 23"/>
          <p:cNvSpPr/>
          <p:nvPr/>
        </p:nvSpPr>
        <p:spPr>
          <a:xfrm>
            <a:off x="3218688" y="1417320"/>
            <a:ext cx="1691640" cy="64008"/>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65776" y="1417320"/>
            <a:ext cx="1691640" cy="192024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l">
              <a:spcBef>
                <a:spcPts val="0"/>
              </a:spcBef>
              <a:spcAft>
                <a:spcPts val="200"/>
              </a:spcAft>
            </a:pPr>
            <a:r>
              <a:rPr sz="2800" b="1" i="0">
                <a:solidFill>
                  <a:srgbClr val="0E5E6F"/>
                </a:solidFill>
                <a:latin typeface="Georgia"/>
              </a:rPr>
              <a:t>3</a:t>
            </a:r>
          </a:p>
          <a:p>
            <a:pPr algn="l">
              <a:spcBef>
                <a:spcPts val="0"/>
              </a:spcBef>
              <a:spcAft>
                <a:spcPts val="400"/>
              </a:spcAft>
            </a:pPr>
            <a:r>
              <a:rPr sz="1600" b="1" i="0">
                <a:solidFill>
                  <a:srgbClr val="1F2A37"/>
                </a:solidFill>
                <a:latin typeface="Georgia"/>
              </a:rPr>
              <a:t>Check the rules</a:t>
            </a:r>
          </a:p>
          <a:p>
            <a:pPr algn="l">
              <a:spcBef>
                <a:spcPts val="0"/>
              </a:spcBef>
              <a:spcAft>
                <a:spcPts val="0"/>
              </a:spcAft>
            </a:pPr>
            <a:r>
              <a:rPr sz="1400" b="0" i="0">
                <a:solidFill>
                  <a:srgbClr val="1F2A37"/>
                </a:solidFill>
                <a:latin typeface="Calibri"/>
              </a:rPr>
              <a:t>A policy check decides what is allowed</a:t>
            </a:r>
          </a:p>
        </p:txBody>
      </p:sp>
      <p:sp>
        <p:nvSpPr>
          <p:cNvPr id="26" name="Rectangle 25"/>
          <p:cNvSpPr/>
          <p:nvPr/>
        </p:nvSpPr>
        <p:spPr>
          <a:xfrm>
            <a:off x="5065776" y="1417320"/>
            <a:ext cx="1691640" cy="64008"/>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912864" y="1417320"/>
            <a:ext cx="1691640" cy="192024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28016" rIns="128016" tIns="128016" bIns="128016">
            <a:noAutofit/>
          </a:bodyPr>
          <a:lstStyle/>
          <a:p>
            <a:pPr algn="l">
              <a:spcBef>
                <a:spcPts val="0"/>
              </a:spcBef>
              <a:spcAft>
                <a:spcPts val="200"/>
              </a:spcAft>
            </a:pPr>
            <a:r>
              <a:rPr sz="2800" b="1" i="0">
                <a:solidFill>
                  <a:srgbClr val="0E5E6F"/>
                </a:solidFill>
                <a:latin typeface="Georgia"/>
              </a:rPr>
              <a:t>4</a:t>
            </a:r>
          </a:p>
          <a:p>
            <a:pPr algn="l">
              <a:spcBef>
                <a:spcPts val="0"/>
              </a:spcBef>
              <a:spcAft>
                <a:spcPts val="400"/>
              </a:spcAft>
            </a:pPr>
            <a:r>
              <a:rPr sz="1600" b="1" i="0">
                <a:solidFill>
                  <a:srgbClr val="1F2A37"/>
                </a:solidFill>
                <a:latin typeface="Georgia"/>
              </a:rPr>
              <a:t>Recommend</a:t>
            </a:r>
          </a:p>
          <a:p>
            <a:pPr algn="l">
              <a:spcBef>
                <a:spcPts val="0"/>
              </a:spcBef>
              <a:spcAft>
                <a:spcPts val="0"/>
              </a:spcAft>
            </a:pPr>
            <a:r>
              <a:rPr sz="1400" b="0" i="0">
                <a:solidFill>
                  <a:srgbClr val="1F2A37"/>
                </a:solidFill>
                <a:latin typeface="Calibri"/>
              </a:rPr>
              <a:t>Ops sees the suggestion and the evidence, then decides</a:t>
            </a:r>
          </a:p>
        </p:txBody>
      </p:sp>
      <p:sp>
        <p:nvSpPr>
          <p:cNvPr id="28" name="Rectangle 27"/>
          <p:cNvSpPr/>
          <p:nvPr/>
        </p:nvSpPr>
        <p:spPr>
          <a:xfrm>
            <a:off x="6912864" y="1417320"/>
            <a:ext cx="1691640" cy="64008"/>
          </a:xfrm>
          <a:prstGeom prst="rect">
            <a:avLst/>
          </a:prstGeom>
          <a:solidFill>
            <a:srgbClr val="D64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a:stCxn id="21" idx="3"/>
            <a:endCxn id="23" idx="1"/>
          </p:cNvCxnSpPr>
          <p:nvPr/>
        </p:nvCxnSpPr>
        <p:spPr>
          <a:xfrm flipV="1">
            <a:off x="3063240" y="2377440"/>
            <a:ext cx="155448"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a:stCxn id="23" idx="3"/>
            <a:endCxn id="25" idx="1"/>
          </p:cNvCxnSpPr>
          <p:nvPr/>
        </p:nvCxnSpPr>
        <p:spPr>
          <a:xfrm flipV="1">
            <a:off x="4910328" y="2377440"/>
            <a:ext cx="155448"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25" idx="3"/>
            <a:endCxn id="27" idx="1"/>
          </p:cNvCxnSpPr>
          <p:nvPr/>
        </p:nvCxnSpPr>
        <p:spPr>
          <a:xfrm flipV="1">
            <a:off x="6757416" y="2377440"/>
            <a:ext cx="155448"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371600" y="3566160"/>
            <a:ext cx="7223760" cy="950976"/>
          </a:xfrm>
          <a:prstGeom prst="rect">
            <a:avLst/>
          </a:prstGeom>
          <a:noFill/>
        </p:spPr>
        <p:txBody>
          <a:bodyPr wrap="square" anchor="t" lIns="45720" rIns="45720" tIns="27432" bIns="27432">
            <a:noAutofit/>
          </a:bodyPr>
          <a:lstStyle/>
          <a:p>
            <a:pPr algn="l">
              <a:spcBef>
                <a:spcPts val="0"/>
              </a:spcBef>
              <a:spcAft>
                <a:spcPts val="400"/>
              </a:spcAft>
            </a:pPr>
            <a:r>
              <a:rPr sz="1800" b="1" i="0">
                <a:solidFill>
                  <a:srgbClr val="0E5E6F"/>
                </a:solidFill>
                <a:latin typeface="Georgia"/>
              </a:rPr>
              <a:t>The AI recommends. It never acts on its own.</a:t>
            </a:r>
          </a:p>
          <a:p>
            <a:pPr algn="l">
              <a:spcBef>
                <a:spcPts val="0"/>
              </a:spcBef>
              <a:spcAft>
                <a:spcPts val="0"/>
              </a:spcAft>
            </a:pPr>
            <a:r>
              <a:rPr sz="1400" b="1" i="0">
                <a:solidFill>
                  <a:srgbClr val="B83A26"/>
                </a:solidFill>
                <a:latin typeface="Calibri"/>
              </a:rPr>
              <a:t>Today a rule-based assessor plays the AI role; the LLM agent is the next step.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4</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TRUST</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5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38328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902208"/>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The AI suggests. The rules decide.</a:t>
            </a:r>
          </a:p>
        </p:txBody>
      </p:sp>
      <p:sp>
        <p:nvSpPr>
          <p:cNvPr id="21" name="Rectangle 20"/>
          <p:cNvSpPr/>
          <p:nvPr/>
        </p:nvSpPr>
        <p:spPr>
          <a:xfrm>
            <a:off x="1371600" y="1554480"/>
            <a:ext cx="2743200" cy="214884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noAutofit/>
          </a:bodyPr>
          <a:lstStyle/>
          <a:p>
            <a:pPr algn="l">
              <a:spcBef>
                <a:spcPts val="0"/>
              </a:spcBef>
              <a:spcAft>
                <a:spcPts val="600"/>
              </a:spcAft>
            </a:pPr>
            <a:r>
              <a:rPr sz="1800" b="1" i="0">
                <a:solidFill>
                  <a:srgbClr val="0E5E6F"/>
                </a:solidFill>
                <a:latin typeface="Georgia"/>
              </a:rPr>
              <a:t>AI suggests</a:t>
            </a:r>
          </a:p>
          <a:p>
            <a:pPr algn="l">
              <a:spcBef>
                <a:spcPts val="0"/>
              </a:spcBef>
              <a:spcAft>
                <a:spcPts val="300"/>
              </a:spcAft>
            </a:pPr>
            <a:r>
              <a:rPr sz="1400" b="0" i="0">
                <a:solidFill>
                  <a:srgbClr val="1F2A37"/>
                </a:solidFill>
                <a:latin typeface="Calibri"/>
              </a:rPr>
              <a:t>•  Why delivery likely failed</a:t>
            </a:r>
          </a:p>
          <a:p>
            <a:pPr algn="l">
              <a:spcBef>
                <a:spcPts val="0"/>
              </a:spcBef>
              <a:spcAft>
                <a:spcPts val="300"/>
              </a:spcAft>
            </a:pPr>
            <a:r>
              <a:rPr sz="1400" b="0" i="0">
                <a:solidFill>
                  <a:srgbClr val="1F2A37"/>
                </a:solidFill>
                <a:latin typeface="Calibri"/>
              </a:rPr>
              <a:t>•  What is still unknown</a:t>
            </a:r>
          </a:p>
          <a:p>
            <a:pPr algn="l">
              <a:spcBef>
                <a:spcPts val="0"/>
              </a:spcBef>
              <a:spcAft>
                <a:spcPts val="300"/>
              </a:spcAft>
            </a:pPr>
            <a:r>
              <a:rPr sz="1400" b="0" i="0">
                <a:solidFill>
                  <a:srgbClr val="1F2A37"/>
                </a:solidFill>
                <a:latin typeface="Calibri"/>
              </a:rPr>
              <a:t>•  One question for the buyer</a:t>
            </a:r>
          </a:p>
          <a:p>
            <a:pPr algn="l">
              <a:spcBef>
                <a:spcPts val="0"/>
              </a:spcBef>
              <a:spcAft>
                <a:spcPts val="300"/>
              </a:spcAft>
            </a:pPr>
            <a:r>
              <a:rPr sz="1400" b="0" i="0">
                <a:solidFill>
                  <a:srgbClr val="1F2A37"/>
                </a:solidFill>
                <a:latin typeface="Calibri"/>
              </a:rPr>
              <a:t>•  What to do next</a:t>
            </a:r>
          </a:p>
        </p:txBody>
      </p:sp>
      <p:sp>
        <p:nvSpPr>
          <p:cNvPr id="22" name="Rectangle 21"/>
          <p:cNvSpPr/>
          <p:nvPr/>
        </p:nvSpPr>
        <p:spPr>
          <a:xfrm>
            <a:off x="4526280" y="1371600"/>
            <a:ext cx="146304" cy="2514600"/>
          </a:xfrm>
          <a:prstGeom prst="rect">
            <a:avLst/>
          </a:prstGeom>
          <a:solidFill>
            <a:srgbClr val="D649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212080" y="1554480"/>
            <a:ext cx="3383280" cy="2148840"/>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noAutofit/>
          </a:bodyPr>
          <a:lstStyle/>
          <a:p>
            <a:pPr algn="l">
              <a:spcBef>
                <a:spcPts val="0"/>
              </a:spcBef>
              <a:spcAft>
                <a:spcPts val="600"/>
              </a:spcAft>
            </a:pPr>
            <a:r>
              <a:rPr sz="1800" b="1" i="0">
                <a:solidFill>
                  <a:srgbClr val="FAF6EF"/>
                </a:solidFill>
                <a:latin typeface="Georgia"/>
              </a:rPr>
              <a:t>Rules decide</a:t>
            </a:r>
          </a:p>
          <a:p>
            <a:pPr algn="l">
              <a:spcBef>
                <a:spcPts val="0"/>
              </a:spcBef>
              <a:spcAft>
                <a:spcPts val="300"/>
              </a:spcAft>
            </a:pPr>
            <a:r>
              <a:rPr sz="1400" b="0" i="0">
                <a:solidFill>
                  <a:srgbClr val="FAF6EF"/>
                </a:solidFill>
                <a:latin typeface="Calibri"/>
              </a:rPr>
              <a:t>•  Is the order still eligible?</a:t>
            </a:r>
          </a:p>
          <a:p>
            <a:pPr algn="l">
              <a:spcBef>
                <a:spcPts val="0"/>
              </a:spcBef>
              <a:spcAft>
                <a:spcPts val="300"/>
              </a:spcAft>
            </a:pPr>
            <a:r>
              <a:rPr sz="1400" b="0" i="0">
                <a:solidFill>
                  <a:srgbClr val="FAF6EF"/>
                </a:solidFill>
                <a:latin typeface="Calibri"/>
              </a:rPr>
              <a:t>•  Silence is not a refusal</a:t>
            </a:r>
          </a:p>
          <a:p>
            <a:pPr algn="l">
              <a:spcBef>
                <a:spcPts val="0"/>
              </a:spcBef>
              <a:spcAft>
                <a:spcPts val="300"/>
              </a:spcAft>
            </a:pPr>
            <a:r>
              <a:rPr sz="1400" b="0" i="0">
                <a:solidFill>
                  <a:srgbClr val="FAF6EF"/>
                </a:solidFill>
                <a:latin typeface="Calibri"/>
              </a:rPr>
              <a:t>•  A courier note alone is not proof</a:t>
            </a:r>
          </a:p>
          <a:p>
            <a:pPr algn="l">
              <a:spcBef>
                <a:spcPts val="0"/>
              </a:spcBef>
              <a:spcAft>
                <a:spcPts val="300"/>
              </a:spcAft>
            </a:pPr>
            <a:r>
              <a:rPr sz="1400" b="0" i="0">
                <a:solidFill>
                  <a:srgbClr val="FAF6EF"/>
                </a:solidFill>
                <a:latin typeface="Calibri"/>
              </a:rPr>
              <a:t>•  No address change or refund by the AI</a:t>
            </a:r>
          </a:p>
        </p:txBody>
      </p:sp>
      <p:cxnSp>
        <p:nvCxnSpPr>
          <p:cNvPr id="24" name="Connector 23"/>
          <p:cNvCxnSpPr>
            <a:endCxn id="22" idx="1"/>
          </p:cNvCxnSpPr>
          <p:nvPr/>
        </p:nvCxnSpPr>
        <p:spPr>
          <a:xfrm>
            <a:off x="4114800" y="2628900"/>
            <a:ext cx="411480"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a:endCxn id="23" idx="1"/>
          </p:cNvCxnSpPr>
          <p:nvPr/>
        </p:nvCxnSpPr>
        <p:spPr>
          <a:xfrm>
            <a:off x="4672584" y="2628900"/>
            <a:ext cx="539496"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371600" y="3913632"/>
            <a:ext cx="7223760" cy="502920"/>
          </a:xfrm>
          <a:prstGeom prst="rect">
            <a:avLst/>
          </a:prstGeom>
          <a:noFill/>
        </p:spPr>
        <p:txBody>
          <a:bodyPr wrap="square" anchor="t" lIns="45720" rIns="45720" tIns="27432" bIns="27432">
            <a:noAutofit/>
          </a:bodyPr>
          <a:lstStyle/>
          <a:p>
            <a:pPr algn="l">
              <a:spcBef>
                <a:spcPts val="0"/>
              </a:spcBef>
              <a:spcAft>
                <a:spcPts val="0"/>
              </a:spcAft>
            </a:pPr>
            <a:r>
              <a:rPr sz="2000" b="0" i="1">
                <a:solidFill>
                  <a:srgbClr val="B83A26"/>
                </a:solidFill>
                <a:latin typeface="Georgia"/>
              </a:rPr>
              <a:t>High confidence never overrides the rules.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5</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USE OF CODEX</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6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1480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496824"/>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How we used Codex</a:t>
            </a:r>
          </a:p>
        </p:txBody>
      </p:sp>
      <p:cxnSp>
        <p:nvCxnSpPr>
          <p:cNvPr id="21" name="Connector 20"/>
          <p:cNvCxnSpPr/>
          <p:nvPr/>
        </p:nvCxnSpPr>
        <p:spPr>
          <a:xfrm>
            <a:off x="1371600" y="1097280"/>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371600" y="1133856"/>
            <a:ext cx="1737360" cy="585216"/>
          </a:xfrm>
          <a:prstGeom prst="rect">
            <a:avLst/>
          </a:prstGeom>
          <a:noFill/>
        </p:spPr>
        <p:txBody>
          <a:bodyPr wrap="square" anchor="ctr" lIns="45720" rIns="45720" tIns="27432" bIns="27432">
            <a:noAutofit/>
          </a:bodyPr>
          <a:lstStyle/>
          <a:p>
            <a:pPr algn="l">
              <a:spcBef>
                <a:spcPts val="0"/>
              </a:spcBef>
              <a:spcAft>
                <a:spcPts val="0"/>
              </a:spcAft>
            </a:pPr>
            <a:r>
              <a:rPr sz="2000" b="1" i="0">
                <a:solidFill>
                  <a:srgbClr val="0E5E6F"/>
                </a:solidFill>
                <a:latin typeface="Georgia"/>
              </a:rPr>
              <a:t>App</a:t>
            </a:r>
          </a:p>
        </p:txBody>
      </p:sp>
      <p:sp>
        <p:nvSpPr>
          <p:cNvPr id="23" name="TextBox 22"/>
          <p:cNvSpPr txBox="1"/>
          <p:nvPr/>
        </p:nvSpPr>
        <p:spPr>
          <a:xfrm>
            <a:off x="3200400" y="1133856"/>
            <a:ext cx="5394960" cy="585216"/>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Local demo app: React, Vite, TypeScript. Assessor, policy gate and audit trail.</a:t>
            </a:r>
          </a:p>
        </p:txBody>
      </p:sp>
      <p:cxnSp>
        <p:nvCxnSpPr>
          <p:cNvPr id="24" name="Connector 23"/>
          <p:cNvCxnSpPr/>
          <p:nvPr/>
        </p:nvCxnSpPr>
        <p:spPr>
          <a:xfrm>
            <a:off x="1371600" y="1755648"/>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71600" y="1792224"/>
            <a:ext cx="1737360" cy="585216"/>
          </a:xfrm>
          <a:prstGeom prst="rect">
            <a:avLst/>
          </a:prstGeom>
          <a:noFill/>
        </p:spPr>
        <p:txBody>
          <a:bodyPr wrap="square" anchor="ctr" lIns="45720" rIns="45720" tIns="27432" bIns="27432">
            <a:noAutofit/>
          </a:bodyPr>
          <a:lstStyle/>
          <a:p>
            <a:pPr algn="l">
              <a:spcBef>
                <a:spcPts val="0"/>
              </a:spcBef>
              <a:spcAft>
                <a:spcPts val="0"/>
              </a:spcAft>
            </a:pPr>
            <a:r>
              <a:rPr sz="2000" b="1" i="0">
                <a:solidFill>
                  <a:srgbClr val="0E5E6F"/>
                </a:solidFill>
                <a:latin typeface="Georgia"/>
              </a:rPr>
              <a:t>Tests</a:t>
            </a:r>
          </a:p>
        </p:txBody>
      </p:sp>
      <p:sp>
        <p:nvSpPr>
          <p:cNvPr id="26" name="TextBox 25"/>
          <p:cNvSpPr txBox="1"/>
          <p:nvPr/>
        </p:nvSpPr>
        <p:spPr>
          <a:xfrm>
            <a:off x="3200400" y="1792224"/>
            <a:ext cx="5394960" cy="585216"/>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Unit tests (Vitest) and a browser test of the demo flow (Playwright).</a:t>
            </a:r>
          </a:p>
        </p:txBody>
      </p:sp>
      <p:cxnSp>
        <p:nvCxnSpPr>
          <p:cNvPr id="27" name="Connector 26"/>
          <p:cNvCxnSpPr/>
          <p:nvPr/>
        </p:nvCxnSpPr>
        <p:spPr>
          <a:xfrm>
            <a:off x="1371600" y="2414016"/>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71600" y="2450592"/>
            <a:ext cx="1737360" cy="585216"/>
          </a:xfrm>
          <a:prstGeom prst="rect">
            <a:avLst/>
          </a:prstGeom>
          <a:noFill/>
        </p:spPr>
        <p:txBody>
          <a:bodyPr wrap="square" anchor="ctr" lIns="45720" rIns="45720" tIns="27432" bIns="27432">
            <a:noAutofit/>
          </a:bodyPr>
          <a:lstStyle/>
          <a:p>
            <a:pPr algn="l">
              <a:spcBef>
                <a:spcPts val="0"/>
              </a:spcBef>
              <a:spcAft>
                <a:spcPts val="0"/>
              </a:spcAft>
            </a:pPr>
            <a:r>
              <a:rPr sz="2000" b="1" i="0">
                <a:solidFill>
                  <a:srgbClr val="0E5E6F"/>
                </a:solidFill>
                <a:latin typeface="Georgia"/>
              </a:rPr>
              <a:t>Data and rules</a:t>
            </a:r>
          </a:p>
        </p:txBody>
      </p:sp>
      <p:sp>
        <p:nvSpPr>
          <p:cNvPr id="29" name="TextBox 28"/>
          <p:cNvSpPr txBox="1"/>
          <p:nvPr/>
        </p:nvSpPr>
        <p:spPr>
          <a:xfrm>
            <a:off x="3200400" y="2450592"/>
            <a:ext cx="5394960" cy="585216"/>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Data model, business rules and 30 synthetic test cases.</a:t>
            </a:r>
          </a:p>
        </p:txBody>
      </p:sp>
      <p:cxnSp>
        <p:nvCxnSpPr>
          <p:cNvPr id="30" name="Connector 29"/>
          <p:cNvCxnSpPr/>
          <p:nvPr/>
        </p:nvCxnSpPr>
        <p:spPr>
          <a:xfrm>
            <a:off x="1371600" y="3072384"/>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371600" y="3108960"/>
            <a:ext cx="1737360" cy="585216"/>
          </a:xfrm>
          <a:prstGeom prst="rect">
            <a:avLst/>
          </a:prstGeom>
          <a:noFill/>
        </p:spPr>
        <p:txBody>
          <a:bodyPr wrap="square" anchor="ctr" lIns="45720" rIns="45720" tIns="27432" bIns="27432">
            <a:noAutofit/>
          </a:bodyPr>
          <a:lstStyle/>
          <a:p>
            <a:pPr algn="l">
              <a:spcBef>
                <a:spcPts val="0"/>
              </a:spcBef>
              <a:spcAft>
                <a:spcPts val="0"/>
              </a:spcAft>
            </a:pPr>
            <a:r>
              <a:rPr sz="2000" b="1" i="0">
                <a:solidFill>
                  <a:srgbClr val="0E5E6F"/>
                </a:solidFill>
                <a:latin typeface="Georgia"/>
              </a:rPr>
              <a:t>Process</a:t>
            </a:r>
          </a:p>
        </p:txBody>
      </p:sp>
      <p:sp>
        <p:nvSpPr>
          <p:cNvPr id="32" name="TextBox 31"/>
          <p:cNvSpPr txBox="1"/>
          <p:nvPr/>
        </p:nvSpPr>
        <p:spPr>
          <a:xfrm>
            <a:off x="3200400" y="3108960"/>
            <a:ext cx="5394960" cy="585216"/>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Rules and test cases first, then build, then test against them.</a:t>
            </a:r>
          </a:p>
        </p:txBody>
      </p:sp>
      <p:cxnSp>
        <p:nvCxnSpPr>
          <p:cNvPr id="33" name="Connector 32"/>
          <p:cNvCxnSpPr/>
          <p:nvPr/>
        </p:nvCxnSpPr>
        <p:spPr>
          <a:xfrm>
            <a:off x="1371600" y="3730752"/>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371600" y="3767328"/>
            <a:ext cx="1737360" cy="585216"/>
          </a:xfrm>
          <a:prstGeom prst="rect">
            <a:avLst/>
          </a:prstGeom>
          <a:noFill/>
        </p:spPr>
        <p:txBody>
          <a:bodyPr wrap="square" anchor="ctr" lIns="45720" rIns="45720" tIns="27432" bIns="27432">
            <a:noAutofit/>
          </a:bodyPr>
          <a:lstStyle/>
          <a:p>
            <a:pPr algn="l">
              <a:spcBef>
                <a:spcPts val="0"/>
              </a:spcBef>
              <a:spcAft>
                <a:spcPts val="0"/>
              </a:spcAft>
            </a:pPr>
            <a:r>
              <a:rPr sz="2000" b="1" i="0">
                <a:solidFill>
                  <a:srgbClr val="B83A26"/>
                </a:solidFill>
                <a:latin typeface="Georgia"/>
              </a:rPr>
              <a:t>Next</a:t>
            </a:r>
          </a:p>
        </p:txBody>
      </p:sp>
      <p:sp>
        <p:nvSpPr>
          <p:cNvPr id="35" name="TextBox 34"/>
          <p:cNvSpPr txBox="1"/>
          <p:nvPr/>
        </p:nvSpPr>
        <p:spPr>
          <a:xfrm>
            <a:off x="3200400" y="3767328"/>
            <a:ext cx="5394960" cy="585216"/>
          </a:xfrm>
          <a:prstGeom prst="rect">
            <a:avLst/>
          </a:prstGeom>
          <a:noFill/>
        </p:spPr>
        <p:txBody>
          <a:bodyPr wrap="square" anchor="ctr" lIns="45720" rIns="45720" tIns="27432" bIns="27432">
            <a:noAutofit/>
          </a:bodyPr>
          <a:lstStyle/>
          <a:p>
            <a:pPr algn="l">
              <a:spcBef>
                <a:spcPts val="0"/>
              </a:spcBef>
              <a:spcAft>
                <a:spcPts val="0"/>
              </a:spcAft>
            </a:pPr>
            <a:r>
              <a:rPr sz="1600" b="0" i="0">
                <a:solidFill>
                  <a:srgbClr val="1F2A37"/>
                </a:solidFill>
                <a:latin typeface="Calibri"/>
              </a:rPr>
              <a:t>Connect the LLM agent. Today a rule-based assessor stands 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6</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DECLARATION</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7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4632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902208"/>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What was built before, and what on the day</a:t>
            </a:r>
          </a:p>
        </p:txBody>
      </p:sp>
      <p:sp>
        <p:nvSpPr>
          <p:cNvPr id="21" name="Rectangle 20"/>
          <p:cNvSpPr/>
          <p:nvPr/>
        </p:nvSpPr>
        <p:spPr>
          <a:xfrm>
            <a:off x="1371600" y="1417320"/>
            <a:ext cx="3474720" cy="256032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noAutofit/>
          </a:bodyPr>
          <a:lstStyle/>
          <a:p>
            <a:pPr algn="l">
              <a:spcBef>
                <a:spcPts val="0"/>
              </a:spcBef>
              <a:spcAft>
                <a:spcPts val="600"/>
              </a:spcAft>
            </a:pPr>
            <a:r>
              <a:rPr sz="1800" b="1" i="0">
                <a:solidFill>
                  <a:srgbClr val="1F2A37"/>
                </a:solidFill>
                <a:latin typeface="Georgia"/>
              </a:rPr>
              <a:t>Before 31 Oct (declared)</a:t>
            </a:r>
          </a:p>
          <a:p>
            <a:pPr algn="l">
              <a:spcBef>
                <a:spcPts val="0"/>
              </a:spcBef>
              <a:spcAft>
                <a:spcPts val="300"/>
              </a:spcAft>
            </a:pPr>
            <a:r>
              <a:rPr sz="1400" b="0" i="0">
                <a:solidFill>
                  <a:srgbClr val="1F2A37"/>
                </a:solidFill>
                <a:latin typeface="Calibri"/>
              </a:rPr>
              <a:t>•  Data model v2.2</a:t>
            </a:r>
          </a:p>
          <a:p>
            <a:pPr algn="l">
              <a:spcBef>
                <a:spcPts val="0"/>
              </a:spcBef>
              <a:spcAft>
                <a:spcPts val="300"/>
              </a:spcAft>
            </a:pPr>
            <a:r>
              <a:rPr sz="1400" b="0" i="0">
                <a:solidFill>
                  <a:srgbClr val="1F2A37"/>
                </a:solidFill>
                <a:latin typeface="Calibri"/>
              </a:rPr>
              <a:t>•  Business rules</a:t>
            </a:r>
          </a:p>
          <a:p>
            <a:pPr algn="l">
              <a:spcBef>
                <a:spcPts val="0"/>
              </a:spcBef>
              <a:spcAft>
                <a:spcPts val="300"/>
              </a:spcAft>
            </a:pPr>
            <a:r>
              <a:rPr sz="1400" b="0" i="0">
                <a:solidFill>
                  <a:srgbClr val="1F2A37"/>
                </a:solidFill>
                <a:latin typeface="Calibri"/>
              </a:rPr>
              <a:t>•  30 synthetic test cases</a:t>
            </a:r>
          </a:p>
          <a:p>
            <a:pPr algn="l">
              <a:spcBef>
                <a:spcPts val="0"/>
              </a:spcBef>
              <a:spcAft>
                <a:spcPts val="300"/>
              </a:spcAft>
            </a:pPr>
            <a:r>
              <a:rPr sz="1400" b="0" i="0">
                <a:solidFill>
                  <a:srgbClr val="1F2A37"/>
                </a:solidFill>
                <a:latin typeface="Calibri"/>
              </a:rPr>
              <a:t>•  First local prototype</a:t>
            </a:r>
          </a:p>
        </p:txBody>
      </p:sp>
      <p:sp>
        <p:nvSpPr>
          <p:cNvPr id="22" name="Rectangle 21"/>
          <p:cNvSpPr/>
          <p:nvPr/>
        </p:nvSpPr>
        <p:spPr>
          <a:xfrm>
            <a:off x="1371600" y="1417320"/>
            <a:ext cx="3474720" cy="64008"/>
          </a:xfrm>
          <a:prstGeom prst="rect">
            <a:avLst/>
          </a:prstGeom>
          <a:solidFill>
            <a:srgbClr val="A97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120640" y="1417320"/>
            <a:ext cx="3474720" cy="2560320"/>
          </a:xfrm>
          <a:prstGeom prst="rect">
            <a:avLst/>
          </a:prstGeom>
          <a:noFill/>
          <a:ln w="25400">
            <a:solidFill>
              <a:srgbClr val="0E5E6F"/>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37160" bIns="137160">
            <a:noAutofit/>
          </a:bodyPr>
          <a:lstStyle/>
          <a:p>
            <a:pPr algn="l">
              <a:spcBef>
                <a:spcPts val="0"/>
              </a:spcBef>
              <a:spcAft>
                <a:spcPts val="600"/>
              </a:spcAft>
            </a:pPr>
            <a:r>
              <a:rPr sz="1800" b="1" i="0">
                <a:solidFill>
                  <a:srgbClr val="0E5E6F"/>
                </a:solidFill>
                <a:latin typeface="Georgia"/>
              </a:rPr>
              <a:t>On 31 Oct (at Shopee)</a:t>
            </a:r>
          </a:p>
          <a:p>
            <a:pPr algn="l">
              <a:spcBef>
                <a:spcPts val="0"/>
              </a:spcBef>
              <a:spcAft>
                <a:spcPts val="0"/>
              </a:spcAft>
            </a:pPr>
            <a:r>
              <a:rPr sz="1400" b="1" i="0">
                <a:solidFill>
                  <a:srgbClr val="B83A26"/>
                </a:solidFill>
                <a:latin typeface="Calibri"/>
              </a:rPr>
              <a:t>[Fill at 5 PM: what was added or changed on the day]</a:t>
            </a:r>
          </a:p>
        </p:txBody>
      </p:sp>
      <p:sp>
        <p:nvSpPr>
          <p:cNvPr id="24" name="TextBox 23"/>
          <p:cNvSpPr txBox="1"/>
          <p:nvPr/>
        </p:nvSpPr>
        <p:spPr>
          <a:xfrm>
            <a:off x="1371600" y="4114800"/>
            <a:ext cx="7223760" cy="36576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5B6270"/>
                </a:solidFill>
                <a:latin typeface="Calibri"/>
              </a:rPr>
              <a:t>Must match the declaration form submitted at 5 PM.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7</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DEMO</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8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57784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496824"/>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Live demo: 2 minutes</a:t>
            </a:r>
          </a:p>
        </p:txBody>
      </p:sp>
      <p:sp>
        <p:nvSpPr>
          <p:cNvPr id="21" name="Oval 20"/>
          <p:cNvSpPr/>
          <p:nvPr/>
        </p:nvSpPr>
        <p:spPr>
          <a:xfrm>
            <a:off x="1371600" y="1371600"/>
            <a:ext cx="457200" cy="457200"/>
          </a:xfrm>
          <a:prstGeom prst="ellipse">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1800" b="1" i="0">
                <a:solidFill>
                  <a:srgbClr val="FAF6EF"/>
                </a:solidFill>
                <a:latin typeface="Georgia"/>
              </a:rPr>
              <a:t>1</a:t>
            </a:r>
          </a:p>
        </p:txBody>
      </p:sp>
      <p:sp>
        <p:nvSpPr>
          <p:cNvPr id="22" name="TextBox 21"/>
          <p:cNvSpPr txBox="1"/>
          <p:nvPr/>
        </p:nvSpPr>
        <p:spPr>
          <a:xfrm>
            <a:off x="1371600" y="1920240"/>
            <a:ext cx="2286000" cy="365760"/>
          </a:xfrm>
          <a:prstGeom prst="rect">
            <a:avLst/>
          </a:prstGeom>
          <a:noFill/>
        </p:spPr>
        <p:txBody>
          <a:bodyPr wrap="square" anchor="t" lIns="45720" rIns="45720" tIns="27432" bIns="27432">
            <a:noAutofit/>
          </a:bodyPr>
          <a:lstStyle/>
          <a:p>
            <a:pPr algn="l">
              <a:spcBef>
                <a:spcPts val="0"/>
              </a:spcBef>
              <a:spcAft>
                <a:spcPts val="0"/>
              </a:spcAft>
            </a:pPr>
            <a:r>
              <a:rPr sz="1600" b="1" i="0">
                <a:solidFill>
                  <a:srgbClr val="1F2A37"/>
                </a:solidFill>
                <a:latin typeface="Georgia"/>
              </a:rPr>
              <a:t>Pick a failed delivery</a:t>
            </a:r>
          </a:p>
        </p:txBody>
      </p:sp>
      <p:sp>
        <p:nvSpPr>
          <p:cNvPr id="23" name="TextBox 22"/>
          <p:cNvSpPr txBox="1"/>
          <p:nvPr/>
        </p:nvSpPr>
        <p:spPr>
          <a:xfrm>
            <a:off x="1371600" y="2331720"/>
            <a:ext cx="2286000" cy="64008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1F2A37"/>
                </a:solidFill>
                <a:latin typeface="Calibri"/>
              </a:rPr>
              <a:t>See the evidence and the assessment</a:t>
            </a:r>
          </a:p>
        </p:txBody>
      </p:sp>
      <p:sp>
        <p:nvSpPr>
          <p:cNvPr id="24" name="Oval 23"/>
          <p:cNvSpPr/>
          <p:nvPr/>
        </p:nvSpPr>
        <p:spPr>
          <a:xfrm>
            <a:off x="3840480" y="1371600"/>
            <a:ext cx="457200" cy="457200"/>
          </a:xfrm>
          <a:prstGeom prst="ellipse">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1800" b="1" i="0">
                <a:solidFill>
                  <a:srgbClr val="FAF6EF"/>
                </a:solidFill>
                <a:latin typeface="Georgia"/>
              </a:rPr>
              <a:t>2</a:t>
            </a:r>
          </a:p>
        </p:txBody>
      </p:sp>
      <p:sp>
        <p:nvSpPr>
          <p:cNvPr id="25" name="TextBox 24"/>
          <p:cNvSpPr txBox="1"/>
          <p:nvPr/>
        </p:nvSpPr>
        <p:spPr>
          <a:xfrm>
            <a:off x="3840480" y="1920240"/>
            <a:ext cx="2286000" cy="365760"/>
          </a:xfrm>
          <a:prstGeom prst="rect">
            <a:avLst/>
          </a:prstGeom>
          <a:noFill/>
        </p:spPr>
        <p:txBody>
          <a:bodyPr wrap="square" anchor="t" lIns="45720" rIns="45720" tIns="27432" bIns="27432">
            <a:noAutofit/>
          </a:bodyPr>
          <a:lstStyle/>
          <a:p>
            <a:pPr algn="l">
              <a:spcBef>
                <a:spcPts val="0"/>
              </a:spcBef>
              <a:spcAft>
                <a:spcPts val="0"/>
              </a:spcAft>
            </a:pPr>
            <a:r>
              <a:rPr sz="1600" b="1" i="0">
                <a:solidFill>
                  <a:srgbClr val="1F2A37"/>
                </a:solidFill>
                <a:latin typeface="Georgia"/>
              </a:rPr>
              <a:t>Apply the buyer reply</a:t>
            </a:r>
          </a:p>
        </p:txBody>
      </p:sp>
      <p:sp>
        <p:nvSpPr>
          <p:cNvPr id="26" name="TextBox 25"/>
          <p:cNvSpPr txBox="1"/>
          <p:nvPr/>
        </p:nvSpPr>
        <p:spPr>
          <a:xfrm>
            <a:off x="3840480" y="2331720"/>
            <a:ext cx="2286000" cy="64008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1F2A37"/>
                </a:solidFill>
                <a:latin typeface="Calibri"/>
              </a:rPr>
              <a:t>Watch the AI reassess</a:t>
            </a:r>
          </a:p>
        </p:txBody>
      </p:sp>
      <p:sp>
        <p:nvSpPr>
          <p:cNvPr id="27" name="Oval 26"/>
          <p:cNvSpPr/>
          <p:nvPr/>
        </p:nvSpPr>
        <p:spPr>
          <a:xfrm>
            <a:off x="6309360" y="1371600"/>
            <a:ext cx="457200" cy="457200"/>
          </a:xfrm>
          <a:prstGeom prst="ellipse">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noAutofit/>
          </a:bodyPr>
          <a:lstStyle/>
          <a:p>
            <a:pPr algn="ctr">
              <a:spcBef>
                <a:spcPts val="0"/>
              </a:spcBef>
              <a:spcAft>
                <a:spcPts val="0"/>
              </a:spcAft>
            </a:pPr>
            <a:r>
              <a:rPr sz="1800" b="1" i="0">
                <a:solidFill>
                  <a:srgbClr val="FAF6EF"/>
                </a:solidFill>
                <a:latin typeface="Georgia"/>
              </a:rPr>
              <a:t>3</a:t>
            </a:r>
          </a:p>
        </p:txBody>
      </p:sp>
      <p:sp>
        <p:nvSpPr>
          <p:cNvPr id="28" name="TextBox 27"/>
          <p:cNvSpPr txBox="1"/>
          <p:nvPr/>
        </p:nvSpPr>
        <p:spPr>
          <a:xfrm>
            <a:off x="6309360" y="1920240"/>
            <a:ext cx="2286000" cy="365760"/>
          </a:xfrm>
          <a:prstGeom prst="rect">
            <a:avLst/>
          </a:prstGeom>
          <a:noFill/>
        </p:spPr>
        <p:txBody>
          <a:bodyPr wrap="square" anchor="t" lIns="45720" rIns="45720" tIns="27432" bIns="27432">
            <a:noAutofit/>
          </a:bodyPr>
          <a:lstStyle/>
          <a:p>
            <a:pPr algn="l">
              <a:spcBef>
                <a:spcPts val="0"/>
              </a:spcBef>
              <a:spcAft>
                <a:spcPts val="0"/>
              </a:spcAft>
            </a:pPr>
            <a:r>
              <a:rPr sz="1600" b="1" i="0">
                <a:solidFill>
                  <a:srgbClr val="1F2A37"/>
                </a:solidFill>
                <a:latin typeface="Georgia"/>
              </a:rPr>
              <a:t>Try an address change</a:t>
            </a:r>
          </a:p>
        </p:txBody>
      </p:sp>
      <p:sp>
        <p:nvSpPr>
          <p:cNvPr id="29" name="TextBox 28"/>
          <p:cNvSpPr txBox="1"/>
          <p:nvPr/>
        </p:nvSpPr>
        <p:spPr>
          <a:xfrm>
            <a:off x="6309360" y="2331720"/>
            <a:ext cx="2286000" cy="640080"/>
          </a:xfrm>
          <a:prstGeom prst="rect">
            <a:avLst/>
          </a:prstGeom>
          <a:noFill/>
        </p:spPr>
        <p:txBody>
          <a:bodyPr wrap="square" anchor="t" lIns="45720" rIns="45720" tIns="27432" bIns="27432">
            <a:noAutofit/>
          </a:bodyPr>
          <a:lstStyle/>
          <a:p>
            <a:pPr algn="l">
              <a:spcBef>
                <a:spcPts val="0"/>
              </a:spcBef>
              <a:spcAft>
                <a:spcPts val="0"/>
              </a:spcAft>
            </a:pPr>
            <a:r>
              <a:rPr sz="1400" b="0" i="0">
                <a:solidFill>
                  <a:srgbClr val="1F2A37"/>
                </a:solidFill>
                <a:latin typeface="Calibri"/>
              </a:rPr>
              <a:t>The rules block it</a:t>
            </a:r>
          </a:p>
        </p:txBody>
      </p:sp>
      <p:cxnSp>
        <p:nvCxnSpPr>
          <p:cNvPr id="30" name="Connector 29"/>
          <p:cNvCxnSpPr/>
          <p:nvPr/>
        </p:nvCxnSpPr>
        <p:spPr>
          <a:xfrm>
            <a:off x="1828800" y="1600200"/>
            <a:ext cx="2011680" cy="0"/>
          </a:xfrm>
          <a:prstGeom prst="line">
            <a:avLst/>
          </a:prstGeom>
          <a:ln w="22225">
            <a:solidFill>
              <a:srgbClr val="0E5E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4297680" y="1600200"/>
            <a:ext cx="2011680" cy="0"/>
          </a:xfrm>
          <a:prstGeom prst="line">
            <a:avLst/>
          </a:prstGeom>
          <a:ln w="22225">
            <a:solidFill>
              <a:srgbClr val="0E5E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1371600" y="3200400"/>
            <a:ext cx="2286000" cy="1097280"/>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noAutofit/>
          </a:bodyPr>
          <a:lstStyle/>
          <a:p>
            <a:pPr algn="l">
              <a:spcBef>
                <a:spcPts val="0"/>
              </a:spcBef>
              <a:spcAft>
                <a:spcPts val="400"/>
              </a:spcAft>
            </a:pPr>
            <a:r>
              <a:rPr sz="1400" b="1" i="0">
                <a:solidFill>
                  <a:srgbClr val="FAF6EF"/>
                </a:solidFill>
                <a:latin typeface="Calibri"/>
              </a:rPr>
              <a:t>REAL</a:t>
            </a:r>
          </a:p>
          <a:p>
            <a:pPr algn="l">
              <a:spcBef>
                <a:spcPts val="0"/>
              </a:spcBef>
              <a:spcAft>
                <a:spcPts val="0"/>
              </a:spcAft>
            </a:pPr>
            <a:r>
              <a:rPr sz="1400" b="0" i="0">
                <a:solidFill>
                  <a:srgbClr val="FAF6EF"/>
                </a:solidFill>
                <a:latin typeface="Calibri"/>
              </a:rPr>
              <a:t>App, rules, tests</a:t>
            </a:r>
          </a:p>
        </p:txBody>
      </p:sp>
      <p:sp>
        <p:nvSpPr>
          <p:cNvPr id="33" name="Rectangle 32"/>
          <p:cNvSpPr/>
          <p:nvPr/>
        </p:nvSpPr>
        <p:spPr>
          <a:xfrm>
            <a:off x="3840480" y="3200400"/>
            <a:ext cx="2286000" cy="1097280"/>
          </a:xfrm>
          <a:prstGeom prst="rect">
            <a:avLst/>
          </a:prstGeom>
          <a:solidFill>
            <a:srgbClr val="E9DFCF"/>
          </a:solidFill>
          <a:ln w="25400">
            <a:solidFill>
              <a:srgbClr val="A9733A"/>
            </a:solidFill>
            <a:prstDash val="dash"/>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noAutofit/>
          </a:bodyPr>
          <a:lstStyle/>
          <a:p>
            <a:pPr algn="l">
              <a:spcBef>
                <a:spcPts val="0"/>
              </a:spcBef>
              <a:spcAft>
                <a:spcPts val="400"/>
              </a:spcAft>
            </a:pPr>
            <a:r>
              <a:rPr sz="1400" b="1" i="0">
                <a:solidFill>
                  <a:srgbClr val="1F2A37"/>
                </a:solidFill>
                <a:latin typeface="Calibri"/>
              </a:rPr>
              <a:t>SIMULATED</a:t>
            </a:r>
          </a:p>
          <a:p>
            <a:pPr algn="l">
              <a:spcBef>
                <a:spcPts val="0"/>
              </a:spcBef>
              <a:spcAft>
                <a:spcPts val="0"/>
              </a:spcAft>
            </a:pPr>
            <a:r>
              <a:rPr sz="1400" b="0" i="0">
                <a:solidFill>
                  <a:srgbClr val="1F2A37"/>
                </a:solidFill>
                <a:latin typeface="Calibri"/>
              </a:rPr>
              <a:t>Orders, notes, buyer replies</a:t>
            </a:r>
          </a:p>
        </p:txBody>
      </p:sp>
      <p:sp>
        <p:nvSpPr>
          <p:cNvPr id="34" name="Rectangle 33"/>
          <p:cNvSpPr/>
          <p:nvPr/>
        </p:nvSpPr>
        <p:spPr>
          <a:xfrm>
            <a:off x="6309360" y="3200400"/>
            <a:ext cx="2286000" cy="1097280"/>
          </a:xfrm>
          <a:prstGeom prst="rect">
            <a:avLst/>
          </a:prstGeom>
          <a:noFill/>
          <a:ln w="25400">
            <a:solidFill>
              <a:srgbClr val="5B6270"/>
            </a:solidFill>
            <a:prstDash val="sysDash"/>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28016" bIns="128016">
            <a:noAutofit/>
          </a:bodyPr>
          <a:lstStyle/>
          <a:p>
            <a:pPr algn="l">
              <a:spcBef>
                <a:spcPts val="0"/>
              </a:spcBef>
              <a:spcAft>
                <a:spcPts val="400"/>
              </a:spcAft>
            </a:pPr>
            <a:r>
              <a:rPr sz="1400" b="1" i="0">
                <a:solidFill>
                  <a:srgbClr val="1F2A37"/>
                </a:solidFill>
                <a:latin typeface="Calibri"/>
              </a:rPr>
              <a:t>NOT CONNECTED</a:t>
            </a:r>
          </a:p>
          <a:p>
            <a:pPr algn="l">
              <a:spcBef>
                <a:spcPts val="0"/>
              </a:spcBef>
              <a:spcAft>
                <a:spcPts val="0"/>
              </a:spcAft>
            </a:pPr>
            <a:r>
              <a:rPr sz="1400" b="0" i="0">
                <a:solidFill>
                  <a:srgbClr val="1F2A37"/>
                </a:solidFill>
                <a:latin typeface="Calibri"/>
              </a:rPr>
              <a:t>Live Shopee/SPX data, messaging, dispatch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8</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IMPACT AND NEXT</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9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09360" y="4553712"/>
            <a:ext cx="182880" cy="182880"/>
          </a:xfrm>
          <a:prstGeom prst="ellipse">
            <a:avLst/>
          </a:prstGeom>
          <a:solidFill>
            <a:srgbClr val="0E5E6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902208"/>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What it could change, and what comes next</a:t>
            </a:r>
          </a:p>
        </p:txBody>
      </p:sp>
      <p:cxnSp>
        <p:nvCxnSpPr>
          <p:cNvPr id="21" name="Connector 20"/>
          <p:cNvCxnSpPr/>
          <p:nvPr/>
        </p:nvCxnSpPr>
        <p:spPr>
          <a:xfrm>
            <a:off x="1371600" y="1371600"/>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371600" y="1399032"/>
            <a:ext cx="1188720" cy="676656"/>
          </a:xfrm>
          <a:prstGeom prst="rect">
            <a:avLst/>
          </a:prstGeom>
          <a:noFill/>
        </p:spPr>
        <p:txBody>
          <a:bodyPr wrap="square" anchor="ctr" lIns="45720" rIns="45720" tIns="27432" bIns="27432">
            <a:noAutofit/>
          </a:bodyPr>
          <a:lstStyle/>
          <a:p>
            <a:pPr algn="l">
              <a:spcBef>
                <a:spcPts val="0"/>
              </a:spcBef>
              <a:spcAft>
                <a:spcPts val="0"/>
              </a:spcAft>
            </a:pPr>
            <a:r>
              <a:rPr sz="2800" b="1" i="0">
                <a:solidFill>
                  <a:srgbClr val="0E5E6F"/>
                </a:solidFill>
                <a:latin typeface="Georgia"/>
              </a:rPr>
              <a:t>9/30</a:t>
            </a:r>
          </a:p>
        </p:txBody>
      </p:sp>
      <p:sp>
        <p:nvSpPr>
          <p:cNvPr id="23" name="TextBox 22"/>
          <p:cNvSpPr txBox="1"/>
          <p:nvPr/>
        </p:nvSpPr>
        <p:spPr>
          <a:xfrm>
            <a:off x="2606040" y="1399032"/>
            <a:ext cx="5989320" cy="676656"/>
          </a:xfrm>
          <a:prstGeom prst="rect">
            <a:avLst/>
          </a:prstGeom>
          <a:noFill/>
        </p:spPr>
        <p:txBody>
          <a:bodyPr wrap="square" anchor="ctr" lIns="45720" rIns="45720" tIns="27432" bIns="27432">
            <a:noAutofit/>
          </a:bodyPr>
          <a:lstStyle/>
          <a:p>
            <a:pPr algn="l">
              <a:spcBef>
                <a:spcPts val="0"/>
              </a:spcBef>
              <a:spcAft>
                <a:spcPts val="0"/>
              </a:spcAft>
            </a:pPr>
            <a:r>
              <a:rPr sz="1600" b="1" i="0">
                <a:solidFill>
                  <a:srgbClr val="1F2A37"/>
                </a:solidFill>
                <a:latin typeface="Georgia"/>
              </a:rPr>
              <a:t>Fewer wasted re-attempts</a:t>
            </a:r>
          </a:p>
          <a:p>
            <a:pPr algn="l">
              <a:spcBef>
                <a:spcPts val="0"/>
              </a:spcBef>
              <a:spcAft>
                <a:spcPts val="0"/>
              </a:spcAft>
            </a:pPr>
            <a:r>
              <a:rPr sz="1400" b="0" i="0">
                <a:solidFill>
                  <a:srgbClr val="1F2A37"/>
                </a:solidFill>
                <a:latin typeface="Calibri"/>
              </a:rPr>
              <a:t>9 of 30 test cases change after the buyer reply</a:t>
            </a:r>
          </a:p>
        </p:txBody>
      </p:sp>
      <p:cxnSp>
        <p:nvCxnSpPr>
          <p:cNvPr id="24" name="Connector 23"/>
          <p:cNvCxnSpPr/>
          <p:nvPr/>
        </p:nvCxnSpPr>
        <p:spPr>
          <a:xfrm>
            <a:off x="1371600" y="2103120"/>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71600" y="2130552"/>
            <a:ext cx="1188720" cy="676656"/>
          </a:xfrm>
          <a:prstGeom prst="rect">
            <a:avLst/>
          </a:prstGeom>
          <a:noFill/>
        </p:spPr>
        <p:txBody>
          <a:bodyPr wrap="square" anchor="ctr" lIns="45720" rIns="45720" tIns="27432" bIns="27432">
            <a:noAutofit/>
          </a:bodyPr>
          <a:lstStyle/>
          <a:p>
            <a:pPr algn="l">
              <a:spcBef>
                <a:spcPts val="0"/>
              </a:spcBef>
              <a:spcAft>
                <a:spcPts val="0"/>
              </a:spcAft>
            </a:pPr>
            <a:r>
              <a:rPr sz="2800" b="1" i="0">
                <a:solidFill>
                  <a:srgbClr val="0E5E6F"/>
                </a:solidFill>
                <a:latin typeface="Georgia"/>
              </a:rPr>
              <a:t>30</a:t>
            </a:r>
          </a:p>
        </p:txBody>
      </p:sp>
      <p:sp>
        <p:nvSpPr>
          <p:cNvPr id="26" name="TextBox 25"/>
          <p:cNvSpPr txBox="1"/>
          <p:nvPr/>
        </p:nvSpPr>
        <p:spPr>
          <a:xfrm>
            <a:off x="2606040" y="2130552"/>
            <a:ext cx="5989320" cy="676656"/>
          </a:xfrm>
          <a:prstGeom prst="rect">
            <a:avLst/>
          </a:prstGeom>
          <a:noFill/>
        </p:spPr>
        <p:txBody>
          <a:bodyPr wrap="square" anchor="ctr" lIns="45720" rIns="45720" tIns="27432" bIns="27432">
            <a:noAutofit/>
          </a:bodyPr>
          <a:lstStyle/>
          <a:p>
            <a:pPr algn="l">
              <a:spcBef>
                <a:spcPts val="0"/>
              </a:spcBef>
              <a:spcAft>
                <a:spcPts val="0"/>
              </a:spcAft>
            </a:pPr>
            <a:r>
              <a:rPr sz="1600" b="1" i="0">
                <a:solidFill>
                  <a:srgbClr val="1F2A37"/>
                </a:solidFill>
                <a:latin typeface="Georgia"/>
              </a:rPr>
              <a:t>Faster triage</a:t>
            </a:r>
          </a:p>
          <a:p>
            <a:pPr algn="l">
              <a:spcBef>
                <a:spcPts val="0"/>
              </a:spcBef>
              <a:spcAft>
                <a:spcPts val="0"/>
              </a:spcAft>
            </a:pPr>
            <a:r>
              <a:rPr sz="1400" b="0" i="0">
                <a:solidFill>
                  <a:srgbClr val="1F2A37"/>
                </a:solidFill>
                <a:latin typeface="Calibri"/>
              </a:rPr>
              <a:t>Evidence ready for every case</a:t>
            </a:r>
          </a:p>
        </p:txBody>
      </p:sp>
      <p:cxnSp>
        <p:nvCxnSpPr>
          <p:cNvPr id="27" name="Connector 26"/>
          <p:cNvCxnSpPr/>
          <p:nvPr/>
        </p:nvCxnSpPr>
        <p:spPr>
          <a:xfrm>
            <a:off x="1371600" y="2834640"/>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71600" y="2862072"/>
            <a:ext cx="1188720" cy="676656"/>
          </a:xfrm>
          <a:prstGeom prst="rect">
            <a:avLst/>
          </a:prstGeom>
          <a:noFill/>
        </p:spPr>
        <p:txBody>
          <a:bodyPr wrap="square" anchor="ctr" lIns="45720" rIns="45720" tIns="27432" bIns="27432">
            <a:noAutofit/>
          </a:bodyPr>
          <a:lstStyle/>
          <a:p>
            <a:pPr algn="l">
              <a:spcBef>
                <a:spcPts val="0"/>
              </a:spcBef>
              <a:spcAft>
                <a:spcPts val="0"/>
              </a:spcAft>
            </a:pPr>
            <a:r>
              <a:rPr sz="2800" b="1" i="0">
                <a:solidFill>
                  <a:srgbClr val="0E5E6F"/>
                </a:solidFill>
                <a:latin typeface="Georgia"/>
              </a:rPr>
              <a:t>6</a:t>
            </a:r>
          </a:p>
        </p:txBody>
      </p:sp>
      <p:sp>
        <p:nvSpPr>
          <p:cNvPr id="29" name="TextBox 28"/>
          <p:cNvSpPr txBox="1"/>
          <p:nvPr/>
        </p:nvSpPr>
        <p:spPr>
          <a:xfrm>
            <a:off x="2606040" y="2862072"/>
            <a:ext cx="5989320" cy="676656"/>
          </a:xfrm>
          <a:prstGeom prst="rect">
            <a:avLst/>
          </a:prstGeom>
          <a:noFill/>
        </p:spPr>
        <p:txBody>
          <a:bodyPr wrap="square" anchor="ctr" lIns="45720" rIns="45720" tIns="27432" bIns="27432">
            <a:noAutofit/>
          </a:bodyPr>
          <a:lstStyle/>
          <a:p>
            <a:pPr algn="l">
              <a:spcBef>
                <a:spcPts val="0"/>
              </a:spcBef>
              <a:spcAft>
                <a:spcPts val="0"/>
              </a:spcAft>
            </a:pPr>
            <a:r>
              <a:rPr sz="1600" b="1" i="0">
                <a:solidFill>
                  <a:srgbClr val="1F2A37"/>
                </a:solidFill>
                <a:latin typeface="Georgia"/>
              </a:rPr>
              <a:t>Clear reasons</a:t>
            </a:r>
          </a:p>
          <a:p>
            <a:pPr algn="l">
              <a:spcBef>
                <a:spcPts val="0"/>
              </a:spcBef>
              <a:spcAft>
                <a:spcPts val="0"/>
              </a:spcAft>
            </a:pPr>
            <a:r>
              <a:rPr sz="1400" b="0" i="0">
                <a:solidFill>
                  <a:srgbClr val="1F2A37"/>
                </a:solidFill>
                <a:latin typeface="Calibri"/>
              </a:rPr>
              <a:t>Six traceable fields per decision</a:t>
            </a:r>
          </a:p>
        </p:txBody>
      </p:sp>
      <p:sp>
        <p:nvSpPr>
          <p:cNvPr id="30" name="TextBox 29"/>
          <p:cNvSpPr txBox="1"/>
          <p:nvPr/>
        </p:nvSpPr>
        <p:spPr>
          <a:xfrm>
            <a:off x="1371600" y="3611880"/>
            <a:ext cx="7223760" cy="310896"/>
          </a:xfrm>
          <a:prstGeom prst="rect">
            <a:avLst/>
          </a:prstGeom>
          <a:noFill/>
        </p:spPr>
        <p:txBody>
          <a:bodyPr wrap="square" anchor="t" lIns="45720" rIns="45720" tIns="27432" bIns="27432">
            <a:noAutofit/>
          </a:bodyPr>
          <a:lstStyle/>
          <a:p>
            <a:pPr algn="l">
              <a:spcBef>
                <a:spcPts val="0"/>
              </a:spcBef>
              <a:spcAft>
                <a:spcPts val="0"/>
              </a:spcAft>
            </a:pPr>
            <a:r>
              <a:rPr sz="1400" b="1" i="0">
                <a:solidFill>
                  <a:srgbClr val="1F2A37"/>
                </a:solidFill>
                <a:latin typeface="Calibri"/>
              </a:rPr>
              <a:t>Next: connect the LLM agent, run all 30 cases through an evaluator, pilot with permission.</a:t>
            </a:r>
          </a:p>
        </p:txBody>
      </p:sp>
      <p:sp>
        <p:nvSpPr>
          <p:cNvPr id="31" name="TextBox 30"/>
          <p:cNvSpPr txBox="1"/>
          <p:nvPr/>
        </p:nvSpPr>
        <p:spPr>
          <a:xfrm>
            <a:off x="1371600" y="4023360"/>
            <a:ext cx="7223760" cy="457200"/>
          </a:xfrm>
          <a:prstGeom prst="rect">
            <a:avLst/>
          </a:prstGeom>
          <a:noFill/>
        </p:spPr>
        <p:txBody>
          <a:bodyPr wrap="square" anchor="t" lIns="45720" rIns="45720" tIns="27432" bIns="27432">
            <a:noAutofit/>
          </a:bodyPr>
          <a:lstStyle/>
          <a:p>
            <a:pPr algn="l">
              <a:spcBef>
                <a:spcPts val="0"/>
              </a:spcBef>
              <a:spcAft>
                <a:spcPts val="0"/>
              </a:spcAft>
            </a:pPr>
            <a:r>
              <a:rPr sz="1300" b="0" i="0">
                <a:solidFill>
                  <a:srgbClr val="5B6270"/>
                </a:solidFill>
                <a:latin typeface="Calibri"/>
              </a:rPr>
              <a:t>Case counts come from the 30 synthetic test cases. These are hypotheses, not measured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B</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BACKUP | DETAILED FLOW</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10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40880" y="4553712"/>
            <a:ext cx="182880" cy="182880"/>
          </a:xfrm>
          <a:prstGeom prst="ellipse">
            <a:avLst/>
          </a:prstGeom>
          <a:solidFill>
            <a:srgbClr val="0E5E6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902208"/>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Detailed flow: two assessments, one question</a:t>
            </a:r>
          </a:p>
        </p:txBody>
      </p:sp>
      <p:sp>
        <p:nvSpPr>
          <p:cNvPr id="21" name="Rectangle 20"/>
          <p:cNvSpPr/>
          <p:nvPr/>
        </p:nvSpPr>
        <p:spPr>
          <a:xfrm>
            <a:off x="1280160" y="1005840"/>
            <a:ext cx="7315200" cy="1024128"/>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280160" y="1005840"/>
            <a:ext cx="256032" cy="1024128"/>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noAutofit/>
          </a:bodyPr>
          <a:lstStyle/>
          <a:p>
            <a:pPr algn="ctr">
              <a:spcBef>
                <a:spcPts val="0"/>
              </a:spcBef>
              <a:spcAft>
                <a:spcPts val="0"/>
              </a:spcAft>
            </a:pPr>
            <a:r>
              <a:rPr sz="1100" b="1" i="0">
                <a:solidFill>
                  <a:srgbClr val="FAF6EF"/>
                </a:solidFill>
                <a:latin typeface="Calibri"/>
              </a:rPr>
              <a:t>ASSESS</a:t>
            </a:r>
          </a:p>
        </p:txBody>
      </p:sp>
      <p:sp>
        <p:nvSpPr>
          <p:cNvPr id="23" name="Rectangle 22"/>
          <p:cNvSpPr/>
          <p:nvPr/>
        </p:nvSpPr>
        <p:spPr>
          <a:xfrm>
            <a:off x="1280160" y="2240280"/>
            <a:ext cx="7315200" cy="1252728"/>
          </a:xfrm>
          <a:prstGeom prst="rect">
            <a:avLst/>
          </a:prstGeom>
          <a:solidFill>
            <a:srgbClr val="F1E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80160" y="2240280"/>
            <a:ext cx="256032" cy="1252728"/>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vert="vert270">
            <a:noAutofit/>
          </a:bodyPr>
          <a:lstStyle/>
          <a:p>
            <a:pPr algn="ctr">
              <a:spcBef>
                <a:spcPts val="0"/>
              </a:spcBef>
              <a:spcAft>
                <a:spcPts val="0"/>
              </a:spcAft>
            </a:pPr>
            <a:r>
              <a:rPr sz="1100" b="1" i="0">
                <a:solidFill>
                  <a:srgbClr val="FAF6EF"/>
                </a:solidFill>
                <a:latin typeface="Calibri"/>
              </a:rPr>
              <a:t>DECIDE</a:t>
            </a:r>
          </a:p>
        </p:txBody>
      </p:sp>
      <p:sp>
        <p:nvSpPr>
          <p:cNvPr id="25" name="Rectangle 24"/>
          <p:cNvSpPr/>
          <p:nvPr/>
        </p:nvSpPr>
        <p:spPr>
          <a:xfrm>
            <a:off x="1645920" y="1042416"/>
            <a:ext cx="1207008" cy="950976"/>
          </a:xfrm>
          <a:prstGeom prst="rect">
            <a:avLst/>
          </a:prstGeom>
          <a:solidFill>
            <a:srgbClr val="FFFDF8"/>
          </a:solidFill>
          <a:ln w="12700">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Raw data</a:t>
            </a:r>
          </a:p>
          <a:p>
            <a:pPr algn="ctr">
              <a:spcBef>
                <a:spcPts val="0"/>
              </a:spcBef>
              <a:spcAft>
                <a:spcPts val="0"/>
              </a:spcAft>
            </a:pPr>
            <a:r>
              <a:rPr sz="1400" b="0" i="0">
                <a:solidFill>
                  <a:srgbClr val="1F2A37"/>
                </a:solidFill>
                <a:latin typeface="Calibri"/>
              </a:rPr>
              <a:t>status, notes, lifecycle</a:t>
            </a:r>
          </a:p>
        </p:txBody>
      </p:sp>
      <p:sp>
        <p:nvSpPr>
          <p:cNvPr id="26" name="Rectangle 25"/>
          <p:cNvSpPr/>
          <p:nvPr/>
        </p:nvSpPr>
        <p:spPr>
          <a:xfrm>
            <a:off x="3072384" y="1042416"/>
            <a:ext cx="1207008" cy="950976"/>
          </a:xfrm>
          <a:prstGeom prst="rect">
            <a:avLst/>
          </a:prstGeom>
          <a:solidFill>
            <a:srgbClr val="FFFDF8"/>
          </a:solidFill>
          <a:ln w="12700">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Pre-check</a:t>
            </a:r>
          </a:p>
          <a:p>
            <a:pPr algn="ctr">
              <a:spcBef>
                <a:spcPts val="0"/>
              </a:spcBef>
              <a:spcAft>
                <a:spcPts val="0"/>
              </a:spcAft>
            </a:pPr>
            <a:r>
              <a:rPr sz="1400" b="0" i="0">
                <a:solidFill>
                  <a:srgbClr val="1F2A37"/>
                </a:solidFill>
                <a:latin typeface="Calibri"/>
              </a:rPr>
              <a:t>exclude invalid cases</a:t>
            </a:r>
          </a:p>
        </p:txBody>
      </p:sp>
      <p:sp>
        <p:nvSpPr>
          <p:cNvPr id="27" name="Rectangle 26"/>
          <p:cNvSpPr/>
          <p:nvPr/>
        </p:nvSpPr>
        <p:spPr>
          <a:xfrm>
            <a:off x="4498848" y="1042416"/>
            <a:ext cx="1207008" cy="950976"/>
          </a:xfrm>
          <a:prstGeom prst="rect">
            <a:avLst/>
          </a:prstGeom>
          <a:solidFill>
            <a:srgbClr val="0E5E6F"/>
          </a:solidFill>
          <a:ln w="12700">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FAF6EF"/>
                </a:solidFill>
                <a:latin typeface="Calibri"/>
              </a:rPr>
              <a:t>Agent assessment 1</a:t>
            </a:r>
          </a:p>
          <a:p>
            <a:pPr algn="ctr">
              <a:spcBef>
                <a:spcPts val="0"/>
              </a:spcBef>
              <a:spcAft>
                <a:spcPts val="0"/>
              </a:spcAft>
            </a:pPr>
            <a:r>
              <a:rPr sz="1400" b="0" i="0">
                <a:solidFill>
                  <a:srgbClr val="FAF6EF"/>
                </a:solidFill>
                <a:latin typeface="Calibri"/>
              </a:rPr>
              <a:t>6-field output</a:t>
            </a:r>
          </a:p>
        </p:txBody>
      </p:sp>
      <p:sp>
        <p:nvSpPr>
          <p:cNvPr id="28" name="Rectangle 27"/>
          <p:cNvSpPr/>
          <p:nvPr/>
        </p:nvSpPr>
        <p:spPr>
          <a:xfrm>
            <a:off x="5925312" y="1042416"/>
            <a:ext cx="1207008" cy="950976"/>
          </a:xfrm>
          <a:prstGeom prst="rect">
            <a:avLst/>
          </a:prstGeom>
          <a:solidFill>
            <a:srgbClr val="FFFDF8"/>
          </a:solidFill>
          <a:ln w="12700">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Contact gate</a:t>
            </a:r>
          </a:p>
          <a:p>
            <a:pPr algn="ctr">
              <a:spcBef>
                <a:spcPts val="0"/>
              </a:spcBef>
              <a:spcAft>
                <a:spcPts val="0"/>
              </a:spcAft>
            </a:pPr>
            <a:r>
              <a:rPr sz="1400" b="0" i="0">
                <a:solidFill>
                  <a:srgbClr val="1F2A37"/>
                </a:solidFill>
                <a:latin typeface="Calibri"/>
              </a:rPr>
              <a:t>backend allows 1 question</a:t>
            </a:r>
          </a:p>
        </p:txBody>
      </p:sp>
      <p:sp>
        <p:nvSpPr>
          <p:cNvPr id="29" name="Rectangle 28"/>
          <p:cNvSpPr/>
          <p:nvPr/>
        </p:nvSpPr>
        <p:spPr>
          <a:xfrm>
            <a:off x="7351776" y="1042416"/>
            <a:ext cx="1207008" cy="950976"/>
          </a:xfrm>
          <a:prstGeom prst="rect">
            <a:avLst/>
          </a:prstGeom>
          <a:solidFill>
            <a:srgbClr val="FFFDF8"/>
          </a:solidFill>
          <a:ln w="12700">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One buyer question</a:t>
            </a:r>
          </a:p>
          <a:p>
            <a:pPr algn="ctr">
              <a:spcBef>
                <a:spcPts val="0"/>
              </a:spcBef>
              <a:spcAft>
                <a:spcPts val="0"/>
              </a:spcAft>
            </a:pPr>
            <a:r>
              <a:rPr sz="1400" b="0" i="0">
                <a:solidFill>
                  <a:srgbClr val="1F2A37"/>
                </a:solidFill>
                <a:latin typeface="Calibri"/>
              </a:rPr>
              <a:t>from missing_info</a:t>
            </a:r>
          </a:p>
        </p:txBody>
      </p:sp>
      <p:cxnSp>
        <p:nvCxnSpPr>
          <p:cNvPr id="30" name="Connector 29"/>
          <p:cNvCxnSpPr>
            <a:stCxn id="25" idx="3"/>
            <a:endCxn id="26" idx="1"/>
          </p:cNvCxnSpPr>
          <p:nvPr/>
        </p:nvCxnSpPr>
        <p:spPr>
          <a:xfrm flipV="1">
            <a:off x="2852928" y="1517904"/>
            <a:ext cx="219456"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a:stCxn id="26" idx="3"/>
            <a:endCxn id="27" idx="1"/>
          </p:cNvCxnSpPr>
          <p:nvPr/>
        </p:nvCxnSpPr>
        <p:spPr>
          <a:xfrm flipV="1">
            <a:off x="4279392" y="1517904"/>
            <a:ext cx="219456"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a:stCxn id="27" idx="3"/>
            <a:endCxn id="28" idx="1"/>
          </p:cNvCxnSpPr>
          <p:nvPr/>
        </p:nvCxnSpPr>
        <p:spPr>
          <a:xfrm flipV="1">
            <a:off x="5705856" y="1517904"/>
            <a:ext cx="219456"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a:stCxn id="28" idx="3"/>
            <a:endCxn id="29" idx="1"/>
          </p:cNvCxnSpPr>
          <p:nvPr/>
        </p:nvCxnSpPr>
        <p:spPr>
          <a:xfrm flipV="1">
            <a:off x="7132320" y="1517904"/>
            <a:ext cx="219456"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1645920" y="2286000"/>
            <a:ext cx="1481328" cy="950976"/>
          </a:xfrm>
          <a:prstGeom prst="rect">
            <a:avLst/>
          </a:prstGeom>
          <a:solidFill>
            <a:srgbClr val="1F2A37"/>
          </a:solidFill>
          <a:ln w="12700">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FAF6EF"/>
                </a:solidFill>
                <a:latin typeface="Calibri"/>
              </a:rPr>
              <a:t>Ops</a:t>
            </a:r>
          </a:p>
          <a:p>
            <a:pPr algn="ctr">
              <a:spcBef>
                <a:spcPts val="0"/>
              </a:spcBef>
              <a:spcAft>
                <a:spcPts val="0"/>
              </a:spcAft>
            </a:pPr>
            <a:r>
              <a:rPr sz="1400" b="0" i="0">
                <a:solidFill>
                  <a:srgbClr val="FAF6EF"/>
                </a:solidFill>
                <a:latin typeface="Calibri"/>
              </a:rPr>
              <a:t>recommendation</a:t>
            </a:r>
          </a:p>
        </p:txBody>
      </p:sp>
      <p:sp>
        <p:nvSpPr>
          <p:cNvPr id="35" name="Rectangle 34"/>
          <p:cNvSpPr/>
          <p:nvPr/>
        </p:nvSpPr>
        <p:spPr>
          <a:xfrm>
            <a:off x="3383280" y="2286000"/>
            <a:ext cx="2194560" cy="950976"/>
          </a:xfrm>
          <a:prstGeom prst="rect">
            <a:avLst/>
          </a:prstGeom>
          <a:solidFill>
            <a:srgbClr val="C58B4B"/>
          </a:solidFill>
          <a:ln w="12700">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Policy engine</a:t>
            </a:r>
          </a:p>
          <a:p>
            <a:pPr algn="ctr">
              <a:spcBef>
                <a:spcPts val="0"/>
              </a:spcBef>
              <a:spcAft>
                <a:spcPts val="0"/>
              </a:spcAft>
            </a:pPr>
            <a:r>
              <a:rPr sz="1400" b="0" i="0">
                <a:solidFill>
                  <a:srgbClr val="1F2A37"/>
                </a:solidFill>
                <a:latin typeface="Calibri"/>
              </a:rPr>
              <a:t>deterministic gate</a:t>
            </a:r>
          </a:p>
        </p:txBody>
      </p:sp>
      <p:sp>
        <p:nvSpPr>
          <p:cNvPr id="36" name="Rectangle 35"/>
          <p:cNvSpPr/>
          <p:nvPr/>
        </p:nvSpPr>
        <p:spPr>
          <a:xfrm>
            <a:off x="5925312" y="2286000"/>
            <a:ext cx="1207008" cy="950976"/>
          </a:xfrm>
          <a:prstGeom prst="rect">
            <a:avLst/>
          </a:prstGeom>
          <a:solidFill>
            <a:srgbClr val="FFFDF8"/>
          </a:solidFill>
          <a:ln w="19050">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No reply (manual)</a:t>
            </a:r>
          </a:p>
          <a:p>
            <a:pPr algn="ctr">
              <a:spcBef>
                <a:spcPts val="0"/>
              </a:spcBef>
              <a:spcAft>
                <a:spcPts val="0"/>
              </a:spcAft>
            </a:pPr>
            <a:r>
              <a:rPr sz="1400" b="0" i="0">
                <a:solidFill>
                  <a:srgbClr val="1F2A37"/>
                </a:solidFill>
                <a:latin typeface="Calibri"/>
              </a:rPr>
              <a:t>keep assessment 1</a:t>
            </a:r>
          </a:p>
        </p:txBody>
      </p:sp>
      <p:sp>
        <p:nvSpPr>
          <p:cNvPr id="37" name="Rectangle 36"/>
          <p:cNvSpPr/>
          <p:nvPr/>
        </p:nvSpPr>
        <p:spPr>
          <a:xfrm>
            <a:off x="7351776" y="2286000"/>
            <a:ext cx="1207008" cy="950976"/>
          </a:xfrm>
          <a:prstGeom prst="rect">
            <a:avLst/>
          </a:prstGeom>
          <a:solidFill>
            <a:srgbClr val="0E5E6F"/>
          </a:solidFill>
          <a:ln w="12700">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FAF6EF"/>
                </a:solidFill>
                <a:latin typeface="Calibri"/>
              </a:rPr>
              <a:t>Reply</a:t>
            </a:r>
          </a:p>
          <a:p>
            <a:pPr algn="ctr">
              <a:spcBef>
                <a:spcPts val="0"/>
              </a:spcBef>
              <a:spcAft>
                <a:spcPts val="0"/>
              </a:spcAft>
            </a:pPr>
            <a:r>
              <a:rPr sz="1400" b="0" i="0">
                <a:solidFill>
                  <a:srgbClr val="FAF6EF"/>
                </a:solidFill>
                <a:latin typeface="Calibri"/>
              </a:rPr>
              <a:t>Agent assessment 2</a:t>
            </a:r>
          </a:p>
        </p:txBody>
      </p:sp>
      <p:cxnSp>
        <p:nvCxnSpPr>
          <p:cNvPr id="38" name="Connector 37"/>
          <p:cNvCxnSpPr>
            <a:stCxn id="29" idx="2"/>
            <a:endCxn id="37" idx="0"/>
          </p:cNvCxnSpPr>
          <p:nvPr/>
        </p:nvCxnSpPr>
        <p:spPr>
          <a:xfrm flipH="1">
            <a:off x="7955280" y="1993392"/>
            <a:ext cx="0" cy="292608"/>
          </a:xfrm>
          <a:prstGeom prst="line">
            <a:avLst/>
          </a:prstGeom>
          <a:ln w="22225">
            <a:solidFill>
              <a:srgbClr val="0E5E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a:off x="6528816" y="2139696"/>
            <a:ext cx="1426464" cy="0"/>
          </a:xfrm>
          <a:prstGeom prst="line">
            <a:avLst/>
          </a:prstGeom>
          <a:ln w="22225">
            <a:solidFill>
              <a:srgbClr val="A9733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528816" y="2139696"/>
            <a:ext cx="0" cy="146304"/>
          </a:xfrm>
          <a:prstGeom prst="line">
            <a:avLst/>
          </a:prstGeom>
          <a:ln w="22225">
            <a:solidFill>
              <a:srgbClr val="A973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a:stCxn id="36" idx="1"/>
            <a:endCxn id="35" idx="3"/>
          </p:cNvCxnSpPr>
          <p:nvPr/>
        </p:nvCxnSpPr>
        <p:spPr>
          <a:xfrm flipH="1" flipV="1">
            <a:off x="5577840" y="2761488"/>
            <a:ext cx="347472" cy="0"/>
          </a:xfrm>
          <a:prstGeom prst="line">
            <a:avLst/>
          </a:prstGeom>
          <a:ln w="22225">
            <a:solidFill>
              <a:srgbClr val="A9733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7955280" y="3236976"/>
            <a:ext cx="0" cy="146304"/>
          </a:xfrm>
          <a:prstGeom prst="line">
            <a:avLst/>
          </a:prstGeom>
          <a:ln w="22225">
            <a:solidFill>
              <a:srgbClr val="0E5E6F"/>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a:off x="4480560" y="3383280"/>
            <a:ext cx="3474720" cy="0"/>
          </a:xfrm>
          <a:prstGeom prst="line">
            <a:avLst/>
          </a:prstGeom>
          <a:ln w="22225">
            <a:solidFill>
              <a:srgbClr val="0E5E6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480560" y="3236976"/>
            <a:ext cx="0" cy="146304"/>
          </a:xfrm>
          <a:prstGeom prst="line">
            <a:avLst/>
          </a:prstGeom>
          <a:ln w="22225">
            <a:solidFill>
              <a:srgbClr val="0E5E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44"/>
          <p:cNvCxnSpPr>
            <a:stCxn id="35" idx="1"/>
            <a:endCxn id="34" idx="3"/>
          </p:cNvCxnSpPr>
          <p:nvPr/>
        </p:nvCxnSpPr>
        <p:spPr>
          <a:xfrm flipH="1" flipV="1">
            <a:off x="3127248" y="2761488"/>
            <a:ext cx="256032" cy="0"/>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1371600" y="3566160"/>
            <a:ext cx="7223760" cy="950976"/>
          </a:xfrm>
          <a:prstGeom prst="rect">
            <a:avLst/>
          </a:prstGeom>
          <a:noFill/>
        </p:spPr>
        <p:txBody>
          <a:bodyPr wrap="square" anchor="t" lIns="45720" rIns="45720" tIns="27432" bIns="27432">
            <a:noAutofit/>
          </a:bodyPr>
          <a:lstStyle/>
          <a:p>
            <a:pPr algn="l">
              <a:spcBef>
                <a:spcPts val="0"/>
              </a:spcBef>
              <a:spcAft>
                <a:spcPts val="200"/>
              </a:spcAft>
            </a:pPr>
            <a:r>
              <a:rPr sz="1400" b="1" i="0">
                <a:solidFill>
                  <a:srgbClr val="0E5E6F"/>
                </a:solidFill>
                <a:latin typeface="Calibri"/>
              </a:rPr>
              <a:t>Novelty: one bounded buyer question + fixed vocabularies. LLM proposes; policy decides; Ops executes.</a:t>
            </a:r>
          </a:p>
          <a:p>
            <a:pPr algn="l">
              <a:spcBef>
                <a:spcPts val="0"/>
              </a:spcBef>
              <a:spcAft>
                <a:spcPts val="0"/>
              </a:spcAft>
            </a:pPr>
            <a:r>
              <a:rPr sz="1400" b="1" i="0">
                <a:solidFill>
                  <a:srgbClr val="B83A26"/>
                </a:solidFill>
                <a:latin typeface="Calibri"/>
              </a:rPr>
              <a:t>Today a deterministic assessor stands in for the LLM agent (next step). The agent never acts.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B</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BACKUP | ARCHITECTURE</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11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772400" y="4553712"/>
            <a:ext cx="182880" cy="182880"/>
          </a:xfrm>
          <a:prstGeom prst="ellipse">
            <a:avLst/>
          </a:prstGeom>
          <a:solidFill>
            <a:srgbClr val="0E5E6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4506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496824"/>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MVP architecture</a:t>
            </a:r>
          </a:p>
        </p:txBody>
      </p:sp>
      <p:sp>
        <p:nvSpPr>
          <p:cNvPr id="21" name="Rectangle 20"/>
          <p:cNvSpPr/>
          <p:nvPr/>
        </p:nvSpPr>
        <p:spPr>
          <a:xfrm>
            <a:off x="1371600" y="1024128"/>
            <a:ext cx="4572000" cy="694944"/>
          </a:xfrm>
          <a:prstGeom prst="rect">
            <a:avLst/>
          </a:prstGeom>
          <a:solidFill>
            <a:srgbClr val="1F2A37"/>
          </a:solidFill>
          <a:ln w="12700">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FAF6EF"/>
                </a:solidFill>
                <a:latin typeface="Calibri"/>
              </a:rPr>
              <a:t>Ops console</a:t>
            </a:r>
          </a:p>
          <a:p>
            <a:pPr algn="ctr">
              <a:spcBef>
                <a:spcPts val="0"/>
              </a:spcBef>
              <a:spcAft>
                <a:spcPts val="0"/>
              </a:spcAft>
            </a:pPr>
            <a:r>
              <a:rPr sz="1400" b="0" i="0">
                <a:solidFill>
                  <a:srgbClr val="FAF6EF"/>
                </a:solidFill>
                <a:latin typeface="Calibri"/>
              </a:rPr>
              <a:t>recommendation, evidence, audit</a:t>
            </a:r>
          </a:p>
        </p:txBody>
      </p:sp>
      <p:sp>
        <p:nvSpPr>
          <p:cNvPr id="22" name="Rectangle 21"/>
          <p:cNvSpPr/>
          <p:nvPr/>
        </p:nvSpPr>
        <p:spPr>
          <a:xfrm>
            <a:off x="1371600" y="1920240"/>
            <a:ext cx="2194560" cy="694944"/>
          </a:xfrm>
          <a:prstGeom prst="rect">
            <a:avLst/>
          </a:prstGeom>
          <a:solidFill>
            <a:srgbClr val="C58B4B"/>
          </a:solidFill>
          <a:ln w="12700">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Policy engine</a:t>
            </a:r>
          </a:p>
          <a:p>
            <a:pPr algn="ctr">
              <a:spcBef>
                <a:spcPts val="0"/>
              </a:spcBef>
              <a:spcAft>
                <a:spcPts val="0"/>
              </a:spcAft>
            </a:pPr>
            <a:r>
              <a:rPr sz="1400" b="0" i="0">
                <a:solidFill>
                  <a:srgbClr val="1F2A37"/>
                </a:solidFill>
                <a:latin typeface="Calibri"/>
              </a:rPr>
              <a:t>versioned, deterministic</a:t>
            </a:r>
          </a:p>
        </p:txBody>
      </p:sp>
      <p:sp>
        <p:nvSpPr>
          <p:cNvPr id="23" name="Rectangle 22"/>
          <p:cNvSpPr/>
          <p:nvPr/>
        </p:nvSpPr>
        <p:spPr>
          <a:xfrm>
            <a:off x="3749040" y="1920240"/>
            <a:ext cx="2194560" cy="694944"/>
          </a:xfrm>
          <a:prstGeom prst="rect">
            <a:avLst/>
          </a:prstGeom>
          <a:solidFill>
            <a:srgbClr val="0E5E6F"/>
          </a:solidFill>
          <a:ln w="12700">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FAF6EF"/>
                </a:solidFill>
                <a:latin typeface="Calibri"/>
              </a:rPr>
              <a:t>Agent (LLM: next step)</a:t>
            </a:r>
          </a:p>
          <a:p>
            <a:pPr algn="ctr">
              <a:spcBef>
                <a:spcPts val="0"/>
              </a:spcBef>
              <a:spcAft>
                <a:spcPts val="0"/>
              </a:spcAft>
            </a:pPr>
            <a:r>
              <a:rPr sz="1400" b="0" i="0">
                <a:solidFill>
                  <a:srgbClr val="FAF6EF"/>
                </a:solidFill>
                <a:latin typeface="Calibri"/>
              </a:rPr>
              <a:t>reads allowed sources; outputs 6 fields</a:t>
            </a:r>
          </a:p>
        </p:txBody>
      </p:sp>
      <p:sp>
        <p:nvSpPr>
          <p:cNvPr id="24" name="Rectangle 23"/>
          <p:cNvSpPr/>
          <p:nvPr/>
        </p:nvSpPr>
        <p:spPr>
          <a:xfrm>
            <a:off x="1371600" y="2816352"/>
            <a:ext cx="4572000" cy="694944"/>
          </a:xfrm>
          <a:prstGeom prst="rect">
            <a:avLst/>
          </a:prstGeom>
          <a:solidFill>
            <a:srgbClr val="FFFDF8"/>
          </a:solidFill>
          <a:ln w="12700">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Backend</a:t>
            </a:r>
          </a:p>
          <a:p>
            <a:pPr algn="ctr">
              <a:spcBef>
                <a:spcPts val="0"/>
              </a:spcBef>
              <a:spcAft>
                <a:spcPts val="0"/>
              </a:spcAft>
            </a:pPr>
            <a:r>
              <a:rPr sz="1400" b="0" i="0">
                <a:solidFill>
                  <a:srgbClr val="1F2A37"/>
                </a:solidFill>
                <a:latin typeface="Calibri"/>
              </a:rPr>
              <a:t>state, contact gate, question budget, writes</a:t>
            </a:r>
          </a:p>
        </p:txBody>
      </p:sp>
      <p:sp>
        <p:nvSpPr>
          <p:cNvPr id="25" name="Rectangle 24"/>
          <p:cNvSpPr/>
          <p:nvPr/>
        </p:nvSpPr>
        <p:spPr>
          <a:xfrm>
            <a:off x="1371600" y="3712464"/>
            <a:ext cx="4572000" cy="694944"/>
          </a:xfrm>
          <a:prstGeom prst="rect">
            <a:avLst/>
          </a:prstGeom>
          <a:solidFill>
            <a:srgbClr val="FFFDF8"/>
          </a:solidFill>
          <a:ln w="12700">
            <a:solidFill>
              <a:srgbClr val="1F2A3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spcBef>
                <a:spcPts val="0"/>
              </a:spcBef>
              <a:spcAft>
                <a:spcPts val="0"/>
              </a:spcAft>
            </a:pPr>
            <a:r>
              <a:rPr sz="1400" b="1" i="0">
                <a:solidFill>
                  <a:srgbClr val="1F2A37"/>
                </a:solidFill>
                <a:latin typeface="Calibri"/>
              </a:rPr>
              <a:t>Data layer</a:t>
            </a:r>
          </a:p>
          <a:p>
            <a:pPr algn="ctr">
              <a:spcBef>
                <a:spcPts val="0"/>
              </a:spcBef>
              <a:spcAft>
                <a:spcPts val="0"/>
              </a:spcAft>
            </a:pPr>
            <a:r>
              <a:rPr sz="1400" b="0" i="0">
                <a:solidFill>
                  <a:srgbClr val="1F2A37"/>
                </a:solidFill>
                <a:latin typeface="Calibri"/>
              </a:rPr>
              <a:t>9-table model: buyers, orders, delivery events, rescue cases, interactions</a:t>
            </a:r>
          </a:p>
        </p:txBody>
      </p:sp>
      <p:cxnSp>
        <p:nvCxnSpPr>
          <p:cNvPr id="26" name="Connector 25"/>
          <p:cNvCxnSpPr>
            <a:stCxn id="25" idx="0"/>
            <a:endCxn id="24" idx="2"/>
          </p:cNvCxnSpPr>
          <p:nvPr/>
        </p:nvCxnSpPr>
        <p:spPr>
          <a:xfrm flipH="1" flipV="1">
            <a:off x="3657600" y="3511296"/>
            <a:ext cx="0" cy="201168"/>
          </a:xfrm>
          <a:prstGeom prst="line">
            <a:avLst/>
          </a:prstGeom>
          <a:ln w="22225">
            <a:solidFill>
              <a:srgbClr val="0E5E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a:endCxn id="22" idx="2"/>
          </p:cNvCxnSpPr>
          <p:nvPr/>
        </p:nvCxnSpPr>
        <p:spPr>
          <a:xfrm flipV="1">
            <a:off x="2468880" y="2615184"/>
            <a:ext cx="0" cy="201168"/>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a:endCxn id="23" idx="2"/>
          </p:cNvCxnSpPr>
          <p:nvPr/>
        </p:nvCxnSpPr>
        <p:spPr>
          <a:xfrm flipV="1">
            <a:off x="4846320" y="2615184"/>
            <a:ext cx="0" cy="201168"/>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468880" y="1719072"/>
            <a:ext cx="0" cy="201168"/>
          </a:xfrm>
          <a:prstGeom prst="line">
            <a:avLst/>
          </a:prstGeom>
          <a:ln w="22225">
            <a:solidFill>
              <a:srgbClr val="1F2A3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6263640" y="1024128"/>
            <a:ext cx="2331720" cy="3291840"/>
          </a:xfrm>
          <a:prstGeom prst="rect">
            <a:avLst/>
          </a:prstGeom>
          <a:solidFill>
            <a:srgbClr val="E9DFC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82880" bIns="182880">
            <a:noAutofit/>
          </a:bodyPr>
          <a:lstStyle/>
          <a:p>
            <a:pPr algn="l">
              <a:spcBef>
                <a:spcPts val="0"/>
              </a:spcBef>
              <a:spcAft>
                <a:spcPts val="400"/>
              </a:spcAft>
            </a:pPr>
            <a:r>
              <a:rPr sz="1800" b="1" i="0">
                <a:solidFill>
                  <a:srgbClr val="1F2A37"/>
                </a:solidFill>
                <a:latin typeface="Georgia"/>
              </a:rPr>
              <a:t>Today: local React app</a:t>
            </a:r>
          </a:p>
          <a:p>
            <a:pPr algn="l">
              <a:spcBef>
                <a:spcPts val="0"/>
              </a:spcBef>
              <a:spcAft>
                <a:spcPts val="1400"/>
              </a:spcAft>
            </a:pPr>
            <a:r>
              <a:rPr sz="1400" b="0" i="0">
                <a:solidFill>
                  <a:srgbClr val="1F2A37"/>
                </a:solidFill>
                <a:latin typeface="Calibri"/>
              </a:rPr>
              <a:t>fixtures, rule-based assessor</a:t>
            </a:r>
          </a:p>
          <a:p>
            <a:pPr algn="l">
              <a:spcBef>
                <a:spcPts val="0"/>
              </a:spcBef>
              <a:spcAft>
                <a:spcPts val="0"/>
              </a:spcAft>
            </a:pPr>
            <a:r>
              <a:rPr sz="1400" b="0" i="0">
                <a:solidFill>
                  <a:srgbClr val="1F2A37"/>
                </a:solidFill>
                <a:latin typeface="Calibri"/>
              </a:rPr>
              <a:t>Golden test cases are kept out of the assessor's input.</a:t>
            </a:r>
          </a:p>
        </p:txBody>
      </p:sp>
      <p:sp>
        <p:nvSpPr>
          <p:cNvPr id="31" name="Rectangle 30"/>
          <p:cNvSpPr/>
          <p:nvPr/>
        </p:nvSpPr>
        <p:spPr>
          <a:xfrm>
            <a:off x="6263640" y="1024128"/>
            <a:ext cx="2331720" cy="73152"/>
          </a:xfrm>
          <a:prstGeom prst="rect">
            <a:avLst/>
          </a:prstGeom>
          <a:solidFill>
            <a:srgbClr val="0E5E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12064" y="256032"/>
            <a:ext cx="1097280" cy="731520"/>
          </a:xfrm>
          <a:prstGeom prst="rect">
            <a:avLst/>
          </a:prstGeom>
          <a:noFill/>
        </p:spPr>
        <p:txBody>
          <a:bodyPr wrap="square" anchor="t" lIns="45720" rIns="45720" tIns="27432" bIns="27432">
            <a:noAutofit/>
          </a:bodyPr>
          <a:lstStyle/>
          <a:p>
            <a:pPr algn="l">
              <a:spcBef>
                <a:spcPts val="0"/>
              </a:spcBef>
              <a:spcAft>
                <a:spcPts val="0"/>
              </a:spcAft>
            </a:pPr>
            <a:r>
              <a:rPr sz="4400" b="1" i="0">
                <a:solidFill>
                  <a:srgbClr val="0E5E6F"/>
                </a:solidFill>
                <a:latin typeface="Georgia"/>
              </a:rPr>
              <a:t>B</a:t>
            </a:r>
          </a:p>
        </p:txBody>
      </p:sp>
      <p:cxnSp>
        <p:nvCxnSpPr>
          <p:cNvPr id="3" name="Connector 2"/>
          <p:cNvCxnSpPr/>
          <p:nvPr/>
        </p:nvCxnSpPr>
        <p:spPr>
          <a:xfrm>
            <a:off x="621792" y="1051560"/>
            <a:ext cx="0" cy="333756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1371600" y="274320"/>
            <a:ext cx="7223760" cy="219456"/>
          </a:xfrm>
          <a:prstGeom prst="rect">
            <a:avLst/>
          </a:prstGeom>
          <a:noFill/>
        </p:spPr>
        <p:txBody>
          <a:bodyPr wrap="square" anchor="t" lIns="45720" rIns="45720" tIns="27432" bIns="27432">
            <a:noAutofit/>
          </a:bodyPr>
          <a:lstStyle/>
          <a:p>
            <a:pPr algn="l">
              <a:spcBef>
                <a:spcPts val="0"/>
              </a:spcBef>
              <a:spcAft>
                <a:spcPts val="0"/>
              </a:spcAft>
            </a:pPr>
            <a:r>
              <a:rPr sz="1100" b="1" i="0">
                <a:solidFill>
                  <a:srgbClr val="0E5E6F"/>
                </a:solidFill>
                <a:latin typeface="Calibri"/>
              </a:rPr>
              <a:t>BACKUP | Q&amp;A</a:t>
            </a:r>
          </a:p>
        </p:txBody>
      </p:sp>
      <p:sp>
        <p:nvSpPr>
          <p:cNvPr id="5" name="TextBox 4"/>
          <p:cNvSpPr txBox="1"/>
          <p:nvPr/>
        </p:nvSpPr>
        <p:spPr>
          <a:xfrm>
            <a:off x="548640" y="4818888"/>
            <a:ext cx="5486400" cy="219456"/>
          </a:xfrm>
          <a:prstGeom prst="rect">
            <a:avLst/>
          </a:prstGeom>
          <a:noFill/>
        </p:spPr>
        <p:txBody>
          <a:bodyPr wrap="square" anchor="t" lIns="45720" rIns="45720" tIns="27432" bIns="27432">
            <a:noAutofit/>
          </a:bodyPr>
          <a:lstStyle/>
          <a:p>
            <a:pPr algn="l">
              <a:spcBef>
                <a:spcPts val="0"/>
              </a:spcBef>
              <a:spcAft>
                <a:spcPts val="0"/>
              </a:spcAft>
            </a:pPr>
            <a:r>
              <a:rPr sz="1100" b="0" i="0">
                <a:solidFill>
                  <a:srgbClr val="5B6270"/>
                </a:solidFill>
                <a:latin typeface="Calibri"/>
              </a:rPr>
              <a:t>Order Rescue | synthetic data only | local MVP</a:t>
            </a:r>
          </a:p>
        </p:txBody>
      </p:sp>
      <p:sp>
        <p:nvSpPr>
          <p:cNvPr id="6" name="TextBox 5"/>
          <p:cNvSpPr txBox="1"/>
          <p:nvPr/>
        </p:nvSpPr>
        <p:spPr>
          <a:xfrm>
            <a:off x="7680960" y="4818888"/>
            <a:ext cx="914400" cy="219456"/>
          </a:xfrm>
          <a:prstGeom prst="rect">
            <a:avLst/>
          </a:prstGeom>
          <a:noFill/>
        </p:spPr>
        <p:txBody>
          <a:bodyPr wrap="square" anchor="t" lIns="45720" rIns="45720" tIns="27432" bIns="27432">
            <a:noAutofit/>
          </a:bodyPr>
          <a:lstStyle/>
          <a:p>
            <a:pPr algn="r">
              <a:spcBef>
                <a:spcPts val="0"/>
              </a:spcBef>
              <a:spcAft>
                <a:spcPts val="0"/>
              </a:spcAft>
            </a:pPr>
            <a:r>
              <a:rPr sz="1100" b="0" i="0">
                <a:solidFill>
                  <a:srgbClr val="5B6270"/>
                </a:solidFill>
                <a:latin typeface="Calibri"/>
              </a:rPr>
              <a:t>12 / 12</a:t>
            </a:r>
          </a:p>
        </p:txBody>
      </p:sp>
      <p:cxnSp>
        <p:nvCxnSpPr>
          <p:cNvPr id="7" name="Connector 6"/>
          <p:cNvCxnSpPr/>
          <p:nvPr/>
        </p:nvCxnSpPr>
        <p:spPr>
          <a:xfrm>
            <a:off x="548640" y="4645152"/>
            <a:ext cx="8046720" cy="0"/>
          </a:xfrm>
          <a:prstGeom prst="line">
            <a:avLst/>
          </a:prstGeom>
          <a:ln w="12700">
            <a:solidFill>
              <a:srgbClr val="C58B4B"/>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4983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2298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9613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6929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42442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15594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88746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1898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50508" y="4594860"/>
            <a:ext cx="100584" cy="100584"/>
          </a:xfrm>
          <a:prstGeom prst="ellipse">
            <a:avLst/>
          </a:prstGeom>
          <a:solidFill>
            <a:srgbClr val="FAF6EF"/>
          </a:solidFill>
          <a:ln w="15875">
            <a:solidFill>
              <a:srgbClr val="0E5E6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708202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813548" y="4594860"/>
            <a:ext cx="100584" cy="100584"/>
          </a:xfrm>
          <a:prstGeom prst="ellipse">
            <a:avLst/>
          </a:prstGeom>
          <a:solidFill>
            <a:srgbClr val="FAF6E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03920" y="4553712"/>
            <a:ext cx="182880" cy="182880"/>
          </a:xfrm>
          <a:prstGeom prst="ellipse">
            <a:avLst/>
          </a:prstGeom>
          <a:solidFill>
            <a:srgbClr val="0E5E6F"/>
          </a:solidFill>
          <a:ln w="15875">
            <a:solidFill>
              <a:srgbClr val="C58B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502920"/>
            <a:ext cx="7223760" cy="496824"/>
          </a:xfrm>
          <a:prstGeom prst="rect">
            <a:avLst/>
          </a:prstGeom>
          <a:noFill/>
        </p:spPr>
        <p:txBody>
          <a:bodyPr wrap="square" anchor="t" lIns="45720" rIns="45720" tIns="27432" bIns="27432">
            <a:noAutofit/>
          </a:bodyPr>
          <a:lstStyle/>
          <a:p>
            <a:pPr algn="l">
              <a:lnSpc>
                <a:spcPct val="95000"/>
              </a:lnSpc>
              <a:spcBef>
                <a:spcPts val="0"/>
              </a:spcBef>
              <a:spcAft>
                <a:spcPts val="0"/>
              </a:spcAft>
            </a:pPr>
            <a:r>
              <a:rPr sz="2800" b="1" i="0">
                <a:solidFill>
                  <a:srgbClr val="1F2A37"/>
                </a:solidFill>
                <a:latin typeface="Georgia"/>
              </a:rPr>
              <a:t>Q&amp;A backup</a:t>
            </a:r>
          </a:p>
        </p:txBody>
      </p:sp>
      <p:cxnSp>
        <p:nvCxnSpPr>
          <p:cNvPr id="21" name="Connector 20"/>
          <p:cNvCxnSpPr/>
          <p:nvPr/>
        </p:nvCxnSpPr>
        <p:spPr>
          <a:xfrm>
            <a:off x="1371600" y="1188720"/>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371600" y="1216152"/>
            <a:ext cx="3931920" cy="566928"/>
          </a:xfrm>
          <a:prstGeom prst="rect">
            <a:avLst/>
          </a:prstGeom>
          <a:noFill/>
        </p:spPr>
        <p:txBody>
          <a:bodyPr wrap="square" anchor="ctr" lIns="45720" rIns="45720" tIns="27432" bIns="27432">
            <a:noAutofit/>
          </a:bodyPr>
          <a:lstStyle/>
          <a:p>
            <a:pPr algn="l">
              <a:spcBef>
                <a:spcPts val="0"/>
              </a:spcBef>
              <a:spcAft>
                <a:spcPts val="0"/>
              </a:spcAft>
            </a:pPr>
            <a:r>
              <a:rPr sz="1500" b="0" i="1">
                <a:solidFill>
                  <a:srgbClr val="1F2A37"/>
                </a:solidFill>
                <a:latin typeface="Georgia"/>
              </a:rPr>
              <a:t>How do you stop made-up actions?</a:t>
            </a:r>
          </a:p>
        </p:txBody>
      </p:sp>
      <p:sp>
        <p:nvSpPr>
          <p:cNvPr id="23" name="TextBox 22"/>
          <p:cNvSpPr txBox="1"/>
          <p:nvPr/>
        </p:nvSpPr>
        <p:spPr>
          <a:xfrm>
            <a:off x="5394960" y="1216152"/>
            <a:ext cx="3200400" cy="566928"/>
          </a:xfrm>
          <a:prstGeom prst="rect">
            <a:avLst/>
          </a:prstGeom>
          <a:noFill/>
        </p:spPr>
        <p:txBody>
          <a:bodyPr wrap="square" anchor="ctr" lIns="45720" rIns="45720" tIns="27432" bIns="27432">
            <a:noAutofit/>
          </a:bodyPr>
          <a:lstStyle/>
          <a:p>
            <a:pPr algn="l">
              <a:spcBef>
                <a:spcPts val="0"/>
              </a:spcBef>
              <a:spcAft>
                <a:spcPts val="0"/>
              </a:spcAft>
            </a:pPr>
            <a:r>
              <a:rPr sz="1400" b="0" i="0">
                <a:solidFill>
                  <a:srgbClr val="1F2A37"/>
                </a:solidFill>
                <a:latin typeface="Calibri"/>
              </a:rPr>
              <a:t>Fixed vocabularies and a rules gate.</a:t>
            </a:r>
          </a:p>
        </p:txBody>
      </p:sp>
      <p:cxnSp>
        <p:nvCxnSpPr>
          <p:cNvPr id="24" name="Connector 23"/>
          <p:cNvCxnSpPr/>
          <p:nvPr/>
        </p:nvCxnSpPr>
        <p:spPr>
          <a:xfrm>
            <a:off x="1371600" y="1810512"/>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371600" y="1837944"/>
            <a:ext cx="3931920" cy="566928"/>
          </a:xfrm>
          <a:prstGeom prst="rect">
            <a:avLst/>
          </a:prstGeom>
          <a:noFill/>
        </p:spPr>
        <p:txBody>
          <a:bodyPr wrap="square" anchor="ctr" lIns="45720" rIns="45720" tIns="27432" bIns="27432">
            <a:noAutofit/>
          </a:bodyPr>
          <a:lstStyle/>
          <a:p>
            <a:pPr algn="l">
              <a:spcBef>
                <a:spcPts val="0"/>
              </a:spcBef>
              <a:spcAft>
                <a:spcPts val="0"/>
              </a:spcAft>
            </a:pPr>
            <a:r>
              <a:rPr sz="1500" b="0" i="1">
                <a:solidFill>
                  <a:srgbClr val="1F2A37"/>
                </a:solidFill>
                <a:latin typeface="Georgia"/>
              </a:rPr>
              <a:t>Why only one buyer question?</a:t>
            </a:r>
          </a:p>
        </p:txBody>
      </p:sp>
      <p:sp>
        <p:nvSpPr>
          <p:cNvPr id="26" name="TextBox 25"/>
          <p:cNvSpPr txBox="1"/>
          <p:nvPr/>
        </p:nvSpPr>
        <p:spPr>
          <a:xfrm>
            <a:off x="5394960" y="1837944"/>
            <a:ext cx="3200400" cy="566928"/>
          </a:xfrm>
          <a:prstGeom prst="rect">
            <a:avLst/>
          </a:prstGeom>
          <a:noFill/>
        </p:spPr>
        <p:txBody>
          <a:bodyPr wrap="square" anchor="ctr" lIns="45720" rIns="45720" tIns="27432" bIns="27432">
            <a:noAutofit/>
          </a:bodyPr>
          <a:lstStyle/>
          <a:p>
            <a:pPr algn="l">
              <a:spcBef>
                <a:spcPts val="0"/>
              </a:spcBef>
              <a:spcAft>
                <a:spcPts val="0"/>
              </a:spcAft>
            </a:pPr>
            <a:r>
              <a:rPr sz="1400" b="0" i="0">
                <a:solidFill>
                  <a:srgbClr val="1F2A37"/>
                </a:solidFill>
                <a:latin typeface="Calibri"/>
              </a:rPr>
              <a:t>Policy caps it at one.</a:t>
            </a:r>
          </a:p>
        </p:txBody>
      </p:sp>
      <p:cxnSp>
        <p:nvCxnSpPr>
          <p:cNvPr id="27" name="Connector 26"/>
          <p:cNvCxnSpPr/>
          <p:nvPr/>
        </p:nvCxnSpPr>
        <p:spPr>
          <a:xfrm>
            <a:off x="1371600" y="2432304"/>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1371600" y="2459736"/>
            <a:ext cx="3931920" cy="566928"/>
          </a:xfrm>
          <a:prstGeom prst="rect">
            <a:avLst/>
          </a:prstGeom>
          <a:noFill/>
        </p:spPr>
        <p:txBody>
          <a:bodyPr wrap="square" anchor="ctr" lIns="45720" rIns="45720" tIns="27432" bIns="27432">
            <a:noAutofit/>
          </a:bodyPr>
          <a:lstStyle/>
          <a:p>
            <a:pPr algn="l">
              <a:spcBef>
                <a:spcPts val="0"/>
              </a:spcBef>
              <a:spcAft>
                <a:spcPts val="0"/>
              </a:spcAft>
            </a:pPr>
            <a:r>
              <a:rPr sz="1500" b="0" i="1">
                <a:solidFill>
                  <a:srgbClr val="1F2A37"/>
                </a:solidFill>
                <a:latin typeface="Georgia"/>
              </a:rPr>
              <a:t>What is real today?</a:t>
            </a:r>
          </a:p>
        </p:txBody>
      </p:sp>
      <p:sp>
        <p:nvSpPr>
          <p:cNvPr id="29" name="TextBox 28"/>
          <p:cNvSpPr txBox="1"/>
          <p:nvPr/>
        </p:nvSpPr>
        <p:spPr>
          <a:xfrm>
            <a:off x="5394960" y="2459736"/>
            <a:ext cx="3200400" cy="566928"/>
          </a:xfrm>
          <a:prstGeom prst="rect">
            <a:avLst/>
          </a:prstGeom>
          <a:noFill/>
        </p:spPr>
        <p:txBody>
          <a:bodyPr wrap="square" anchor="ctr" lIns="45720" rIns="45720" tIns="27432" bIns="27432">
            <a:noAutofit/>
          </a:bodyPr>
          <a:lstStyle/>
          <a:p>
            <a:pPr algn="l">
              <a:spcBef>
                <a:spcPts val="0"/>
              </a:spcBef>
              <a:spcAft>
                <a:spcPts val="0"/>
              </a:spcAft>
            </a:pPr>
            <a:r>
              <a:rPr sz="1400" b="0" i="0">
                <a:solidFill>
                  <a:srgbClr val="1F2A37"/>
                </a:solidFill>
                <a:latin typeface="Calibri"/>
              </a:rPr>
              <a:t>Local app, rules and tests.</a:t>
            </a:r>
          </a:p>
        </p:txBody>
      </p:sp>
      <p:cxnSp>
        <p:nvCxnSpPr>
          <p:cNvPr id="30" name="Connector 29"/>
          <p:cNvCxnSpPr/>
          <p:nvPr/>
        </p:nvCxnSpPr>
        <p:spPr>
          <a:xfrm>
            <a:off x="1371600" y="3054096"/>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371600" y="3081528"/>
            <a:ext cx="3931920" cy="566928"/>
          </a:xfrm>
          <a:prstGeom prst="rect">
            <a:avLst/>
          </a:prstGeom>
          <a:noFill/>
        </p:spPr>
        <p:txBody>
          <a:bodyPr wrap="square" anchor="ctr" lIns="45720" rIns="45720" tIns="27432" bIns="27432">
            <a:noAutofit/>
          </a:bodyPr>
          <a:lstStyle/>
          <a:p>
            <a:pPr algn="l">
              <a:spcBef>
                <a:spcPts val="0"/>
              </a:spcBef>
              <a:spcAft>
                <a:spcPts val="0"/>
              </a:spcAft>
            </a:pPr>
            <a:r>
              <a:rPr sz="1500" b="0" i="1">
                <a:solidFill>
                  <a:srgbClr val="1F2A37"/>
                </a:solidFill>
                <a:latin typeface="Georgia"/>
              </a:rPr>
              <a:t>Where is the LLM?</a:t>
            </a:r>
          </a:p>
        </p:txBody>
      </p:sp>
      <p:sp>
        <p:nvSpPr>
          <p:cNvPr id="32" name="TextBox 31"/>
          <p:cNvSpPr txBox="1"/>
          <p:nvPr/>
        </p:nvSpPr>
        <p:spPr>
          <a:xfrm>
            <a:off x="5394960" y="3081528"/>
            <a:ext cx="3200400" cy="566928"/>
          </a:xfrm>
          <a:prstGeom prst="rect">
            <a:avLst/>
          </a:prstGeom>
          <a:noFill/>
        </p:spPr>
        <p:txBody>
          <a:bodyPr wrap="square" anchor="ctr" lIns="45720" rIns="45720" tIns="27432" bIns="27432">
            <a:noAutofit/>
          </a:bodyPr>
          <a:lstStyle/>
          <a:p>
            <a:pPr algn="l">
              <a:spcBef>
                <a:spcPts val="0"/>
              </a:spcBef>
              <a:spcAft>
                <a:spcPts val="0"/>
              </a:spcAft>
            </a:pPr>
            <a:r>
              <a:rPr sz="1400" b="0" i="0">
                <a:solidFill>
                  <a:srgbClr val="1F2A37"/>
                </a:solidFill>
                <a:latin typeface="Calibri"/>
              </a:rPr>
              <a:t>Next step; a rule-based assessor stands in.</a:t>
            </a:r>
          </a:p>
        </p:txBody>
      </p:sp>
      <p:cxnSp>
        <p:nvCxnSpPr>
          <p:cNvPr id="33" name="Connector 32"/>
          <p:cNvCxnSpPr/>
          <p:nvPr/>
        </p:nvCxnSpPr>
        <p:spPr>
          <a:xfrm>
            <a:off x="1371600" y="3675888"/>
            <a:ext cx="7223760" cy="0"/>
          </a:xfrm>
          <a:prstGeom prst="line">
            <a:avLst/>
          </a:prstGeom>
          <a:ln w="9525">
            <a:solidFill>
              <a:srgbClr val="C58B4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371600" y="3703320"/>
            <a:ext cx="3931920" cy="566928"/>
          </a:xfrm>
          <a:prstGeom prst="rect">
            <a:avLst/>
          </a:prstGeom>
          <a:noFill/>
        </p:spPr>
        <p:txBody>
          <a:bodyPr wrap="square" anchor="ctr" lIns="45720" rIns="45720" tIns="27432" bIns="27432">
            <a:noAutofit/>
          </a:bodyPr>
          <a:lstStyle/>
          <a:p>
            <a:pPr algn="l">
              <a:spcBef>
                <a:spcPts val="0"/>
              </a:spcBef>
              <a:spcAft>
                <a:spcPts val="0"/>
              </a:spcAft>
            </a:pPr>
            <a:r>
              <a:rPr sz="1500" b="0" i="1">
                <a:solidFill>
                  <a:srgbClr val="1F2A37"/>
                </a:solidFill>
                <a:latin typeface="Georgia"/>
              </a:rPr>
              <a:t>Where do numbers come from?</a:t>
            </a:r>
          </a:p>
        </p:txBody>
      </p:sp>
      <p:sp>
        <p:nvSpPr>
          <p:cNvPr id="35" name="TextBox 34"/>
          <p:cNvSpPr txBox="1"/>
          <p:nvPr/>
        </p:nvSpPr>
        <p:spPr>
          <a:xfrm>
            <a:off x="5394960" y="3703320"/>
            <a:ext cx="3200400" cy="566928"/>
          </a:xfrm>
          <a:prstGeom prst="rect">
            <a:avLst/>
          </a:prstGeom>
          <a:noFill/>
        </p:spPr>
        <p:txBody>
          <a:bodyPr wrap="square" anchor="ctr" lIns="45720" rIns="45720" tIns="27432" bIns="27432">
            <a:noAutofit/>
          </a:bodyPr>
          <a:lstStyle/>
          <a:p>
            <a:pPr algn="l">
              <a:spcBef>
                <a:spcPts val="0"/>
              </a:spcBef>
              <a:spcAft>
                <a:spcPts val="0"/>
              </a:spcAft>
            </a:pPr>
            <a:r>
              <a:rPr sz="1400" b="0" i="0">
                <a:solidFill>
                  <a:srgbClr val="1F2A37"/>
                </a:solidFill>
                <a:latin typeface="Calibri"/>
              </a:rPr>
              <a:t>We claim none from the demo.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