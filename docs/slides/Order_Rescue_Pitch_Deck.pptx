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[0:00-0:15] Good afternoon. We are Lucas, Phuc, Hai and Kha. Order Rescue is a policy-gated decision layer for failed last-mile deliveries, designed to host an LLM agent. It recommends to Ops; it never acts on its own. Everything runs on synthetic data and is labelled as such. Be upfront: today a deterministic assessor stands in for the LLM agent.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[0:15-0:25] (10 seconds) We align with Autonomous and Adaptive AI: an agent that reasons, asks, then reassesses within limits. It also reflects Deep Domain AI: the rules come from how delivery Ops actually reasons, such as silence is not refusal.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[0:25-0:50] When a first delivery attempt fails, Ops sees a code like recipient unavailable or refused. Public Shopee guidance itself says delivery status can be incorrect or incomplete. Re-attempting blindly wastes a courier trip; closing too early loses a sale. Four parties feel it: buyers, couriers, Ops, sellers (detail on backup slide).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[0:50-1:05] We prioritised a trustworthy decision, not a flashy integration. In scope: evidence-based assessment, one buyer question, a deterministic policy gate and an audit trail. Out of scope: anything that touches the real world.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[1:05-1:45] Walk the diagram. Raw data goes through a pre-check; malformed or closed cases never reach the AI. Agent assessment 1 produces evidence and a hypothesis. If information is missing, the backend contact gate allows exactly one buyer question. A reply triggers assessment 2; a manual no-reply keeps assessment 1. Then the policy engine decides what is permitted, and Ops receives the recommendation. Say plainly: the deterministic assessor plays the agent role today; the LLM agent is next. The novelty is the bounded design: one buyer question, fixed vocabularies, policy decides.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[1:45-1:55] The agent (today the deterministic assessor) returns exactly six fields, and values must come from approved lists: 7 hypotheses, 8 missing-info codes, 5 candidate actions. Confidence measures support for the hypothesis, not delivery success.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[1:55-2:15] This is the trust story. High confidence does not override policy. Retry needs direct buyer intent, availability and sufficient delivery info. Anything outside the MVP, such as changing an address, is blocked and escalated. These checks are plain deterministic code that we test.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[2:15-2:30] Today it is a local Vite, React and TypeScript app. Fixtures stand in for the data stores; a deterministic assessor stands in for the LLM agent; the policy gate and audit trail are real local code. The target design has the same three layers, backed by the 9-table data model.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[2:30-3:15] (45 seconds) Say only what the team has confirmed: we used Codex for the demo app, its tests (Vitest and Playwright), and the data model, business rules and 30 test cases. Do not extend the claim beyond those three areas. Re-run npm run test:unit immediately before presenting and quote the fresh number. Show the repo view on screen. Do not state accuracy or correctness.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[3:15-5:45] (2.5 minutes, live) Show one case end to end: evidence, assessment, policy result, audit. Then the blocked request. Use the truth legend: real local code versus simulated data versus future.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[5:45-6:00] (15 seconds) These are hypotheses to validate with real data, not results. We deliberately show no savings or accuracy numbers because we have none. What we can show is the mechanism: evidence-backed, explainable decisions.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not in the timed pitch] Four parties feel this. Buyers wait for parcels; couriers burn attempts; Ops triage case by case without evidence; sellers risk returns. The hard part is that one status maps to many causes, and the buyer is the only person who can resolve some of them.</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not in the timed pitch] Scaling is a path, not a claim. The evaluation harness does not exist yet; only the 30 cases and unit tests do. Real carrier data replaces fixtures, a queue handles volume, each policy version gets its own profile, and an evaluation harness reuses our 30 synthetic cases as a regression suite.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not in the timed pitch] Integration is designed, not built. The agent would read delivery-event and order stores, ask the buyer through a backend-controlled channel, and show recommendations in an Ops console with a human decision. State clearly: the MVP integrates with nothing live.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after the end; Q&amp;A] Likely questions: How is the LLM kept honest? Policy gate and fixed vocabularies. What about real data? Not accessed; next step needs permission. Where is the AI? The v2.2 contract, six fixed-vocabulary fields and the recommendation prompt branch define the LLM part; a deterministic assessor stands in today. Where do numbers come from? We claim none.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AF6EF"/>
        </a:solidFill>
        <a:effectLst/>
      </p:bgPr>
    </p:bg>
    <p:spTree>
      <p:nvGrpSpPr>
        <p:cNvPr id="1" name=""/>
        <p:cNvGrpSpPr/>
        <p:nvPr/>
      </p:nvGrpSpPr>
      <p:grpSpPr/>
      <p:sp>
        <p:nvSpPr>
          <p:cNvPr id="2" name="Rectangle 1"/>
          <p:cNvSpPr/>
          <p:nvPr/>
        </p:nvSpPr>
        <p:spPr>
          <a:xfrm>
            <a:off x="5943600" y="0"/>
            <a:ext cx="3200400" cy="5143500"/>
          </a:xfrm>
          <a:prstGeom prst="rect">
            <a:avLst/>
          </a:prstGeom>
          <a:solidFill>
            <a:srgbClr val="E9DF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6172200" y="3730752"/>
            <a:ext cx="2514600" cy="237744"/>
          </a:xfrm>
          <a:prstGeom prst="ellipse">
            <a:avLst/>
          </a:prstGeom>
          <a:solidFill>
            <a:srgbClr val="D6C6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263640" y="2423160"/>
            <a:ext cx="1920240" cy="1417320"/>
          </a:xfrm>
          <a:prstGeom prst="rect">
            <a:avLst/>
          </a:prstGeom>
          <a:solidFill>
            <a:srgbClr val="C58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8183880" y="2057400"/>
            <a:ext cx="411480" cy="1783080"/>
          </a:xfrm>
          <a:custGeom>
            <a:avLst/>
            <a:gdLst/>
            <a:ahLst/>
            <a:cxnLst/>
            <a:rect l="l" t="t" r="r" b="b"/>
            <a:pathLst>
              <a:path w="411480" h="1783080">
                <a:moveTo>
                  <a:pt x="0" y="365760"/>
                </a:moveTo>
                <a:lnTo>
                  <a:pt x="411480" y="0"/>
                </a:lnTo>
                <a:lnTo>
                  <a:pt x="411480" y="1417320"/>
                </a:lnTo>
                <a:lnTo>
                  <a:pt x="0" y="1783080"/>
                </a:lnTo>
                <a:close/>
              </a:path>
            </a:pathLst>
          </a:custGeom>
          <a:solidFill>
            <a:srgbClr val="A973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6263640" y="2057400"/>
            <a:ext cx="2331720" cy="365760"/>
          </a:xfrm>
          <a:custGeom>
            <a:avLst/>
            <a:gdLst/>
            <a:ahLst/>
            <a:cxnLst/>
            <a:rect l="l" t="t" r="r" b="b"/>
            <a:pathLst>
              <a:path w="2331720" h="365760">
                <a:moveTo>
                  <a:pt x="0" y="365760"/>
                </a:moveTo>
                <a:lnTo>
                  <a:pt x="1920240" y="365760"/>
                </a:lnTo>
                <a:lnTo>
                  <a:pt x="2331720" y="0"/>
                </a:lnTo>
                <a:lnTo>
                  <a:pt x="411480" y="0"/>
                </a:lnTo>
                <a:close/>
              </a:path>
            </a:pathLst>
          </a:custGeom>
          <a:solidFill>
            <a:srgbClr val="D9A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068312" y="2423160"/>
            <a:ext cx="310896" cy="1417320"/>
          </a:xfrm>
          <a:prstGeom prst="rect">
            <a:avLst/>
          </a:prstGeom>
          <a:solidFill>
            <a:srgbClr val="EBDD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Freeform 7"/>
          <p:cNvSpPr/>
          <p:nvPr/>
        </p:nvSpPr>
        <p:spPr>
          <a:xfrm>
            <a:off x="7068312" y="2057400"/>
            <a:ext cx="722376" cy="365760"/>
          </a:xfrm>
          <a:custGeom>
            <a:avLst/>
            <a:gdLst/>
            <a:ahLst/>
            <a:cxnLst/>
            <a:rect l="l" t="t" r="r" b="b"/>
            <a:pathLst>
              <a:path w="722376" h="365760">
                <a:moveTo>
                  <a:pt x="0" y="365760"/>
                </a:moveTo>
                <a:lnTo>
                  <a:pt x="310896" y="365760"/>
                </a:lnTo>
                <a:lnTo>
                  <a:pt x="722376" y="0"/>
                </a:lnTo>
                <a:lnTo>
                  <a:pt x="411480" y="0"/>
                </a:lnTo>
                <a:close/>
              </a:path>
            </a:pathLst>
          </a:custGeom>
          <a:solidFill>
            <a:srgbClr val="EBDD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52360" y="3154680"/>
            <a:ext cx="594360" cy="530352"/>
          </a:xfrm>
          <a:prstGeom prst="rect">
            <a:avLst/>
          </a:prstGeom>
          <a:solidFill>
            <a:srgbClr val="FAF6EF"/>
          </a:solidFill>
          <a:ln w="9525">
            <a:solidFill>
              <a:srgbClr val="1F2A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516368" y="3218688"/>
            <a:ext cx="41148" cy="219456"/>
          </a:xfrm>
          <a:prstGeom prst="rect">
            <a:avLst/>
          </a:prstGeom>
          <a:solidFill>
            <a:srgbClr val="1F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573061" y="3218688"/>
            <a:ext cx="27432" cy="219456"/>
          </a:xfrm>
          <a:prstGeom prst="rect">
            <a:avLst/>
          </a:prstGeom>
          <a:solidFill>
            <a:srgbClr val="1F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629754" y="3218688"/>
            <a:ext cx="41148" cy="219456"/>
          </a:xfrm>
          <a:prstGeom prst="rect">
            <a:avLst/>
          </a:prstGeom>
          <a:solidFill>
            <a:srgbClr val="1F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686446" y="3218688"/>
            <a:ext cx="27432" cy="219456"/>
          </a:xfrm>
          <a:prstGeom prst="rect">
            <a:avLst/>
          </a:prstGeom>
          <a:solidFill>
            <a:srgbClr val="1F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43139" y="3218688"/>
            <a:ext cx="41148" cy="219456"/>
          </a:xfrm>
          <a:prstGeom prst="rect">
            <a:avLst/>
          </a:prstGeom>
          <a:solidFill>
            <a:srgbClr val="1F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99832" y="3218688"/>
            <a:ext cx="27432" cy="219456"/>
          </a:xfrm>
          <a:prstGeom prst="rect">
            <a:avLst/>
          </a:prstGeom>
          <a:solidFill>
            <a:srgbClr val="1F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856525" y="3218688"/>
            <a:ext cx="41148" cy="219456"/>
          </a:xfrm>
          <a:prstGeom prst="rect">
            <a:avLst/>
          </a:prstGeom>
          <a:solidFill>
            <a:srgbClr val="1F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913218" y="3218688"/>
            <a:ext cx="27432" cy="219456"/>
          </a:xfrm>
          <a:prstGeom prst="rect">
            <a:avLst/>
          </a:prstGeom>
          <a:solidFill>
            <a:srgbClr val="1F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969910" y="3218688"/>
            <a:ext cx="41148" cy="219456"/>
          </a:xfrm>
          <a:prstGeom prst="rect">
            <a:avLst/>
          </a:prstGeom>
          <a:solidFill>
            <a:srgbClr val="1F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516368" y="3502152"/>
            <a:ext cx="457200" cy="27432"/>
          </a:xfrm>
          <a:prstGeom prst="rect">
            <a:avLst/>
          </a:prstGeom>
          <a:solidFill>
            <a:srgbClr val="5B62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516368" y="3575304"/>
            <a:ext cx="310896" cy="27432"/>
          </a:xfrm>
          <a:prstGeom prst="rect">
            <a:avLst/>
          </a:prstGeom>
          <a:solidFill>
            <a:srgbClr val="5B62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00800" y="2560320"/>
            <a:ext cx="457200" cy="457200"/>
          </a:xfrm>
          <a:prstGeom prst="ellipse">
            <a:avLst/>
          </a:prstGeom>
          <a:noFill/>
          <a:ln w="19050">
            <a:solidFill>
              <a:srgbClr val="B83A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537960" y="2697480"/>
            <a:ext cx="182880" cy="182880"/>
          </a:xfrm>
          <a:prstGeom prst="ellipse">
            <a:avLst/>
          </a:prstGeom>
          <a:solidFill>
            <a:srgbClr val="D64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364224" y="603504"/>
            <a:ext cx="73152" cy="73152"/>
          </a:xfrm>
          <a:prstGeom prst="ellipse">
            <a:avLst/>
          </a:prstGeom>
          <a:solidFill>
            <a:srgbClr val="C58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364224" y="1014984"/>
            <a:ext cx="73152" cy="73152"/>
          </a:xfrm>
          <a:prstGeom prst="ellipse">
            <a:avLst/>
          </a:prstGeom>
          <a:solidFill>
            <a:srgbClr val="C58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364224" y="1426464"/>
            <a:ext cx="73152" cy="73152"/>
          </a:xfrm>
          <a:prstGeom prst="ellipse">
            <a:avLst/>
          </a:prstGeom>
          <a:solidFill>
            <a:srgbClr val="C58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6" name="Connector 25"/>
          <p:cNvCxnSpPr/>
          <p:nvPr/>
        </p:nvCxnSpPr>
        <p:spPr>
          <a:xfrm>
            <a:off x="6400800" y="640080"/>
            <a:ext cx="0" cy="822960"/>
          </a:xfrm>
          <a:prstGeom prst="line">
            <a:avLst/>
          </a:prstGeom>
          <a:ln w="12700">
            <a:solidFill>
              <a:srgbClr val="C58B4B"/>
            </a:solidFill>
            <a:prstDash val="dash"/>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48640" y="411480"/>
            <a:ext cx="5120640" cy="228600"/>
          </a:xfrm>
          <a:prstGeom prst="rect">
            <a:avLst/>
          </a:prstGeom>
          <a:noFill/>
        </p:spPr>
        <p:txBody>
          <a:bodyPr wrap="square" anchor="t" lIns="45720" rIns="45720" tIns="27432" bIns="27432">
            <a:noAutofit/>
          </a:bodyPr>
          <a:lstStyle/>
          <a:p>
            <a:pPr algn="l">
              <a:spcBef>
                <a:spcPts val="0"/>
              </a:spcBef>
              <a:spcAft>
                <a:spcPts val="0"/>
              </a:spcAft>
            </a:pPr>
            <a:r>
              <a:rPr sz="1100" b="1" i="0">
                <a:solidFill>
                  <a:srgbClr val="0E5E6F"/>
                </a:solidFill>
                <a:latin typeface="Calibri"/>
              </a:rPr>
              <a:t>SEA X OPENAI CODEX HACKATHON | 31 OCT 2026</a:t>
            </a:r>
          </a:p>
        </p:txBody>
      </p:sp>
      <p:sp>
        <p:nvSpPr>
          <p:cNvPr id="28" name="TextBox 27"/>
          <p:cNvSpPr txBox="1"/>
          <p:nvPr/>
        </p:nvSpPr>
        <p:spPr>
          <a:xfrm>
            <a:off x="548640" y="685800"/>
            <a:ext cx="5120640" cy="822960"/>
          </a:xfrm>
          <a:prstGeom prst="rect">
            <a:avLst/>
          </a:prstGeom>
          <a:noFill/>
        </p:spPr>
        <p:txBody>
          <a:bodyPr wrap="square" anchor="t" lIns="45720" rIns="45720" tIns="27432" bIns="27432">
            <a:noAutofit/>
          </a:bodyPr>
          <a:lstStyle/>
          <a:p>
            <a:pPr algn="l">
              <a:lnSpc>
                <a:spcPct val="95000"/>
              </a:lnSpc>
              <a:spcBef>
                <a:spcPts val="0"/>
              </a:spcBef>
              <a:spcAft>
                <a:spcPts val="0"/>
              </a:spcAft>
            </a:pPr>
            <a:r>
              <a:rPr sz="4600" b="1" i="0">
                <a:solidFill>
                  <a:srgbClr val="1F2A37"/>
                </a:solidFill>
                <a:latin typeface="Georgia"/>
              </a:rPr>
              <a:t>Order Rescue</a:t>
            </a:r>
          </a:p>
        </p:txBody>
      </p:sp>
      <p:sp>
        <p:nvSpPr>
          <p:cNvPr id="29" name="Rectangle 28"/>
          <p:cNvSpPr/>
          <p:nvPr/>
        </p:nvSpPr>
        <p:spPr>
          <a:xfrm>
            <a:off x="594360" y="1536192"/>
            <a:ext cx="640080" cy="54864"/>
          </a:xfrm>
          <a:prstGeom prst="rect">
            <a:avLst/>
          </a:prstGeom>
          <a:solidFill>
            <a:srgbClr val="D64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48640" y="1664208"/>
            <a:ext cx="5120640" cy="411480"/>
          </a:xfrm>
          <a:prstGeom prst="rect">
            <a:avLst/>
          </a:prstGeom>
          <a:noFill/>
        </p:spPr>
        <p:txBody>
          <a:bodyPr wrap="square" anchor="t" lIns="45720" rIns="45720" tIns="27432" bIns="27432">
            <a:noAutofit/>
          </a:bodyPr>
          <a:lstStyle/>
          <a:p>
            <a:pPr algn="l">
              <a:spcBef>
                <a:spcPts val="0"/>
              </a:spcBef>
              <a:spcAft>
                <a:spcPts val="0"/>
              </a:spcAft>
            </a:pPr>
            <a:r>
              <a:rPr sz="2000" b="0" i="1">
                <a:solidFill>
                  <a:srgbClr val="0E5E6F"/>
                </a:solidFill>
                <a:latin typeface="Georgia"/>
              </a:rPr>
              <a:t>Adaptive Delivery Recovery Agent</a:t>
            </a:r>
          </a:p>
        </p:txBody>
      </p:sp>
      <p:sp>
        <p:nvSpPr>
          <p:cNvPr id="31" name="TextBox 30"/>
          <p:cNvSpPr txBox="1"/>
          <p:nvPr/>
        </p:nvSpPr>
        <p:spPr>
          <a:xfrm>
            <a:off x="548640" y="2194560"/>
            <a:ext cx="5120640" cy="777240"/>
          </a:xfrm>
          <a:prstGeom prst="rect">
            <a:avLst/>
          </a:prstGeom>
          <a:noFill/>
        </p:spPr>
        <p:txBody>
          <a:bodyPr wrap="square" anchor="t" lIns="45720" rIns="45720" tIns="27432" bIns="27432">
            <a:noAutofit/>
          </a:bodyPr>
          <a:lstStyle/>
          <a:p>
            <a:pPr algn="l">
              <a:spcBef>
                <a:spcPts val="0"/>
              </a:spcBef>
              <a:spcAft>
                <a:spcPts val="0"/>
              </a:spcAft>
            </a:pPr>
            <a:r>
              <a:rPr sz="1600" b="0" i="0">
                <a:solidFill>
                  <a:srgbClr val="1F2A37"/>
                </a:solidFill>
                <a:latin typeface="Calibri"/>
              </a:rPr>
              <a:t>Works out why a delivery failed, asks the buyer one good question, and hands Ops an explainable, policy-checked recommendation.</a:t>
            </a:r>
          </a:p>
        </p:txBody>
      </p:sp>
      <p:sp>
        <p:nvSpPr>
          <p:cNvPr id="32" name="TextBox 31"/>
          <p:cNvSpPr txBox="1"/>
          <p:nvPr/>
        </p:nvSpPr>
        <p:spPr>
          <a:xfrm>
            <a:off x="548640" y="3063240"/>
            <a:ext cx="5120640" cy="502920"/>
          </a:xfrm>
          <a:prstGeom prst="rect">
            <a:avLst/>
          </a:prstGeom>
          <a:noFill/>
        </p:spPr>
        <p:txBody>
          <a:bodyPr wrap="square" anchor="t" lIns="45720" rIns="45720" tIns="27432" bIns="27432">
            <a:noAutofit/>
          </a:bodyPr>
          <a:lstStyle/>
          <a:p>
            <a:pPr algn="l">
              <a:spcBef>
                <a:spcPts val="0"/>
              </a:spcBef>
              <a:spcAft>
                <a:spcPts val="0"/>
              </a:spcAft>
            </a:pPr>
            <a:r>
              <a:rPr sz="1400" b="1" i="0">
                <a:solidFill>
                  <a:srgbClr val="B83A26"/>
                </a:solidFill>
                <a:latin typeface="Calibri"/>
              </a:rPr>
              <a:t>Honest status: today a deterministic assessor stands in for the LLM agent; the LLM agent is the next step.</a:t>
            </a:r>
          </a:p>
        </p:txBody>
      </p:sp>
      <p:sp>
        <p:nvSpPr>
          <p:cNvPr id="33" name="Rounded Rectangle 32"/>
          <p:cNvSpPr/>
          <p:nvPr/>
        </p:nvSpPr>
        <p:spPr>
          <a:xfrm>
            <a:off x="594360" y="3749040"/>
            <a:ext cx="1097280" cy="347472"/>
          </a:xfrm>
          <a:prstGeom prst="roundRect">
            <a:avLst>
              <a:gd name="adj" fmla="val 30000"/>
            </a:avLst>
          </a:prstGeom>
          <a:solidFill>
            <a:srgbClr val="E9DF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Autofit/>
          </a:bodyPr>
          <a:lstStyle/>
          <a:p>
            <a:pPr algn="ctr">
              <a:spcBef>
                <a:spcPts val="0"/>
              </a:spcBef>
              <a:spcAft>
                <a:spcPts val="0"/>
              </a:spcAft>
            </a:pPr>
            <a:r>
              <a:rPr sz="1400" b="1" i="0">
                <a:solidFill>
                  <a:srgbClr val="1F2A37"/>
                </a:solidFill>
                <a:latin typeface="Calibri"/>
              </a:rPr>
              <a:t>Lucas</a:t>
            </a:r>
          </a:p>
        </p:txBody>
      </p:sp>
      <p:sp>
        <p:nvSpPr>
          <p:cNvPr id="34" name="Rounded Rectangle 33"/>
          <p:cNvSpPr/>
          <p:nvPr/>
        </p:nvSpPr>
        <p:spPr>
          <a:xfrm>
            <a:off x="1783080" y="3749040"/>
            <a:ext cx="1097280" cy="347472"/>
          </a:xfrm>
          <a:prstGeom prst="roundRect">
            <a:avLst>
              <a:gd name="adj" fmla="val 30000"/>
            </a:avLst>
          </a:prstGeom>
          <a:solidFill>
            <a:srgbClr val="E9DF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Autofit/>
          </a:bodyPr>
          <a:lstStyle/>
          <a:p>
            <a:pPr algn="ctr">
              <a:spcBef>
                <a:spcPts val="0"/>
              </a:spcBef>
              <a:spcAft>
                <a:spcPts val="0"/>
              </a:spcAft>
            </a:pPr>
            <a:r>
              <a:rPr sz="1400" b="1" i="0">
                <a:solidFill>
                  <a:srgbClr val="1F2A37"/>
                </a:solidFill>
                <a:latin typeface="Calibri"/>
              </a:rPr>
              <a:t>Phuc</a:t>
            </a:r>
          </a:p>
        </p:txBody>
      </p:sp>
      <p:sp>
        <p:nvSpPr>
          <p:cNvPr id="35" name="Rounded Rectangle 34"/>
          <p:cNvSpPr/>
          <p:nvPr/>
        </p:nvSpPr>
        <p:spPr>
          <a:xfrm>
            <a:off x="2971800" y="3749040"/>
            <a:ext cx="1097280" cy="347472"/>
          </a:xfrm>
          <a:prstGeom prst="roundRect">
            <a:avLst>
              <a:gd name="adj" fmla="val 30000"/>
            </a:avLst>
          </a:prstGeom>
          <a:solidFill>
            <a:srgbClr val="E9DF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Autofit/>
          </a:bodyPr>
          <a:lstStyle/>
          <a:p>
            <a:pPr algn="ctr">
              <a:spcBef>
                <a:spcPts val="0"/>
              </a:spcBef>
              <a:spcAft>
                <a:spcPts val="0"/>
              </a:spcAft>
            </a:pPr>
            <a:r>
              <a:rPr sz="1400" b="1" i="0">
                <a:solidFill>
                  <a:srgbClr val="1F2A37"/>
                </a:solidFill>
                <a:latin typeface="Calibri"/>
              </a:rPr>
              <a:t>Hai</a:t>
            </a:r>
          </a:p>
        </p:txBody>
      </p:sp>
      <p:sp>
        <p:nvSpPr>
          <p:cNvPr id="36" name="Rounded Rectangle 35"/>
          <p:cNvSpPr/>
          <p:nvPr/>
        </p:nvSpPr>
        <p:spPr>
          <a:xfrm>
            <a:off x="4160520" y="3749040"/>
            <a:ext cx="1097280" cy="347472"/>
          </a:xfrm>
          <a:prstGeom prst="roundRect">
            <a:avLst>
              <a:gd name="adj" fmla="val 30000"/>
            </a:avLst>
          </a:prstGeom>
          <a:solidFill>
            <a:srgbClr val="E9DF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Autofit/>
          </a:bodyPr>
          <a:lstStyle/>
          <a:p>
            <a:pPr algn="ctr">
              <a:spcBef>
                <a:spcPts val="0"/>
              </a:spcBef>
              <a:spcAft>
                <a:spcPts val="0"/>
              </a:spcAft>
            </a:pPr>
            <a:r>
              <a:rPr sz="1400" b="1" i="0">
                <a:solidFill>
                  <a:srgbClr val="1F2A37"/>
                </a:solidFill>
                <a:latin typeface="Calibri"/>
              </a:rPr>
              <a:t>Kha</a:t>
            </a:r>
          </a:p>
        </p:txBody>
      </p:sp>
      <p:sp>
        <p:nvSpPr>
          <p:cNvPr id="37" name="TextBox 36"/>
          <p:cNvSpPr txBox="1"/>
          <p:nvPr/>
        </p:nvSpPr>
        <p:spPr>
          <a:xfrm>
            <a:off x="548640" y="4206240"/>
            <a:ext cx="5120640" cy="502920"/>
          </a:xfrm>
          <a:prstGeom prst="rect">
            <a:avLst/>
          </a:prstGeom>
          <a:noFill/>
        </p:spPr>
        <p:txBody>
          <a:bodyPr wrap="square" anchor="t" lIns="45720" rIns="45720" tIns="27432" bIns="27432">
            <a:noAutofit/>
          </a:bodyPr>
          <a:lstStyle/>
          <a:p>
            <a:pPr algn="l">
              <a:spcBef>
                <a:spcPts val="0"/>
              </a:spcBef>
              <a:spcAft>
                <a:spcPts val="0"/>
              </a:spcAft>
            </a:pPr>
            <a:r>
              <a:rPr sz="1400" b="0" i="0">
                <a:solidFill>
                  <a:srgbClr val="5B6270"/>
                </a:solidFill>
                <a:latin typeface="Calibri"/>
              </a:rPr>
              <a:t>Concept owner: Kha. Lucas: scope and demo flow. Phuc: AI feasibility. Hai: business rules and test cases.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AF6EF"/>
        </a:solidFill>
        <a:effectLst/>
      </p:bgPr>
    </p:bg>
    <p:spTree>
      <p:nvGrpSpPr>
        <p:cNvPr id="1" name=""/>
        <p:cNvGrpSpPr/>
        <p:nvPr/>
      </p:nvGrpSpPr>
      <p:grpSpPr/>
      <p:sp>
        <p:nvSpPr>
          <p:cNvPr id="2" name="TextBox 1"/>
          <p:cNvSpPr txBox="1"/>
          <p:nvPr/>
        </p:nvSpPr>
        <p:spPr>
          <a:xfrm>
            <a:off x="548640" y="4818888"/>
            <a:ext cx="5486400" cy="219456"/>
          </a:xfrm>
          <a:prstGeom prst="rect">
            <a:avLst/>
          </a:prstGeom>
          <a:noFill/>
        </p:spPr>
        <p:txBody>
          <a:bodyPr wrap="square" anchor="t" lIns="45720" rIns="45720" tIns="27432" bIns="27432">
            <a:noAutofit/>
          </a:bodyPr>
          <a:lstStyle/>
          <a:p>
            <a:pPr algn="l">
              <a:spcBef>
                <a:spcPts val="0"/>
              </a:spcBef>
              <a:spcAft>
                <a:spcPts val="0"/>
              </a:spcAft>
            </a:pPr>
            <a:r>
              <a:rPr sz="1100" b="0" i="0">
                <a:solidFill>
                  <a:srgbClr val="5B6270"/>
                </a:solidFill>
                <a:latin typeface="Calibri"/>
              </a:rPr>
              <a:t>Order Rescue | synthetic data only | local MVP</a:t>
            </a:r>
          </a:p>
        </p:txBody>
      </p:sp>
      <p:sp>
        <p:nvSpPr>
          <p:cNvPr id="3" name="TextBox 2"/>
          <p:cNvSpPr txBox="1"/>
          <p:nvPr/>
        </p:nvSpPr>
        <p:spPr>
          <a:xfrm>
            <a:off x="7680960" y="4818888"/>
            <a:ext cx="914400" cy="219456"/>
          </a:xfrm>
          <a:prstGeom prst="rect">
            <a:avLst/>
          </a:prstGeom>
          <a:noFill/>
        </p:spPr>
        <p:txBody>
          <a:bodyPr wrap="square" anchor="t" lIns="45720" rIns="45720" tIns="27432" bIns="27432">
            <a:noAutofit/>
          </a:bodyPr>
          <a:lstStyle/>
          <a:p>
            <a:pPr algn="r">
              <a:spcBef>
                <a:spcPts val="0"/>
              </a:spcBef>
              <a:spcAft>
                <a:spcPts val="0"/>
              </a:spcAft>
            </a:pPr>
            <a:r>
              <a:rPr sz="1100" b="0" i="0">
                <a:solidFill>
                  <a:srgbClr val="5B6270"/>
                </a:solidFill>
                <a:latin typeface="Calibri"/>
              </a:rPr>
              <a:t>2 / 15</a:t>
            </a:r>
          </a:p>
        </p:txBody>
      </p:sp>
      <p:cxnSp>
        <p:nvCxnSpPr>
          <p:cNvPr id="4" name="Connector 3"/>
          <p:cNvCxnSpPr/>
          <p:nvPr/>
        </p:nvCxnSpPr>
        <p:spPr>
          <a:xfrm>
            <a:off x="548640" y="4645152"/>
            <a:ext cx="8046720" cy="0"/>
          </a:xfrm>
          <a:prstGeom prst="line">
            <a:avLst/>
          </a:prstGeom>
          <a:ln w="12700">
            <a:solidFill>
              <a:srgbClr val="C58B4B"/>
            </a:solidFill>
          </a:ln>
        </p:spPr>
        <p:style>
          <a:lnRef idx="2">
            <a:schemeClr val="accent1"/>
          </a:lnRef>
          <a:fillRef idx="0">
            <a:schemeClr val="accent1"/>
          </a:fillRef>
          <a:effectRef idx="1">
            <a:schemeClr val="accent1"/>
          </a:effectRef>
          <a:fontRef idx="minor">
            <a:schemeClr val="tx1"/>
          </a:fontRef>
        </p:style>
      </p:cxnSp>
      <p:sp>
        <p:nvSpPr>
          <p:cNvPr id="5" name="Oval 4"/>
          <p:cNvSpPr/>
          <p:nvPr/>
        </p:nvSpPr>
        <p:spPr>
          <a:xfrm>
            <a:off x="498348" y="4594860"/>
            <a:ext cx="100584" cy="100584"/>
          </a:xfrm>
          <a:prstGeom prst="ellipse">
            <a:avLst/>
          </a:prstGeom>
          <a:solidFill>
            <a:srgbClr val="FAF6E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031966" y="4553712"/>
            <a:ext cx="182880" cy="182880"/>
          </a:xfrm>
          <a:prstGeom prst="ellipse">
            <a:avLst/>
          </a:prstGeom>
          <a:solidFill>
            <a:srgbClr val="0E5E6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647879" y="4594860"/>
            <a:ext cx="100584" cy="100584"/>
          </a:xfrm>
          <a:prstGeom prst="ellipse">
            <a:avLst/>
          </a:prstGeom>
          <a:solidFill>
            <a:srgbClr val="FAF6E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2222645" y="4594860"/>
            <a:ext cx="100584" cy="100584"/>
          </a:xfrm>
          <a:prstGeom prst="ellipse">
            <a:avLst/>
          </a:prstGeom>
          <a:solidFill>
            <a:srgbClr val="FAF6E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2797411" y="4594860"/>
            <a:ext cx="100584" cy="100584"/>
          </a:xfrm>
          <a:prstGeom prst="ellipse">
            <a:avLst/>
          </a:prstGeom>
          <a:solidFill>
            <a:srgbClr val="FAF6E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3372177" y="4594860"/>
            <a:ext cx="100584" cy="100584"/>
          </a:xfrm>
          <a:prstGeom prst="ellipse">
            <a:avLst/>
          </a:prstGeom>
          <a:solidFill>
            <a:srgbClr val="FAF6E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3946942" y="4594860"/>
            <a:ext cx="100584" cy="100584"/>
          </a:xfrm>
          <a:prstGeom prst="ellipse">
            <a:avLst/>
          </a:prstGeom>
          <a:solidFill>
            <a:srgbClr val="FAF6E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521708" y="4594860"/>
            <a:ext cx="100584" cy="100584"/>
          </a:xfrm>
          <a:prstGeom prst="ellipse">
            <a:avLst/>
          </a:prstGeom>
          <a:solidFill>
            <a:srgbClr val="FAF6E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096474" y="4594860"/>
            <a:ext cx="100584" cy="100584"/>
          </a:xfrm>
          <a:prstGeom prst="ellipse">
            <a:avLst/>
          </a:prstGeom>
          <a:solidFill>
            <a:srgbClr val="FAF6E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5671239" y="4594860"/>
            <a:ext cx="100584" cy="100584"/>
          </a:xfrm>
          <a:prstGeom prst="ellipse">
            <a:avLst/>
          </a:prstGeom>
          <a:solidFill>
            <a:srgbClr val="FAF6E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246005" y="4594860"/>
            <a:ext cx="100584" cy="100584"/>
          </a:xfrm>
          <a:prstGeom prst="ellipse">
            <a:avLst/>
          </a:prstGeom>
          <a:solidFill>
            <a:srgbClr val="FAF6E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820771" y="4594860"/>
            <a:ext cx="100584" cy="100584"/>
          </a:xfrm>
          <a:prstGeom prst="ellipse">
            <a:avLst/>
          </a:prstGeom>
          <a:solidFill>
            <a:srgbClr val="FAF6EF"/>
          </a:solidFill>
          <a:ln w="15875">
            <a:solidFill>
              <a:srgbClr val="C58B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395537" y="4594860"/>
            <a:ext cx="100584" cy="100584"/>
          </a:xfrm>
          <a:prstGeom prst="ellipse">
            <a:avLst/>
          </a:prstGeom>
          <a:solidFill>
            <a:srgbClr val="FAF6EF"/>
          </a:solidFill>
          <a:ln w="15875">
            <a:solidFill>
              <a:srgbClr val="C58B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970302" y="4594860"/>
            <a:ext cx="100584" cy="100584"/>
          </a:xfrm>
          <a:prstGeom prst="ellipse">
            <a:avLst/>
          </a:prstGeom>
          <a:solidFill>
            <a:srgbClr val="FAF6EF"/>
          </a:solidFill>
          <a:ln w="15875">
            <a:solidFill>
              <a:srgbClr val="C58B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545068" y="4594860"/>
            <a:ext cx="100584" cy="100584"/>
          </a:xfrm>
          <a:prstGeom prst="ellipse">
            <a:avLst/>
          </a:prstGeom>
          <a:solidFill>
            <a:srgbClr val="FAF6EF"/>
          </a:solidFill>
          <a:ln w="15875">
            <a:solidFill>
              <a:srgbClr val="C58B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0" y="0"/>
            <a:ext cx="3383280" cy="4434840"/>
          </a:xfrm>
          <a:prstGeom prst="rect">
            <a:avLst/>
          </a:prstGeom>
          <a:solidFill>
            <a:srgbClr val="0E5E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256032"/>
            <a:ext cx="731520" cy="731520"/>
          </a:xfrm>
          <a:prstGeom prst="rect">
            <a:avLst/>
          </a:prstGeom>
          <a:noFill/>
        </p:spPr>
        <p:txBody>
          <a:bodyPr wrap="square" anchor="t" lIns="45720" rIns="45720" tIns="27432" bIns="27432">
            <a:noAutofit/>
          </a:bodyPr>
          <a:lstStyle/>
          <a:p>
            <a:pPr algn="l">
              <a:spcBef>
                <a:spcPts val="0"/>
              </a:spcBef>
              <a:spcAft>
                <a:spcPts val="0"/>
              </a:spcAft>
            </a:pPr>
            <a:r>
              <a:rPr sz="4400" b="1" i="0">
                <a:solidFill>
                  <a:srgbClr val="FAF6EF"/>
                </a:solidFill>
                <a:latin typeface="Georgia"/>
              </a:rPr>
              <a:t>1</a:t>
            </a:r>
          </a:p>
        </p:txBody>
      </p:sp>
      <p:sp>
        <p:nvSpPr>
          <p:cNvPr id="22" name="TextBox 21"/>
          <p:cNvSpPr txBox="1"/>
          <p:nvPr/>
        </p:nvSpPr>
        <p:spPr>
          <a:xfrm>
            <a:off x="548640" y="1005840"/>
            <a:ext cx="2560320" cy="219456"/>
          </a:xfrm>
          <a:prstGeom prst="rect">
            <a:avLst/>
          </a:prstGeom>
          <a:noFill/>
        </p:spPr>
        <p:txBody>
          <a:bodyPr wrap="square" anchor="t" lIns="45720" rIns="45720" tIns="27432" bIns="27432">
            <a:noAutofit/>
          </a:bodyPr>
          <a:lstStyle/>
          <a:p>
            <a:pPr algn="l">
              <a:spcBef>
                <a:spcPts val="0"/>
              </a:spcBef>
              <a:spcAft>
                <a:spcPts val="0"/>
              </a:spcAft>
            </a:pPr>
            <a:r>
              <a:rPr sz="1100" b="1" i="0">
                <a:solidFill>
                  <a:srgbClr val="E9DFCF"/>
                </a:solidFill>
                <a:latin typeface="Calibri"/>
              </a:rPr>
              <a:t>INTRO</a:t>
            </a:r>
          </a:p>
        </p:txBody>
      </p:sp>
      <p:sp>
        <p:nvSpPr>
          <p:cNvPr id="23" name="TextBox 22"/>
          <p:cNvSpPr txBox="1"/>
          <p:nvPr/>
        </p:nvSpPr>
        <p:spPr>
          <a:xfrm>
            <a:off x="548640" y="1234440"/>
            <a:ext cx="2651760" cy="1712976"/>
          </a:xfrm>
          <a:prstGeom prst="rect">
            <a:avLst/>
          </a:prstGeom>
          <a:noFill/>
        </p:spPr>
        <p:txBody>
          <a:bodyPr wrap="square" anchor="t" lIns="45720" rIns="45720" tIns="27432" bIns="27432">
            <a:noAutofit/>
          </a:bodyPr>
          <a:lstStyle/>
          <a:p>
            <a:pPr algn="l">
              <a:lnSpc>
                <a:spcPct val="95000"/>
              </a:lnSpc>
              <a:spcBef>
                <a:spcPts val="0"/>
              </a:spcBef>
              <a:spcAft>
                <a:spcPts val="0"/>
              </a:spcAft>
            </a:pPr>
            <a:r>
              <a:rPr sz="2800" b="1" i="0">
                <a:solidFill>
                  <a:srgbClr val="FAF6EF"/>
                </a:solidFill>
                <a:latin typeface="Georgia"/>
              </a:rPr>
              <a:t>Why this fits the build directions</a:t>
            </a:r>
          </a:p>
        </p:txBody>
      </p:sp>
      <p:sp>
        <p:nvSpPr>
          <p:cNvPr id="24" name="TextBox 23"/>
          <p:cNvSpPr txBox="1"/>
          <p:nvPr/>
        </p:nvSpPr>
        <p:spPr>
          <a:xfrm>
            <a:off x="548640" y="3246120"/>
            <a:ext cx="2651760" cy="960120"/>
          </a:xfrm>
          <a:prstGeom prst="rect">
            <a:avLst/>
          </a:prstGeom>
          <a:noFill/>
        </p:spPr>
        <p:txBody>
          <a:bodyPr wrap="square" anchor="t" lIns="45720" rIns="45720" tIns="27432" bIns="27432">
            <a:noAutofit/>
          </a:bodyPr>
          <a:lstStyle/>
          <a:p>
            <a:pPr algn="l">
              <a:spcBef>
                <a:spcPts val="0"/>
              </a:spcBef>
              <a:spcAft>
                <a:spcPts val="0"/>
              </a:spcAft>
            </a:pPr>
            <a:r>
              <a:rPr sz="1600" b="0" i="0">
                <a:solidFill>
                  <a:srgbClr val="E9DFCF"/>
                </a:solidFill>
                <a:latin typeface="Calibri"/>
              </a:rPr>
              <a:t>Primary: Autonomous &amp; Adaptive AI. Secondary: Deep Domain AI.</a:t>
            </a:r>
          </a:p>
        </p:txBody>
      </p:sp>
      <p:sp>
        <p:nvSpPr>
          <p:cNvPr id="25" name="Rectangle 24"/>
          <p:cNvSpPr/>
          <p:nvPr/>
        </p:nvSpPr>
        <p:spPr>
          <a:xfrm>
            <a:off x="3749040" y="502920"/>
            <a:ext cx="4846320" cy="1051560"/>
          </a:xfrm>
          <a:prstGeom prst="rect">
            <a:avLst/>
          </a:prstGeom>
          <a:solidFill>
            <a:srgbClr val="E9DF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27432" bIns="27432">
            <a:noAutofit/>
          </a:bodyPr>
          <a:lstStyle/>
          <a:p>
            <a:pPr algn="l">
              <a:spcBef>
                <a:spcPts val="0"/>
              </a:spcBef>
              <a:spcAft>
                <a:spcPts val="300"/>
              </a:spcAft>
            </a:pPr>
            <a:r>
              <a:rPr sz="1800" b="1" i="0">
                <a:solidFill>
                  <a:srgbClr val="1F2A37"/>
                </a:solidFill>
                <a:latin typeface="Georgia"/>
              </a:rPr>
              <a:t>Autonomous &amp; Adaptive AI</a:t>
            </a:r>
          </a:p>
          <a:p>
            <a:pPr algn="l">
              <a:spcBef>
                <a:spcPts val="0"/>
              </a:spcBef>
              <a:spcAft>
                <a:spcPts val="0"/>
              </a:spcAft>
            </a:pPr>
            <a:r>
              <a:rPr sz="1400" b="0" i="0">
                <a:solidFill>
                  <a:srgbClr val="1F2A37"/>
                </a:solidFill>
                <a:latin typeface="Calibri"/>
              </a:rPr>
              <a:t>Reassesses after one buyer reply; stays inside hard limits</a:t>
            </a:r>
          </a:p>
        </p:txBody>
      </p:sp>
      <p:sp>
        <p:nvSpPr>
          <p:cNvPr id="26" name="Rectangle 25"/>
          <p:cNvSpPr/>
          <p:nvPr/>
        </p:nvSpPr>
        <p:spPr>
          <a:xfrm>
            <a:off x="3749040" y="502920"/>
            <a:ext cx="91440" cy="1051560"/>
          </a:xfrm>
          <a:prstGeom prst="rect">
            <a:avLst/>
          </a:prstGeom>
          <a:solidFill>
            <a:srgbClr val="0E5E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749040" y="1783080"/>
            <a:ext cx="4846320" cy="1051560"/>
          </a:xfrm>
          <a:prstGeom prst="rect">
            <a:avLst/>
          </a:prstGeom>
          <a:solidFill>
            <a:srgbClr val="E9DF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27432" bIns="27432">
            <a:noAutofit/>
          </a:bodyPr>
          <a:lstStyle/>
          <a:p>
            <a:pPr algn="l">
              <a:spcBef>
                <a:spcPts val="0"/>
              </a:spcBef>
              <a:spcAft>
                <a:spcPts val="300"/>
              </a:spcAft>
            </a:pPr>
            <a:r>
              <a:rPr sz="1800" b="1" i="0">
                <a:solidFill>
                  <a:srgbClr val="1F2A37"/>
                </a:solidFill>
                <a:latin typeface="Georgia"/>
              </a:rPr>
              <a:t>Deep Domain AI</a:t>
            </a:r>
          </a:p>
          <a:p>
            <a:pPr algn="l">
              <a:spcBef>
                <a:spcPts val="0"/>
              </a:spcBef>
              <a:spcAft>
                <a:spcPts val="0"/>
              </a:spcAft>
            </a:pPr>
            <a:r>
              <a:rPr sz="1400" b="0" i="0">
                <a:solidFill>
                  <a:srgbClr val="1F2A37"/>
                </a:solidFill>
                <a:latin typeface="Calibri"/>
              </a:rPr>
              <a:t>Ops logic encoded: courier notes are unverified, silence is not refusal</a:t>
            </a:r>
          </a:p>
        </p:txBody>
      </p:sp>
      <p:sp>
        <p:nvSpPr>
          <p:cNvPr id="28" name="Rectangle 27"/>
          <p:cNvSpPr/>
          <p:nvPr/>
        </p:nvSpPr>
        <p:spPr>
          <a:xfrm>
            <a:off x="3749040" y="1783080"/>
            <a:ext cx="91440" cy="1051560"/>
          </a:xfrm>
          <a:prstGeom prst="rect">
            <a:avLst/>
          </a:prstGeom>
          <a:solidFill>
            <a:srgbClr val="C58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749040" y="3063240"/>
            <a:ext cx="4846320" cy="1051560"/>
          </a:xfrm>
          <a:prstGeom prst="rect">
            <a:avLst/>
          </a:prstGeom>
          <a:solidFill>
            <a:srgbClr val="E9DF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27432" bIns="27432">
            <a:noAutofit/>
          </a:bodyPr>
          <a:lstStyle/>
          <a:p>
            <a:pPr algn="l">
              <a:spcBef>
                <a:spcPts val="0"/>
              </a:spcBef>
              <a:spcAft>
                <a:spcPts val="300"/>
              </a:spcAft>
            </a:pPr>
            <a:r>
              <a:rPr sz="1800" b="1" i="0">
                <a:solidFill>
                  <a:srgbClr val="1F2A37"/>
                </a:solidFill>
                <a:latin typeface="Georgia"/>
              </a:rPr>
              <a:t>AI-Native Operations</a:t>
            </a:r>
          </a:p>
          <a:p>
            <a:pPr algn="l">
              <a:spcBef>
                <a:spcPts val="0"/>
              </a:spcBef>
              <a:spcAft>
                <a:spcPts val="0"/>
              </a:spcAft>
            </a:pPr>
            <a:r>
              <a:rPr sz="1400" b="0" i="0">
                <a:solidFill>
                  <a:srgbClr val="1F2A37"/>
                </a:solidFill>
                <a:latin typeface="Calibri"/>
              </a:rPr>
              <a:t>Recommendation with evidence, not a bare status code</a:t>
            </a:r>
          </a:p>
        </p:txBody>
      </p:sp>
      <p:sp>
        <p:nvSpPr>
          <p:cNvPr id="30" name="Rectangle 29"/>
          <p:cNvSpPr/>
          <p:nvPr/>
        </p:nvSpPr>
        <p:spPr>
          <a:xfrm>
            <a:off x="3749040" y="3063240"/>
            <a:ext cx="91440" cy="1051560"/>
          </a:xfrm>
          <a:prstGeom prst="rect">
            <a:avLst/>
          </a:prstGeom>
          <a:solidFill>
            <a:srgbClr val="5B62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6EF"/>
        </a:solidFill>
        <a:effectLst/>
      </p:bgPr>
    </p:bg>
    <p:spTree>
      <p:nvGrpSpPr>
        <p:cNvPr id="1" name=""/>
        <p:cNvGrpSpPr/>
        <p:nvPr/>
      </p:nvGrpSpPr>
      <p:grpSpPr/>
      <p:sp>
        <p:nvSpPr>
          <p:cNvPr id="2" name="TextBox 1"/>
          <p:cNvSpPr txBox="1"/>
          <p:nvPr/>
        </p:nvSpPr>
        <p:spPr>
          <a:xfrm>
            <a:off x="512064" y="256032"/>
            <a:ext cx="731520" cy="731520"/>
          </a:xfrm>
          <a:prstGeom prst="rect">
            <a:avLst/>
          </a:prstGeom>
          <a:noFill/>
        </p:spPr>
        <p:txBody>
          <a:bodyPr wrap="square" anchor="t" lIns="45720" rIns="45720" tIns="27432" bIns="27432">
            <a:noAutofit/>
          </a:bodyPr>
          <a:lstStyle/>
          <a:p>
            <a:pPr algn="l">
              <a:spcBef>
                <a:spcPts val="0"/>
              </a:spcBef>
              <a:spcAft>
                <a:spcPts val="0"/>
              </a:spcAft>
            </a:pPr>
            <a:r>
              <a:rPr sz="4400" b="1" i="0">
                <a:solidFill>
                  <a:srgbClr val="0E5E6F"/>
                </a:solidFill>
                <a:latin typeface="Georgia"/>
              </a:rPr>
              <a:t>2</a:t>
            </a:r>
          </a:p>
        </p:txBody>
      </p:sp>
      <p:cxnSp>
        <p:nvCxnSpPr>
          <p:cNvPr id="3" name="Connector 2"/>
          <p:cNvCxnSpPr/>
          <p:nvPr/>
        </p:nvCxnSpPr>
        <p:spPr>
          <a:xfrm>
            <a:off x="621792" y="1051560"/>
            <a:ext cx="0" cy="3337560"/>
          </a:xfrm>
          <a:prstGeom prst="line">
            <a:avLst/>
          </a:prstGeom>
          <a:ln w="12700">
            <a:solidFill>
              <a:srgbClr val="C58B4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371600" y="274320"/>
            <a:ext cx="7223760" cy="219456"/>
          </a:xfrm>
          <a:prstGeom prst="rect">
            <a:avLst/>
          </a:prstGeom>
          <a:noFill/>
        </p:spPr>
        <p:txBody>
          <a:bodyPr wrap="square" anchor="t" lIns="45720" rIns="45720" tIns="27432" bIns="27432">
            <a:noAutofit/>
          </a:bodyPr>
          <a:lstStyle/>
          <a:p>
            <a:pPr algn="l">
              <a:spcBef>
                <a:spcPts val="0"/>
              </a:spcBef>
              <a:spcAft>
                <a:spcPts val="0"/>
              </a:spcAft>
            </a:pPr>
            <a:r>
              <a:rPr sz="1100" b="1" i="0">
                <a:solidFill>
                  <a:srgbClr val="0E5E6F"/>
                </a:solidFill>
                <a:latin typeface="Calibri"/>
              </a:rPr>
              <a:t>PROBLEM STATEMENT</a:t>
            </a:r>
          </a:p>
        </p:txBody>
      </p:sp>
      <p:sp>
        <p:nvSpPr>
          <p:cNvPr id="5" name="TextBox 4"/>
          <p:cNvSpPr txBox="1"/>
          <p:nvPr/>
        </p:nvSpPr>
        <p:spPr>
          <a:xfrm>
            <a:off x="548640" y="4818888"/>
            <a:ext cx="5486400" cy="219456"/>
          </a:xfrm>
          <a:prstGeom prst="rect">
            <a:avLst/>
          </a:prstGeom>
          <a:noFill/>
        </p:spPr>
        <p:txBody>
          <a:bodyPr wrap="square" anchor="t" lIns="45720" rIns="45720" tIns="27432" bIns="27432">
            <a:noAutofit/>
          </a:bodyPr>
          <a:lstStyle/>
          <a:p>
            <a:pPr algn="l">
              <a:spcBef>
                <a:spcPts val="0"/>
              </a:spcBef>
              <a:spcAft>
                <a:spcPts val="0"/>
              </a:spcAft>
            </a:pPr>
            <a:r>
              <a:rPr sz="1100" b="0" i="0">
                <a:solidFill>
                  <a:srgbClr val="5B6270"/>
                </a:solidFill>
                <a:latin typeface="Calibri"/>
              </a:rPr>
              <a:t>Order Rescue | synthetic data only | local MVP</a:t>
            </a:r>
          </a:p>
        </p:txBody>
      </p:sp>
      <p:sp>
        <p:nvSpPr>
          <p:cNvPr id="6" name="TextBox 5"/>
          <p:cNvSpPr txBox="1"/>
          <p:nvPr/>
        </p:nvSpPr>
        <p:spPr>
          <a:xfrm>
            <a:off x="7680960" y="4818888"/>
            <a:ext cx="914400" cy="219456"/>
          </a:xfrm>
          <a:prstGeom prst="rect">
            <a:avLst/>
          </a:prstGeom>
          <a:noFill/>
        </p:spPr>
        <p:txBody>
          <a:bodyPr wrap="square" anchor="t" lIns="45720" rIns="45720" tIns="27432" bIns="27432">
            <a:noAutofit/>
          </a:bodyPr>
          <a:lstStyle/>
          <a:p>
            <a:pPr algn="r">
              <a:spcBef>
                <a:spcPts val="0"/>
              </a:spcBef>
              <a:spcAft>
                <a:spcPts val="0"/>
              </a:spcAft>
            </a:pPr>
            <a:r>
              <a:rPr sz="1100" b="0" i="0">
                <a:solidFill>
                  <a:srgbClr val="5B6270"/>
                </a:solidFill>
                <a:latin typeface="Calibri"/>
              </a:rPr>
              <a:t>3 / 15</a:t>
            </a:r>
          </a:p>
        </p:txBody>
      </p:sp>
      <p:cxnSp>
        <p:nvCxnSpPr>
          <p:cNvPr id="7" name="Connector 6"/>
          <p:cNvCxnSpPr/>
          <p:nvPr/>
        </p:nvCxnSpPr>
        <p:spPr>
          <a:xfrm>
            <a:off x="548640" y="4645152"/>
            <a:ext cx="8046720" cy="0"/>
          </a:xfrm>
          <a:prstGeom prst="line">
            <a:avLst/>
          </a:prstGeom>
          <a:ln w="12700">
            <a:solidFill>
              <a:srgbClr val="C58B4B"/>
            </a:solidFill>
          </a:ln>
        </p:spPr>
        <p:style>
          <a:lnRef idx="2">
            <a:schemeClr val="accent1"/>
          </a:lnRef>
          <a:fillRef idx="0">
            <a:schemeClr val="accent1"/>
          </a:fillRef>
          <a:effectRef idx="1">
            <a:schemeClr val="accent1"/>
          </a:effectRef>
          <a:fontRef idx="minor">
            <a:schemeClr val="tx1"/>
          </a:fontRef>
        </p:style>
      </p:cxnSp>
      <p:sp>
        <p:nvSpPr>
          <p:cNvPr id="8" name="Oval 7"/>
          <p:cNvSpPr/>
          <p:nvPr/>
        </p:nvSpPr>
        <p:spPr>
          <a:xfrm>
            <a:off x="498348" y="4594860"/>
            <a:ext cx="100584" cy="100584"/>
          </a:xfrm>
          <a:prstGeom prst="ellipse">
            <a:avLst/>
          </a:prstGeom>
          <a:solidFill>
            <a:srgbClr val="FAF6E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73114" y="4594860"/>
            <a:ext cx="100584" cy="100584"/>
          </a:xfrm>
          <a:prstGeom prst="ellipse">
            <a:avLst/>
          </a:prstGeom>
          <a:solidFill>
            <a:srgbClr val="FAF6E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606731" y="4553712"/>
            <a:ext cx="182880" cy="182880"/>
          </a:xfrm>
          <a:prstGeom prst="ellipse">
            <a:avLst/>
          </a:prstGeom>
          <a:solidFill>
            <a:srgbClr val="0E5E6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222645" y="4594860"/>
            <a:ext cx="100584" cy="100584"/>
          </a:xfrm>
          <a:prstGeom prst="ellipse">
            <a:avLst/>
          </a:prstGeom>
          <a:solidFill>
            <a:srgbClr val="FAF6E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2797411" y="4594860"/>
            <a:ext cx="100584" cy="100584"/>
          </a:xfrm>
          <a:prstGeom prst="ellipse">
            <a:avLst/>
          </a:prstGeom>
          <a:solidFill>
            <a:srgbClr val="FAF6E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3372177" y="4594860"/>
            <a:ext cx="100584" cy="100584"/>
          </a:xfrm>
          <a:prstGeom prst="ellipse">
            <a:avLst/>
          </a:prstGeom>
          <a:solidFill>
            <a:srgbClr val="FAF6E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946942" y="4594860"/>
            <a:ext cx="100584" cy="100584"/>
          </a:xfrm>
          <a:prstGeom prst="ellipse">
            <a:avLst/>
          </a:prstGeom>
          <a:solidFill>
            <a:srgbClr val="FAF6E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521708" y="4594860"/>
            <a:ext cx="100584" cy="100584"/>
          </a:xfrm>
          <a:prstGeom prst="ellipse">
            <a:avLst/>
          </a:prstGeom>
          <a:solidFill>
            <a:srgbClr val="FAF6E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096474" y="4594860"/>
            <a:ext cx="100584" cy="100584"/>
          </a:xfrm>
          <a:prstGeom prst="ellipse">
            <a:avLst/>
          </a:prstGeom>
          <a:solidFill>
            <a:srgbClr val="FAF6E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5671239" y="4594860"/>
            <a:ext cx="100584" cy="100584"/>
          </a:xfrm>
          <a:prstGeom prst="ellipse">
            <a:avLst/>
          </a:prstGeom>
          <a:solidFill>
            <a:srgbClr val="FAF6E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246005" y="4594860"/>
            <a:ext cx="100584" cy="100584"/>
          </a:xfrm>
          <a:prstGeom prst="ellipse">
            <a:avLst/>
          </a:prstGeom>
          <a:solidFill>
            <a:srgbClr val="FAF6E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20771" y="4594860"/>
            <a:ext cx="100584" cy="100584"/>
          </a:xfrm>
          <a:prstGeom prst="ellipse">
            <a:avLst/>
          </a:prstGeom>
          <a:solidFill>
            <a:srgbClr val="FAF6EF"/>
          </a:solidFill>
          <a:ln w="15875">
            <a:solidFill>
              <a:srgbClr val="C58B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395537" y="4594860"/>
            <a:ext cx="100584" cy="100584"/>
          </a:xfrm>
          <a:prstGeom prst="ellipse">
            <a:avLst/>
          </a:prstGeom>
          <a:solidFill>
            <a:srgbClr val="FAF6EF"/>
          </a:solidFill>
          <a:ln w="15875">
            <a:solidFill>
              <a:srgbClr val="C58B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970302" y="4594860"/>
            <a:ext cx="100584" cy="100584"/>
          </a:xfrm>
          <a:prstGeom prst="ellipse">
            <a:avLst/>
          </a:prstGeom>
          <a:solidFill>
            <a:srgbClr val="FAF6EF"/>
          </a:solidFill>
          <a:ln w="15875">
            <a:solidFill>
              <a:srgbClr val="C58B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8545068" y="4594860"/>
            <a:ext cx="100584" cy="100584"/>
          </a:xfrm>
          <a:prstGeom prst="ellipse">
            <a:avLst/>
          </a:prstGeom>
          <a:solidFill>
            <a:srgbClr val="FAF6EF"/>
          </a:solidFill>
          <a:ln w="15875">
            <a:solidFill>
              <a:srgbClr val="C58B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371600" y="502920"/>
            <a:ext cx="7223760" cy="902208"/>
          </a:xfrm>
          <a:prstGeom prst="rect">
            <a:avLst/>
          </a:prstGeom>
          <a:noFill/>
        </p:spPr>
        <p:txBody>
          <a:bodyPr wrap="square" anchor="t" lIns="45720" rIns="45720" tIns="27432" bIns="27432">
            <a:noAutofit/>
          </a:bodyPr>
          <a:lstStyle/>
          <a:p>
            <a:pPr algn="l">
              <a:lnSpc>
                <a:spcPct val="95000"/>
              </a:lnSpc>
              <a:spcBef>
                <a:spcPts val="0"/>
              </a:spcBef>
              <a:spcAft>
                <a:spcPts val="0"/>
              </a:spcAft>
            </a:pPr>
            <a:r>
              <a:rPr sz="2800" b="1" i="0">
                <a:solidFill>
                  <a:srgbClr val="1F2A37"/>
                </a:solidFill>
                <a:latin typeface="Georgia"/>
              </a:rPr>
              <a:t>Problem: a failed attempt is a status, not a cause</a:t>
            </a:r>
          </a:p>
        </p:txBody>
      </p:sp>
      <p:cxnSp>
        <p:nvCxnSpPr>
          <p:cNvPr id="24" name="Connector 23"/>
          <p:cNvCxnSpPr/>
          <p:nvPr/>
        </p:nvCxnSpPr>
        <p:spPr>
          <a:xfrm>
            <a:off x="1371600" y="1554480"/>
            <a:ext cx="3749040" cy="0"/>
          </a:xfrm>
          <a:prstGeom prst="line">
            <a:avLst/>
          </a:prstGeom>
          <a:ln w="9525">
            <a:solidFill>
              <a:srgbClr val="C58B4B"/>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1371600" y="1609344"/>
            <a:ext cx="3749040" cy="603504"/>
          </a:xfrm>
          <a:prstGeom prst="rect">
            <a:avLst/>
          </a:prstGeom>
          <a:noFill/>
        </p:spPr>
        <p:txBody>
          <a:bodyPr wrap="square" anchor="ctr" lIns="45720" rIns="45720" tIns="27432" bIns="27432">
            <a:noAutofit/>
          </a:bodyPr>
          <a:lstStyle/>
          <a:p>
            <a:pPr algn="l">
              <a:spcBef>
                <a:spcPts val="0"/>
              </a:spcBef>
              <a:spcAft>
                <a:spcPts val="0"/>
              </a:spcAft>
            </a:pPr>
            <a:r>
              <a:rPr sz="1600" b="0" i="0">
                <a:solidFill>
                  <a:srgbClr val="1F2A37"/>
                </a:solidFill>
                <a:latin typeface="Calibri"/>
              </a:rPr>
              <a:t>First attempts fail; the raw code is all Ops sees.</a:t>
            </a:r>
          </a:p>
        </p:txBody>
      </p:sp>
      <p:cxnSp>
        <p:nvCxnSpPr>
          <p:cNvPr id="26" name="Connector 25"/>
          <p:cNvCxnSpPr/>
          <p:nvPr/>
        </p:nvCxnSpPr>
        <p:spPr>
          <a:xfrm>
            <a:off x="1371600" y="2267712"/>
            <a:ext cx="3749040" cy="0"/>
          </a:xfrm>
          <a:prstGeom prst="line">
            <a:avLst/>
          </a:prstGeom>
          <a:ln w="9525">
            <a:solidFill>
              <a:srgbClr val="C58B4B"/>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1371600" y="2322576"/>
            <a:ext cx="3749040" cy="603504"/>
          </a:xfrm>
          <a:prstGeom prst="rect">
            <a:avLst/>
          </a:prstGeom>
          <a:noFill/>
        </p:spPr>
        <p:txBody>
          <a:bodyPr wrap="square" anchor="ctr" lIns="45720" rIns="45720" tIns="27432" bIns="27432">
            <a:noAutofit/>
          </a:bodyPr>
          <a:lstStyle/>
          <a:p>
            <a:pPr algn="l">
              <a:spcBef>
                <a:spcPts val="0"/>
              </a:spcBef>
              <a:spcAft>
                <a:spcPts val="0"/>
              </a:spcAft>
            </a:pPr>
            <a:r>
              <a:rPr sz="1600" b="0" i="0">
                <a:solidFill>
                  <a:srgbClr val="1F2A37"/>
                </a:solidFill>
                <a:latin typeface="Calibri"/>
              </a:rPr>
              <a:t>Courier notes are unverified and often vague.</a:t>
            </a:r>
          </a:p>
        </p:txBody>
      </p:sp>
      <p:cxnSp>
        <p:nvCxnSpPr>
          <p:cNvPr id="28" name="Connector 27"/>
          <p:cNvCxnSpPr/>
          <p:nvPr/>
        </p:nvCxnSpPr>
        <p:spPr>
          <a:xfrm>
            <a:off x="1371600" y="2980944"/>
            <a:ext cx="3749040" cy="0"/>
          </a:xfrm>
          <a:prstGeom prst="line">
            <a:avLst/>
          </a:prstGeom>
          <a:ln w="9525">
            <a:solidFill>
              <a:srgbClr val="C58B4B"/>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1371600" y="3035808"/>
            <a:ext cx="3749040" cy="603504"/>
          </a:xfrm>
          <a:prstGeom prst="rect">
            <a:avLst/>
          </a:prstGeom>
          <a:noFill/>
        </p:spPr>
        <p:txBody>
          <a:bodyPr wrap="square" anchor="ctr" lIns="45720" rIns="45720" tIns="27432" bIns="27432">
            <a:noAutofit/>
          </a:bodyPr>
          <a:lstStyle/>
          <a:p>
            <a:pPr algn="l">
              <a:spcBef>
                <a:spcPts val="0"/>
              </a:spcBef>
              <a:spcAft>
                <a:spcPts val="0"/>
              </a:spcAft>
            </a:pPr>
            <a:r>
              <a:rPr sz="1600" b="0" i="0">
                <a:solidFill>
                  <a:srgbClr val="1F2A37"/>
                </a:solidFill>
                <a:latin typeface="Calibri"/>
              </a:rPr>
              <a:t>Wrong guess: a wasted re-attempt, or a lost order.</a:t>
            </a:r>
          </a:p>
        </p:txBody>
      </p:sp>
      <p:cxnSp>
        <p:nvCxnSpPr>
          <p:cNvPr id="30" name="Connector 29"/>
          <p:cNvCxnSpPr/>
          <p:nvPr/>
        </p:nvCxnSpPr>
        <p:spPr>
          <a:xfrm>
            <a:off x="1371600" y="3694176"/>
            <a:ext cx="3749040" cy="0"/>
          </a:xfrm>
          <a:prstGeom prst="line">
            <a:avLst/>
          </a:prstGeom>
          <a:ln w="9525">
            <a:solidFill>
              <a:srgbClr val="C58B4B"/>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1371600" y="3749040"/>
            <a:ext cx="3749040" cy="603504"/>
          </a:xfrm>
          <a:prstGeom prst="rect">
            <a:avLst/>
          </a:prstGeom>
          <a:noFill/>
        </p:spPr>
        <p:txBody>
          <a:bodyPr wrap="square" anchor="ctr" lIns="45720" rIns="45720" tIns="27432" bIns="27432">
            <a:noAutofit/>
          </a:bodyPr>
          <a:lstStyle/>
          <a:p>
            <a:pPr algn="l">
              <a:spcBef>
                <a:spcPts val="0"/>
              </a:spcBef>
              <a:spcAft>
                <a:spcPts val="0"/>
              </a:spcAft>
            </a:pPr>
            <a:r>
              <a:rPr sz="1600" b="0" i="0">
                <a:solidFill>
                  <a:srgbClr val="1F2A37"/>
                </a:solidFill>
                <a:latin typeface="Calibri"/>
              </a:rPr>
              <a:t>No structured record of why a decision was made.</a:t>
            </a:r>
          </a:p>
        </p:txBody>
      </p:sp>
      <p:sp>
        <p:nvSpPr>
          <p:cNvPr id="32" name="Rectangle 31"/>
          <p:cNvSpPr/>
          <p:nvPr/>
        </p:nvSpPr>
        <p:spPr>
          <a:xfrm>
            <a:off x="5577840" y="1600200"/>
            <a:ext cx="3017520" cy="960120"/>
          </a:xfrm>
          <a:prstGeom prst="rect">
            <a:avLst/>
          </a:prstGeom>
          <a:noFill/>
          <a:ln w="28575">
            <a:solidFill>
              <a:srgbClr val="B83A26"/>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Autofit/>
          </a:bodyPr>
          <a:lstStyle/>
          <a:p>
            <a:pPr algn="ctr">
              <a:spcBef>
                <a:spcPts val="0"/>
              </a:spcBef>
              <a:spcAft>
                <a:spcPts val="0"/>
              </a:spcAft>
            </a:pPr>
            <a:r>
              <a:rPr sz="2200" b="0" i="1">
                <a:solidFill>
                  <a:srgbClr val="B83A26"/>
                </a:solidFill>
                <a:latin typeface="Georgia"/>
              </a:rPr>
              <a:t>recipient unavailable</a:t>
            </a:r>
          </a:p>
        </p:txBody>
      </p:sp>
      <p:sp>
        <p:nvSpPr>
          <p:cNvPr id="33" name="TextBox 32"/>
          <p:cNvSpPr txBox="1"/>
          <p:nvPr/>
        </p:nvSpPr>
        <p:spPr>
          <a:xfrm>
            <a:off x="5577840" y="2697480"/>
            <a:ext cx="3017520" cy="868680"/>
          </a:xfrm>
          <a:prstGeom prst="rect">
            <a:avLst/>
          </a:prstGeom>
          <a:noFill/>
        </p:spPr>
        <p:txBody>
          <a:bodyPr wrap="square" anchor="t" lIns="45720" rIns="45720" tIns="27432" bIns="27432">
            <a:noAutofit/>
          </a:bodyPr>
          <a:lstStyle/>
          <a:p>
            <a:pPr algn="l">
              <a:spcBef>
                <a:spcPts val="0"/>
              </a:spcBef>
              <a:spcAft>
                <a:spcPts val="0"/>
              </a:spcAft>
            </a:pPr>
            <a:r>
              <a:rPr sz="1600" b="0" i="0">
                <a:solidFill>
                  <a:srgbClr val="1F2A37"/>
                </a:solidFill>
                <a:latin typeface="Calibri"/>
              </a:rPr>
              <a:t>Could mean: at work, wrong landmark, unreachable phone, or a disrupted route.</a:t>
            </a:r>
          </a:p>
        </p:txBody>
      </p:sp>
      <p:sp>
        <p:nvSpPr>
          <p:cNvPr id="34" name="Rectangle 33"/>
          <p:cNvSpPr/>
          <p:nvPr/>
        </p:nvSpPr>
        <p:spPr>
          <a:xfrm>
            <a:off x="5623560" y="3840480"/>
            <a:ext cx="73152" cy="457200"/>
          </a:xfrm>
          <a:prstGeom prst="rect">
            <a:avLst/>
          </a:prstGeom>
          <a:solidFill>
            <a:srgbClr val="1F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751576" y="3840480"/>
            <a:ext cx="41148" cy="457200"/>
          </a:xfrm>
          <a:prstGeom prst="rect">
            <a:avLst/>
          </a:prstGeom>
          <a:solidFill>
            <a:srgbClr val="1F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879592" y="3840480"/>
            <a:ext cx="41148" cy="457200"/>
          </a:xfrm>
          <a:prstGeom prst="rect">
            <a:avLst/>
          </a:prstGeom>
          <a:solidFill>
            <a:srgbClr val="1F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007608" y="3840480"/>
            <a:ext cx="73152" cy="457200"/>
          </a:xfrm>
          <a:prstGeom prst="rect">
            <a:avLst/>
          </a:prstGeom>
          <a:solidFill>
            <a:srgbClr val="1F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135624" y="3840480"/>
            <a:ext cx="41148" cy="457200"/>
          </a:xfrm>
          <a:prstGeom prst="rect">
            <a:avLst/>
          </a:prstGeom>
          <a:solidFill>
            <a:srgbClr val="1F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263640" y="3840480"/>
            <a:ext cx="41148" cy="457200"/>
          </a:xfrm>
          <a:prstGeom prst="rect">
            <a:avLst/>
          </a:prstGeom>
          <a:solidFill>
            <a:srgbClr val="1F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391656" y="3840480"/>
            <a:ext cx="73152" cy="457200"/>
          </a:xfrm>
          <a:prstGeom prst="rect">
            <a:avLst/>
          </a:prstGeom>
          <a:solidFill>
            <a:srgbClr val="1F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519672" y="3840480"/>
            <a:ext cx="41148" cy="457200"/>
          </a:xfrm>
          <a:prstGeom prst="rect">
            <a:avLst/>
          </a:prstGeom>
          <a:solidFill>
            <a:srgbClr val="1F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647688" y="3840480"/>
            <a:ext cx="41148" cy="457200"/>
          </a:xfrm>
          <a:prstGeom prst="rect">
            <a:avLst/>
          </a:prstGeom>
          <a:solidFill>
            <a:srgbClr val="1F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775704" y="3840480"/>
            <a:ext cx="73152" cy="457200"/>
          </a:xfrm>
          <a:prstGeom prst="rect">
            <a:avLst/>
          </a:prstGeom>
          <a:solidFill>
            <a:srgbClr val="1F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903720" y="3840480"/>
            <a:ext cx="41148" cy="457200"/>
          </a:xfrm>
          <a:prstGeom prst="rect">
            <a:avLst/>
          </a:prstGeom>
          <a:solidFill>
            <a:srgbClr val="1F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7031736" y="3840480"/>
            <a:ext cx="41148" cy="457200"/>
          </a:xfrm>
          <a:prstGeom prst="rect">
            <a:avLst/>
          </a:prstGeom>
          <a:solidFill>
            <a:srgbClr val="1F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7159752" y="3840480"/>
            <a:ext cx="73152" cy="457200"/>
          </a:xfrm>
          <a:prstGeom prst="rect">
            <a:avLst/>
          </a:prstGeom>
          <a:solidFill>
            <a:srgbClr val="1F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7287768" y="3840480"/>
            <a:ext cx="41148" cy="457200"/>
          </a:xfrm>
          <a:prstGeom prst="rect">
            <a:avLst/>
          </a:prstGeom>
          <a:solidFill>
            <a:srgbClr val="1F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7415784" y="3840480"/>
            <a:ext cx="41148" cy="457200"/>
          </a:xfrm>
          <a:prstGeom prst="rect">
            <a:avLst/>
          </a:prstGeom>
          <a:solidFill>
            <a:srgbClr val="1F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543800" y="3840480"/>
            <a:ext cx="73152" cy="457200"/>
          </a:xfrm>
          <a:prstGeom prst="rect">
            <a:avLst/>
          </a:prstGeom>
          <a:solidFill>
            <a:srgbClr val="1F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671816" y="3840480"/>
            <a:ext cx="41148" cy="457200"/>
          </a:xfrm>
          <a:prstGeom prst="rect">
            <a:avLst/>
          </a:prstGeom>
          <a:solidFill>
            <a:srgbClr val="1F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7799832" y="3840480"/>
            <a:ext cx="41148" cy="457200"/>
          </a:xfrm>
          <a:prstGeom prst="rect">
            <a:avLst/>
          </a:prstGeom>
          <a:solidFill>
            <a:srgbClr val="1F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7927848" y="3840480"/>
            <a:ext cx="73152" cy="457200"/>
          </a:xfrm>
          <a:prstGeom prst="rect">
            <a:avLst/>
          </a:prstGeom>
          <a:solidFill>
            <a:srgbClr val="1F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8055864" y="3840480"/>
            <a:ext cx="41148" cy="457200"/>
          </a:xfrm>
          <a:prstGeom prst="rect">
            <a:avLst/>
          </a:prstGeom>
          <a:solidFill>
            <a:srgbClr val="1F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8183880" y="3840480"/>
            <a:ext cx="41148" cy="457200"/>
          </a:xfrm>
          <a:prstGeom prst="rect">
            <a:avLst/>
          </a:prstGeom>
          <a:solidFill>
            <a:srgbClr val="1F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8311896" y="3840480"/>
            <a:ext cx="73152" cy="457200"/>
          </a:xfrm>
          <a:prstGeom prst="rect">
            <a:avLst/>
          </a:prstGeom>
          <a:solidFill>
            <a:srgbClr val="1F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6EF"/>
        </a:solidFill>
        <a:effectLst/>
      </p:bgPr>
    </p:bg>
    <p:spTree>
      <p:nvGrpSpPr>
        <p:cNvPr id="1" name=""/>
        <p:cNvGrpSpPr/>
        <p:nvPr/>
      </p:nvGrpSpPr>
      <p:grpSpPr/>
      <p:sp>
        <p:nvSpPr>
          <p:cNvPr id="2" name="TextBox 1"/>
          <p:cNvSpPr txBox="1"/>
          <p:nvPr/>
        </p:nvSpPr>
        <p:spPr>
          <a:xfrm>
            <a:off x="512064" y="256032"/>
            <a:ext cx="731520" cy="731520"/>
          </a:xfrm>
          <a:prstGeom prst="rect">
            <a:avLst/>
          </a:prstGeom>
          <a:noFill/>
        </p:spPr>
        <p:txBody>
          <a:bodyPr wrap="square" anchor="t" lIns="45720" rIns="45720" tIns="27432" bIns="27432">
            <a:noAutofit/>
          </a:bodyPr>
          <a:lstStyle/>
          <a:p>
            <a:pPr algn="l">
              <a:spcBef>
                <a:spcPts val="0"/>
              </a:spcBef>
              <a:spcAft>
                <a:spcPts val="0"/>
              </a:spcAft>
            </a:pPr>
            <a:r>
              <a:rPr sz="4400" b="1" i="0">
                <a:solidFill>
                  <a:srgbClr val="0E5E6F"/>
                </a:solidFill>
                <a:latin typeface="Georgia"/>
              </a:rPr>
              <a:t>3</a:t>
            </a:r>
          </a:p>
        </p:txBody>
      </p:sp>
      <p:cxnSp>
        <p:nvCxnSpPr>
          <p:cNvPr id="3" name="Connector 2"/>
          <p:cNvCxnSpPr/>
          <p:nvPr/>
        </p:nvCxnSpPr>
        <p:spPr>
          <a:xfrm>
            <a:off x="621792" y="1051560"/>
            <a:ext cx="0" cy="3337560"/>
          </a:xfrm>
          <a:prstGeom prst="line">
            <a:avLst/>
          </a:prstGeom>
          <a:ln w="12700">
            <a:solidFill>
              <a:srgbClr val="C58B4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371600" y="274320"/>
            <a:ext cx="7223760" cy="219456"/>
          </a:xfrm>
          <a:prstGeom prst="rect">
            <a:avLst/>
          </a:prstGeom>
          <a:noFill/>
        </p:spPr>
        <p:txBody>
          <a:bodyPr wrap="square" anchor="t" lIns="45720" rIns="45720" tIns="27432" bIns="27432">
            <a:noAutofit/>
          </a:bodyPr>
          <a:lstStyle/>
          <a:p>
            <a:pPr algn="l">
              <a:spcBef>
                <a:spcPts val="0"/>
              </a:spcBef>
              <a:spcAft>
                <a:spcPts val="0"/>
              </a:spcAft>
            </a:pPr>
            <a:r>
              <a:rPr sz="1100" b="1" i="0">
                <a:solidFill>
                  <a:srgbClr val="0E5E6F"/>
                </a:solidFill>
                <a:latin typeface="Calibri"/>
              </a:rPr>
              <a:t>PRIORITIES</a:t>
            </a:r>
          </a:p>
        </p:txBody>
      </p:sp>
      <p:sp>
        <p:nvSpPr>
          <p:cNvPr id="5" name="TextBox 4"/>
          <p:cNvSpPr txBox="1"/>
          <p:nvPr/>
        </p:nvSpPr>
        <p:spPr>
          <a:xfrm>
            <a:off x="548640" y="4818888"/>
            <a:ext cx="5486400" cy="219456"/>
          </a:xfrm>
          <a:prstGeom prst="rect">
            <a:avLst/>
          </a:prstGeom>
          <a:noFill/>
        </p:spPr>
        <p:txBody>
          <a:bodyPr wrap="square" anchor="t" lIns="45720" rIns="45720" tIns="27432" bIns="27432">
            <a:noAutofit/>
          </a:bodyPr>
          <a:lstStyle/>
          <a:p>
            <a:pPr algn="l">
              <a:spcBef>
                <a:spcPts val="0"/>
              </a:spcBef>
              <a:spcAft>
                <a:spcPts val="0"/>
              </a:spcAft>
            </a:pPr>
            <a:r>
              <a:rPr sz="1100" b="0" i="0">
                <a:solidFill>
                  <a:srgbClr val="5B6270"/>
                </a:solidFill>
                <a:latin typeface="Calibri"/>
              </a:rPr>
              <a:t>Order Rescue | synthetic data only | local MVP</a:t>
            </a:r>
          </a:p>
        </p:txBody>
      </p:sp>
      <p:sp>
        <p:nvSpPr>
          <p:cNvPr id="6" name="TextBox 5"/>
          <p:cNvSpPr txBox="1"/>
          <p:nvPr/>
        </p:nvSpPr>
        <p:spPr>
          <a:xfrm>
            <a:off x="7680960" y="4818888"/>
            <a:ext cx="914400" cy="219456"/>
          </a:xfrm>
          <a:prstGeom prst="rect">
            <a:avLst/>
          </a:prstGeom>
          <a:noFill/>
        </p:spPr>
        <p:txBody>
          <a:bodyPr wrap="square" anchor="t" lIns="45720" rIns="45720" tIns="27432" bIns="27432">
            <a:noAutofit/>
          </a:bodyPr>
          <a:lstStyle/>
          <a:p>
            <a:pPr algn="r">
              <a:spcBef>
                <a:spcPts val="0"/>
              </a:spcBef>
              <a:spcAft>
                <a:spcPts val="0"/>
              </a:spcAft>
            </a:pPr>
            <a:r>
              <a:rPr sz="1100" b="0" i="0">
                <a:solidFill>
                  <a:srgbClr val="5B6270"/>
                </a:solidFill>
                <a:latin typeface="Calibri"/>
              </a:rPr>
              <a:t>4 / 15</a:t>
            </a:r>
          </a:p>
        </p:txBody>
      </p:sp>
      <p:cxnSp>
        <p:nvCxnSpPr>
          <p:cNvPr id="7" name="Connector 6"/>
          <p:cNvCxnSpPr/>
          <p:nvPr/>
        </p:nvCxnSpPr>
        <p:spPr>
          <a:xfrm>
            <a:off x="548640" y="4645152"/>
            <a:ext cx="8046720" cy="0"/>
          </a:xfrm>
          <a:prstGeom prst="line">
            <a:avLst/>
          </a:prstGeom>
          <a:ln w="12700">
            <a:solidFill>
              <a:srgbClr val="C58B4B"/>
            </a:solidFill>
          </a:ln>
        </p:spPr>
        <p:style>
          <a:lnRef idx="2">
            <a:schemeClr val="accent1"/>
          </a:lnRef>
          <a:fillRef idx="0">
            <a:schemeClr val="accent1"/>
          </a:fillRef>
          <a:effectRef idx="1">
            <a:schemeClr val="accent1"/>
          </a:effectRef>
          <a:fontRef idx="minor">
            <a:schemeClr val="tx1"/>
          </a:fontRef>
        </p:style>
      </p:cxnSp>
      <p:sp>
        <p:nvSpPr>
          <p:cNvPr id="8" name="Oval 7"/>
          <p:cNvSpPr/>
          <p:nvPr/>
        </p:nvSpPr>
        <p:spPr>
          <a:xfrm>
            <a:off x="498348" y="4594860"/>
            <a:ext cx="100584" cy="100584"/>
          </a:xfrm>
          <a:prstGeom prst="ellipse">
            <a:avLst/>
          </a:prstGeom>
          <a:solidFill>
            <a:srgbClr val="FAF6E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73114" y="4594860"/>
            <a:ext cx="100584" cy="100584"/>
          </a:xfrm>
          <a:prstGeom prst="ellipse">
            <a:avLst/>
          </a:prstGeom>
          <a:solidFill>
            <a:srgbClr val="FAF6E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647879" y="4594860"/>
            <a:ext cx="100584" cy="100584"/>
          </a:xfrm>
          <a:prstGeom prst="ellipse">
            <a:avLst/>
          </a:prstGeom>
          <a:solidFill>
            <a:srgbClr val="FAF6E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181497" y="4553712"/>
            <a:ext cx="182880" cy="182880"/>
          </a:xfrm>
          <a:prstGeom prst="ellipse">
            <a:avLst/>
          </a:prstGeom>
          <a:solidFill>
            <a:srgbClr val="0E5E6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2797411" y="4594860"/>
            <a:ext cx="100584" cy="100584"/>
          </a:xfrm>
          <a:prstGeom prst="ellipse">
            <a:avLst/>
          </a:prstGeom>
          <a:solidFill>
            <a:srgbClr val="FAF6E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3372177" y="4594860"/>
            <a:ext cx="100584" cy="100584"/>
          </a:xfrm>
          <a:prstGeom prst="ellipse">
            <a:avLst/>
          </a:prstGeom>
          <a:solidFill>
            <a:srgbClr val="FAF6E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946942" y="4594860"/>
            <a:ext cx="100584" cy="100584"/>
          </a:xfrm>
          <a:prstGeom prst="ellipse">
            <a:avLst/>
          </a:prstGeom>
          <a:solidFill>
            <a:srgbClr val="FAF6E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521708" y="4594860"/>
            <a:ext cx="100584" cy="100584"/>
          </a:xfrm>
          <a:prstGeom prst="ellipse">
            <a:avLst/>
          </a:prstGeom>
          <a:solidFill>
            <a:srgbClr val="FAF6E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096474" y="4594860"/>
            <a:ext cx="100584" cy="100584"/>
          </a:xfrm>
          <a:prstGeom prst="ellipse">
            <a:avLst/>
          </a:prstGeom>
          <a:solidFill>
            <a:srgbClr val="FAF6E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5671239" y="4594860"/>
            <a:ext cx="100584" cy="100584"/>
          </a:xfrm>
          <a:prstGeom prst="ellipse">
            <a:avLst/>
          </a:prstGeom>
          <a:solidFill>
            <a:srgbClr val="FAF6E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246005" y="4594860"/>
            <a:ext cx="100584" cy="100584"/>
          </a:xfrm>
          <a:prstGeom prst="ellipse">
            <a:avLst/>
          </a:prstGeom>
          <a:solidFill>
            <a:srgbClr val="FAF6E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20771" y="4594860"/>
            <a:ext cx="100584" cy="100584"/>
          </a:xfrm>
          <a:prstGeom prst="ellipse">
            <a:avLst/>
          </a:prstGeom>
          <a:solidFill>
            <a:srgbClr val="FAF6EF"/>
          </a:solidFill>
          <a:ln w="15875">
            <a:solidFill>
              <a:srgbClr val="C58B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395537" y="4594860"/>
            <a:ext cx="100584" cy="100584"/>
          </a:xfrm>
          <a:prstGeom prst="ellipse">
            <a:avLst/>
          </a:prstGeom>
          <a:solidFill>
            <a:srgbClr val="FAF6EF"/>
          </a:solidFill>
          <a:ln w="15875">
            <a:solidFill>
              <a:srgbClr val="C58B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970302" y="4594860"/>
            <a:ext cx="100584" cy="100584"/>
          </a:xfrm>
          <a:prstGeom prst="ellipse">
            <a:avLst/>
          </a:prstGeom>
          <a:solidFill>
            <a:srgbClr val="FAF6EF"/>
          </a:solidFill>
          <a:ln w="15875">
            <a:solidFill>
              <a:srgbClr val="C58B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8545068" y="4594860"/>
            <a:ext cx="100584" cy="100584"/>
          </a:xfrm>
          <a:prstGeom prst="ellipse">
            <a:avLst/>
          </a:prstGeom>
          <a:solidFill>
            <a:srgbClr val="FAF6EF"/>
          </a:solidFill>
          <a:ln w="15875">
            <a:solidFill>
              <a:srgbClr val="C58B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371600" y="502920"/>
            <a:ext cx="7223760" cy="902208"/>
          </a:xfrm>
          <a:prstGeom prst="rect">
            <a:avLst/>
          </a:prstGeom>
          <a:noFill/>
        </p:spPr>
        <p:txBody>
          <a:bodyPr wrap="square" anchor="t" lIns="45720" rIns="45720" tIns="27432" bIns="27432">
            <a:noAutofit/>
          </a:bodyPr>
          <a:lstStyle/>
          <a:p>
            <a:pPr algn="l">
              <a:lnSpc>
                <a:spcPct val="95000"/>
              </a:lnSpc>
              <a:spcBef>
                <a:spcPts val="0"/>
              </a:spcBef>
              <a:spcAft>
                <a:spcPts val="0"/>
              </a:spcAft>
            </a:pPr>
            <a:r>
              <a:rPr sz="2800" b="1" i="0">
                <a:solidFill>
                  <a:srgbClr val="1F2A37"/>
                </a:solidFill>
                <a:latin typeface="Georgia"/>
              </a:rPr>
              <a:t>Priorities: what we built, what we left out</a:t>
            </a:r>
          </a:p>
        </p:txBody>
      </p:sp>
      <p:cxnSp>
        <p:nvCxnSpPr>
          <p:cNvPr id="24" name="Connector 23"/>
          <p:cNvCxnSpPr/>
          <p:nvPr/>
        </p:nvCxnSpPr>
        <p:spPr>
          <a:xfrm>
            <a:off x="4983480" y="1508760"/>
            <a:ext cx="0" cy="2880360"/>
          </a:xfrm>
          <a:prstGeom prst="line">
            <a:avLst/>
          </a:prstGeom>
          <a:ln w="9525">
            <a:solidFill>
              <a:srgbClr val="C58B4B"/>
            </a:solidFill>
            <a:prstDash val="dash"/>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1371600" y="1463040"/>
            <a:ext cx="3337560" cy="411480"/>
          </a:xfrm>
          <a:prstGeom prst="rect">
            <a:avLst/>
          </a:prstGeom>
          <a:noFill/>
        </p:spPr>
        <p:txBody>
          <a:bodyPr wrap="square" anchor="t" lIns="45720" rIns="45720" tIns="27432" bIns="27432">
            <a:noAutofit/>
          </a:bodyPr>
          <a:lstStyle/>
          <a:p>
            <a:pPr algn="l">
              <a:spcBef>
                <a:spcPts val="0"/>
              </a:spcBef>
              <a:spcAft>
                <a:spcPts val="0"/>
              </a:spcAft>
            </a:pPr>
            <a:r>
              <a:rPr sz="2000" b="1" i="0">
                <a:solidFill>
                  <a:srgbClr val="0E5E6F"/>
                </a:solidFill>
                <a:latin typeface="Georgia"/>
              </a:rPr>
              <a:t>IN the MVP</a:t>
            </a:r>
          </a:p>
        </p:txBody>
      </p:sp>
      <p:cxnSp>
        <p:nvCxnSpPr>
          <p:cNvPr id="26" name="Connector 25"/>
          <p:cNvCxnSpPr/>
          <p:nvPr/>
        </p:nvCxnSpPr>
        <p:spPr>
          <a:xfrm>
            <a:off x="1371600" y="1920240"/>
            <a:ext cx="3337560" cy="0"/>
          </a:xfrm>
          <a:prstGeom prst="line">
            <a:avLst/>
          </a:prstGeom>
          <a:ln w="28575">
            <a:solidFill>
              <a:srgbClr val="0E5E6F"/>
            </a:solidFill>
          </a:ln>
        </p:spPr>
        <p:style>
          <a:lnRef idx="2">
            <a:schemeClr val="accent1"/>
          </a:lnRef>
          <a:fillRef idx="0">
            <a:schemeClr val="accent1"/>
          </a:fillRef>
          <a:effectRef idx="1">
            <a:schemeClr val="accent1"/>
          </a:effectRef>
          <a:fontRef idx="minor">
            <a:schemeClr val="tx1"/>
          </a:fontRef>
        </p:style>
      </p:cxnSp>
      <p:sp>
        <p:nvSpPr>
          <p:cNvPr id="27" name="Oval 26"/>
          <p:cNvSpPr/>
          <p:nvPr/>
        </p:nvSpPr>
        <p:spPr>
          <a:xfrm>
            <a:off x="1417320" y="2176272"/>
            <a:ext cx="164592" cy="164592"/>
          </a:xfrm>
          <a:prstGeom prst="ellipse">
            <a:avLst/>
          </a:prstGeom>
          <a:solidFill>
            <a:srgbClr val="0E5E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664208" y="2057400"/>
            <a:ext cx="3044952" cy="402336"/>
          </a:xfrm>
          <a:prstGeom prst="rect">
            <a:avLst/>
          </a:prstGeom>
          <a:noFill/>
        </p:spPr>
        <p:txBody>
          <a:bodyPr wrap="square" anchor="ctr" lIns="45720" rIns="45720" tIns="27432" bIns="27432">
            <a:noAutofit/>
          </a:bodyPr>
          <a:lstStyle/>
          <a:p>
            <a:pPr algn="l">
              <a:spcBef>
                <a:spcPts val="0"/>
              </a:spcBef>
              <a:spcAft>
                <a:spcPts val="0"/>
              </a:spcAft>
            </a:pPr>
            <a:r>
              <a:rPr sz="1500" b="0" i="0">
                <a:solidFill>
                  <a:srgbClr val="1F2A37"/>
                </a:solidFill>
                <a:latin typeface="Calibri"/>
              </a:rPr>
              <a:t>Evidence-backed assessment</a:t>
            </a:r>
          </a:p>
        </p:txBody>
      </p:sp>
      <p:sp>
        <p:nvSpPr>
          <p:cNvPr id="29" name="Oval 28"/>
          <p:cNvSpPr/>
          <p:nvPr/>
        </p:nvSpPr>
        <p:spPr>
          <a:xfrm>
            <a:off x="1417320" y="2633472"/>
            <a:ext cx="164592" cy="164592"/>
          </a:xfrm>
          <a:prstGeom prst="ellipse">
            <a:avLst/>
          </a:prstGeom>
          <a:solidFill>
            <a:srgbClr val="0E5E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664208" y="2514600"/>
            <a:ext cx="3044952" cy="402336"/>
          </a:xfrm>
          <a:prstGeom prst="rect">
            <a:avLst/>
          </a:prstGeom>
          <a:noFill/>
        </p:spPr>
        <p:txBody>
          <a:bodyPr wrap="square" anchor="ctr" lIns="45720" rIns="45720" tIns="27432" bIns="27432">
            <a:noAutofit/>
          </a:bodyPr>
          <a:lstStyle/>
          <a:p>
            <a:pPr algn="l">
              <a:spcBef>
                <a:spcPts val="0"/>
              </a:spcBef>
              <a:spcAft>
                <a:spcPts val="0"/>
              </a:spcAft>
            </a:pPr>
            <a:r>
              <a:rPr sz="1500" b="0" i="0">
                <a:solidFill>
                  <a:srgbClr val="1F2A37"/>
                </a:solidFill>
                <a:latin typeface="Calibri"/>
              </a:rPr>
              <a:t>One buyer question, max</a:t>
            </a:r>
          </a:p>
        </p:txBody>
      </p:sp>
      <p:sp>
        <p:nvSpPr>
          <p:cNvPr id="31" name="Oval 30"/>
          <p:cNvSpPr/>
          <p:nvPr/>
        </p:nvSpPr>
        <p:spPr>
          <a:xfrm>
            <a:off x="1417320" y="3090672"/>
            <a:ext cx="164592" cy="164592"/>
          </a:xfrm>
          <a:prstGeom prst="ellipse">
            <a:avLst/>
          </a:prstGeom>
          <a:solidFill>
            <a:srgbClr val="0E5E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664208" y="2971800"/>
            <a:ext cx="3044952" cy="402336"/>
          </a:xfrm>
          <a:prstGeom prst="rect">
            <a:avLst/>
          </a:prstGeom>
          <a:noFill/>
        </p:spPr>
        <p:txBody>
          <a:bodyPr wrap="square" anchor="ctr" lIns="45720" rIns="45720" tIns="27432" bIns="27432">
            <a:noAutofit/>
          </a:bodyPr>
          <a:lstStyle/>
          <a:p>
            <a:pPr algn="l">
              <a:spcBef>
                <a:spcPts val="0"/>
              </a:spcBef>
              <a:spcAft>
                <a:spcPts val="0"/>
              </a:spcAft>
            </a:pPr>
            <a:r>
              <a:rPr sz="1500" b="0" i="0">
                <a:solidFill>
                  <a:srgbClr val="1F2A37"/>
                </a:solidFill>
                <a:latin typeface="Calibri"/>
              </a:rPr>
              <a:t>Deterministic policy gate</a:t>
            </a:r>
          </a:p>
        </p:txBody>
      </p:sp>
      <p:sp>
        <p:nvSpPr>
          <p:cNvPr id="33" name="Oval 32"/>
          <p:cNvSpPr/>
          <p:nvPr/>
        </p:nvSpPr>
        <p:spPr>
          <a:xfrm>
            <a:off x="1417320" y="3547872"/>
            <a:ext cx="164592" cy="164592"/>
          </a:xfrm>
          <a:prstGeom prst="ellipse">
            <a:avLst/>
          </a:prstGeom>
          <a:solidFill>
            <a:srgbClr val="0E5E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664208" y="3429000"/>
            <a:ext cx="3044952" cy="402336"/>
          </a:xfrm>
          <a:prstGeom prst="rect">
            <a:avLst/>
          </a:prstGeom>
          <a:noFill/>
        </p:spPr>
        <p:txBody>
          <a:bodyPr wrap="square" anchor="ctr" lIns="45720" rIns="45720" tIns="27432" bIns="27432">
            <a:noAutofit/>
          </a:bodyPr>
          <a:lstStyle/>
          <a:p>
            <a:pPr algn="l">
              <a:spcBef>
                <a:spcPts val="0"/>
              </a:spcBef>
              <a:spcAft>
                <a:spcPts val="0"/>
              </a:spcAft>
            </a:pPr>
            <a:r>
              <a:rPr sz="1500" b="0" i="0">
                <a:solidFill>
                  <a:srgbClr val="1F2A37"/>
                </a:solidFill>
                <a:latin typeface="Calibri"/>
              </a:rPr>
              <a:t>Recommendation to Ops only</a:t>
            </a:r>
          </a:p>
        </p:txBody>
      </p:sp>
      <p:sp>
        <p:nvSpPr>
          <p:cNvPr id="35" name="Oval 34"/>
          <p:cNvSpPr/>
          <p:nvPr/>
        </p:nvSpPr>
        <p:spPr>
          <a:xfrm>
            <a:off x="1417320" y="4005072"/>
            <a:ext cx="164592" cy="164592"/>
          </a:xfrm>
          <a:prstGeom prst="ellipse">
            <a:avLst/>
          </a:prstGeom>
          <a:solidFill>
            <a:srgbClr val="0E5E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664208" y="3886200"/>
            <a:ext cx="3044952" cy="402336"/>
          </a:xfrm>
          <a:prstGeom prst="rect">
            <a:avLst/>
          </a:prstGeom>
          <a:noFill/>
        </p:spPr>
        <p:txBody>
          <a:bodyPr wrap="square" anchor="ctr" lIns="45720" rIns="45720" tIns="27432" bIns="27432">
            <a:noAutofit/>
          </a:bodyPr>
          <a:lstStyle/>
          <a:p>
            <a:pPr algn="l">
              <a:spcBef>
                <a:spcPts val="0"/>
              </a:spcBef>
              <a:spcAft>
                <a:spcPts val="0"/>
              </a:spcAft>
            </a:pPr>
            <a:r>
              <a:rPr sz="1500" b="0" i="0">
                <a:solidFill>
                  <a:srgbClr val="1F2A37"/>
                </a:solidFill>
                <a:latin typeface="Calibri"/>
              </a:rPr>
              <a:t>Audit trail per decision</a:t>
            </a:r>
          </a:p>
        </p:txBody>
      </p:sp>
      <p:sp>
        <p:nvSpPr>
          <p:cNvPr id="37" name="TextBox 36"/>
          <p:cNvSpPr txBox="1"/>
          <p:nvPr/>
        </p:nvSpPr>
        <p:spPr>
          <a:xfrm>
            <a:off x="5257800" y="1463040"/>
            <a:ext cx="3337560" cy="411480"/>
          </a:xfrm>
          <a:prstGeom prst="rect">
            <a:avLst/>
          </a:prstGeom>
          <a:noFill/>
        </p:spPr>
        <p:txBody>
          <a:bodyPr wrap="square" anchor="t" lIns="45720" rIns="45720" tIns="27432" bIns="27432">
            <a:noAutofit/>
          </a:bodyPr>
          <a:lstStyle/>
          <a:p>
            <a:pPr algn="l">
              <a:spcBef>
                <a:spcPts val="0"/>
              </a:spcBef>
              <a:spcAft>
                <a:spcPts val="0"/>
              </a:spcAft>
            </a:pPr>
            <a:r>
              <a:rPr sz="2000" b="1" i="0">
                <a:solidFill>
                  <a:srgbClr val="B83A26"/>
                </a:solidFill>
                <a:latin typeface="Georgia"/>
              </a:rPr>
              <a:t>Deliberately OUT</a:t>
            </a:r>
          </a:p>
        </p:txBody>
      </p:sp>
      <p:cxnSp>
        <p:nvCxnSpPr>
          <p:cNvPr id="38" name="Connector 37"/>
          <p:cNvCxnSpPr/>
          <p:nvPr/>
        </p:nvCxnSpPr>
        <p:spPr>
          <a:xfrm>
            <a:off x="5257800" y="1920240"/>
            <a:ext cx="3337560" cy="0"/>
          </a:xfrm>
          <a:prstGeom prst="line">
            <a:avLst/>
          </a:prstGeom>
          <a:ln w="28575">
            <a:solidFill>
              <a:srgbClr val="B83A26"/>
            </a:solidFill>
          </a:ln>
        </p:spPr>
        <p:style>
          <a:lnRef idx="2">
            <a:schemeClr val="accent1"/>
          </a:lnRef>
          <a:fillRef idx="0">
            <a:schemeClr val="accent1"/>
          </a:fillRef>
          <a:effectRef idx="1">
            <a:schemeClr val="accent1"/>
          </a:effectRef>
          <a:fontRef idx="minor">
            <a:schemeClr val="tx1"/>
          </a:fontRef>
        </p:style>
      </p:cxnSp>
      <p:sp>
        <p:nvSpPr>
          <p:cNvPr id="39" name="Oval 38"/>
          <p:cNvSpPr/>
          <p:nvPr/>
        </p:nvSpPr>
        <p:spPr>
          <a:xfrm>
            <a:off x="5303520" y="2176272"/>
            <a:ext cx="164592" cy="164592"/>
          </a:xfrm>
          <a:prstGeom prst="ellipse">
            <a:avLst/>
          </a:prstGeom>
          <a:noFill/>
          <a:ln w="19050">
            <a:solidFill>
              <a:srgbClr val="B83A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0" name="Connector 39"/>
          <p:cNvCxnSpPr/>
          <p:nvPr/>
        </p:nvCxnSpPr>
        <p:spPr>
          <a:xfrm>
            <a:off x="5340096" y="2258568"/>
            <a:ext cx="91440" cy="0"/>
          </a:xfrm>
          <a:prstGeom prst="line">
            <a:avLst/>
          </a:prstGeom>
          <a:ln w="19050">
            <a:solidFill>
              <a:srgbClr val="B83A26"/>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5550408" y="2057400"/>
            <a:ext cx="3044952" cy="402336"/>
          </a:xfrm>
          <a:prstGeom prst="rect">
            <a:avLst/>
          </a:prstGeom>
          <a:noFill/>
        </p:spPr>
        <p:txBody>
          <a:bodyPr wrap="square" anchor="ctr" lIns="45720" rIns="45720" tIns="27432" bIns="27432">
            <a:noAutofit/>
          </a:bodyPr>
          <a:lstStyle/>
          <a:p>
            <a:pPr algn="l">
              <a:spcBef>
                <a:spcPts val="0"/>
              </a:spcBef>
              <a:spcAft>
                <a:spcPts val="0"/>
              </a:spcAft>
            </a:pPr>
            <a:r>
              <a:rPr sz="1500" b="0" i="0">
                <a:solidFill>
                  <a:srgbClr val="1F2A37"/>
                </a:solidFill>
                <a:latin typeface="Calibri"/>
              </a:rPr>
              <a:t>Live Shopee/SPX data or APIs</a:t>
            </a:r>
          </a:p>
        </p:txBody>
      </p:sp>
      <p:sp>
        <p:nvSpPr>
          <p:cNvPr id="42" name="Oval 41"/>
          <p:cNvSpPr/>
          <p:nvPr/>
        </p:nvSpPr>
        <p:spPr>
          <a:xfrm>
            <a:off x="5303520" y="2633472"/>
            <a:ext cx="164592" cy="164592"/>
          </a:xfrm>
          <a:prstGeom prst="ellipse">
            <a:avLst/>
          </a:prstGeom>
          <a:noFill/>
          <a:ln w="19050">
            <a:solidFill>
              <a:srgbClr val="B83A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3" name="Connector 42"/>
          <p:cNvCxnSpPr/>
          <p:nvPr/>
        </p:nvCxnSpPr>
        <p:spPr>
          <a:xfrm>
            <a:off x="5340096" y="2715768"/>
            <a:ext cx="91440" cy="0"/>
          </a:xfrm>
          <a:prstGeom prst="line">
            <a:avLst/>
          </a:prstGeom>
          <a:ln w="19050">
            <a:solidFill>
              <a:srgbClr val="B83A26"/>
            </a:solidFill>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5550408" y="2514600"/>
            <a:ext cx="3044952" cy="402336"/>
          </a:xfrm>
          <a:prstGeom prst="rect">
            <a:avLst/>
          </a:prstGeom>
          <a:noFill/>
        </p:spPr>
        <p:txBody>
          <a:bodyPr wrap="square" anchor="ctr" lIns="45720" rIns="45720" tIns="27432" bIns="27432">
            <a:noAutofit/>
          </a:bodyPr>
          <a:lstStyle/>
          <a:p>
            <a:pPr algn="l">
              <a:spcBef>
                <a:spcPts val="0"/>
              </a:spcBef>
              <a:spcAft>
                <a:spcPts val="0"/>
              </a:spcAft>
            </a:pPr>
            <a:r>
              <a:rPr sz="1500" b="0" i="0">
                <a:solidFill>
                  <a:srgbClr val="1F2A37"/>
                </a:solidFill>
                <a:latin typeface="Calibri"/>
              </a:rPr>
              <a:t>Real buyer messaging</a:t>
            </a:r>
          </a:p>
        </p:txBody>
      </p:sp>
      <p:sp>
        <p:nvSpPr>
          <p:cNvPr id="45" name="Oval 44"/>
          <p:cNvSpPr/>
          <p:nvPr/>
        </p:nvSpPr>
        <p:spPr>
          <a:xfrm>
            <a:off x="5303520" y="3090672"/>
            <a:ext cx="164592" cy="164592"/>
          </a:xfrm>
          <a:prstGeom prst="ellipse">
            <a:avLst/>
          </a:prstGeom>
          <a:noFill/>
          <a:ln w="19050">
            <a:solidFill>
              <a:srgbClr val="B83A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6" name="Connector 45"/>
          <p:cNvCxnSpPr/>
          <p:nvPr/>
        </p:nvCxnSpPr>
        <p:spPr>
          <a:xfrm>
            <a:off x="5340096" y="3172968"/>
            <a:ext cx="91440" cy="0"/>
          </a:xfrm>
          <a:prstGeom prst="line">
            <a:avLst/>
          </a:prstGeom>
          <a:ln w="19050">
            <a:solidFill>
              <a:srgbClr val="B83A26"/>
            </a:solidFill>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5550408" y="2971800"/>
            <a:ext cx="3044952" cy="402336"/>
          </a:xfrm>
          <a:prstGeom prst="rect">
            <a:avLst/>
          </a:prstGeom>
          <a:noFill/>
        </p:spPr>
        <p:txBody>
          <a:bodyPr wrap="square" anchor="ctr" lIns="45720" rIns="45720" tIns="27432" bIns="27432">
            <a:noAutofit/>
          </a:bodyPr>
          <a:lstStyle/>
          <a:p>
            <a:pPr algn="l">
              <a:spcBef>
                <a:spcPts val="0"/>
              </a:spcBef>
              <a:spcAft>
                <a:spcPts val="0"/>
              </a:spcAft>
            </a:pPr>
            <a:r>
              <a:rPr sz="1500" b="0" i="0">
                <a:solidFill>
                  <a:srgbClr val="1F2A37"/>
                </a:solidFill>
                <a:latin typeface="Calibri"/>
              </a:rPr>
              <a:t>Courier dispatch, exact slots</a:t>
            </a:r>
          </a:p>
        </p:txBody>
      </p:sp>
      <p:sp>
        <p:nvSpPr>
          <p:cNvPr id="48" name="Oval 47"/>
          <p:cNvSpPr/>
          <p:nvPr/>
        </p:nvSpPr>
        <p:spPr>
          <a:xfrm>
            <a:off x="5303520" y="3547872"/>
            <a:ext cx="164592" cy="164592"/>
          </a:xfrm>
          <a:prstGeom prst="ellipse">
            <a:avLst/>
          </a:prstGeom>
          <a:noFill/>
          <a:ln w="19050">
            <a:solidFill>
              <a:srgbClr val="B83A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9" name="Connector 48"/>
          <p:cNvCxnSpPr/>
          <p:nvPr/>
        </p:nvCxnSpPr>
        <p:spPr>
          <a:xfrm>
            <a:off x="5340096" y="3630168"/>
            <a:ext cx="91440" cy="0"/>
          </a:xfrm>
          <a:prstGeom prst="line">
            <a:avLst/>
          </a:prstGeom>
          <a:ln w="19050">
            <a:solidFill>
              <a:srgbClr val="B83A26"/>
            </a:solidFill>
          </a:ln>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5550408" y="3429000"/>
            <a:ext cx="3044952" cy="402336"/>
          </a:xfrm>
          <a:prstGeom prst="rect">
            <a:avLst/>
          </a:prstGeom>
          <a:noFill/>
        </p:spPr>
        <p:txBody>
          <a:bodyPr wrap="square" anchor="ctr" lIns="45720" rIns="45720" tIns="27432" bIns="27432">
            <a:noAutofit/>
          </a:bodyPr>
          <a:lstStyle/>
          <a:p>
            <a:pPr algn="l">
              <a:spcBef>
                <a:spcPts val="0"/>
              </a:spcBef>
              <a:spcAft>
                <a:spcPts val="0"/>
              </a:spcAft>
            </a:pPr>
            <a:r>
              <a:rPr sz="1500" b="0" i="0">
                <a:solidFill>
                  <a:srgbClr val="1F2A37"/>
                </a:solidFill>
                <a:latin typeface="Calibri"/>
              </a:rPr>
              <a:t>Address or COD changes</a:t>
            </a:r>
          </a:p>
        </p:txBody>
      </p:sp>
      <p:sp>
        <p:nvSpPr>
          <p:cNvPr id="51" name="Oval 50"/>
          <p:cNvSpPr/>
          <p:nvPr/>
        </p:nvSpPr>
        <p:spPr>
          <a:xfrm>
            <a:off x="5303520" y="4005072"/>
            <a:ext cx="164592" cy="164592"/>
          </a:xfrm>
          <a:prstGeom prst="ellipse">
            <a:avLst/>
          </a:prstGeom>
          <a:noFill/>
          <a:ln w="19050">
            <a:solidFill>
              <a:srgbClr val="B83A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2" name="Connector 51"/>
          <p:cNvCxnSpPr/>
          <p:nvPr/>
        </p:nvCxnSpPr>
        <p:spPr>
          <a:xfrm>
            <a:off x="5340096" y="4087368"/>
            <a:ext cx="91440" cy="0"/>
          </a:xfrm>
          <a:prstGeom prst="line">
            <a:avLst/>
          </a:prstGeom>
          <a:ln w="19050">
            <a:solidFill>
              <a:srgbClr val="B83A26"/>
            </a:solidFill>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5550408" y="3886200"/>
            <a:ext cx="3044952" cy="402336"/>
          </a:xfrm>
          <a:prstGeom prst="rect">
            <a:avLst/>
          </a:prstGeom>
          <a:noFill/>
        </p:spPr>
        <p:txBody>
          <a:bodyPr wrap="square" anchor="ctr" lIns="45720" rIns="45720" tIns="27432" bIns="27432">
            <a:noAutofit/>
          </a:bodyPr>
          <a:lstStyle/>
          <a:p>
            <a:pPr algn="l">
              <a:spcBef>
                <a:spcPts val="0"/>
              </a:spcBef>
              <a:spcAft>
                <a:spcPts val="0"/>
              </a:spcAft>
            </a:pPr>
            <a:r>
              <a:rPr sz="1500" b="0" i="0">
                <a:solidFill>
                  <a:srgbClr val="1F2A37"/>
                </a:solidFill>
                <a:latin typeface="Calibri"/>
              </a:rPr>
              <a:t>Returns and refunds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6EF"/>
        </a:solidFill>
        <a:effectLst/>
      </p:bgPr>
    </p:bg>
    <p:spTree>
      <p:nvGrpSpPr>
        <p:cNvPr id="1" name=""/>
        <p:cNvGrpSpPr/>
        <p:nvPr/>
      </p:nvGrpSpPr>
      <p:grpSpPr/>
      <p:sp>
        <p:nvSpPr>
          <p:cNvPr id="2" name="TextBox 1"/>
          <p:cNvSpPr txBox="1"/>
          <p:nvPr/>
        </p:nvSpPr>
        <p:spPr>
          <a:xfrm>
            <a:off x="512064" y="256032"/>
            <a:ext cx="731520" cy="731520"/>
          </a:xfrm>
          <a:prstGeom prst="rect">
            <a:avLst/>
          </a:prstGeom>
          <a:noFill/>
        </p:spPr>
        <p:txBody>
          <a:bodyPr wrap="square" anchor="t" lIns="45720" rIns="45720" tIns="27432" bIns="27432">
            <a:noAutofit/>
          </a:bodyPr>
          <a:lstStyle/>
          <a:p>
            <a:pPr algn="l">
              <a:spcBef>
                <a:spcPts val="0"/>
              </a:spcBef>
              <a:spcAft>
                <a:spcPts val="0"/>
              </a:spcAft>
            </a:pPr>
            <a:r>
              <a:rPr sz="4400" b="1" i="0">
                <a:solidFill>
                  <a:srgbClr val="0E5E6F"/>
                </a:solidFill>
                <a:latin typeface="Georgia"/>
              </a:rPr>
              <a:t>4</a:t>
            </a:r>
          </a:p>
        </p:txBody>
      </p:sp>
      <p:cxnSp>
        <p:nvCxnSpPr>
          <p:cNvPr id="3" name="Connector 2"/>
          <p:cNvCxnSpPr/>
          <p:nvPr/>
        </p:nvCxnSpPr>
        <p:spPr>
          <a:xfrm>
            <a:off x="621792" y="1051560"/>
            <a:ext cx="0" cy="3337560"/>
          </a:xfrm>
          <a:prstGeom prst="line">
            <a:avLst/>
          </a:prstGeom>
          <a:ln w="12700">
            <a:solidFill>
              <a:srgbClr val="C58B4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371600" y="274320"/>
            <a:ext cx="7223760" cy="219456"/>
          </a:xfrm>
          <a:prstGeom prst="rect">
            <a:avLst/>
          </a:prstGeom>
          <a:noFill/>
        </p:spPr>
        <p:txBody>
          <a:bodyPr wrap="square" anchor="t" lIns="45720" rIns="45720" tIns="27432" bIns="27432">
            <a:noAutofit/>
          </a:bodyPr>
          <a:lstStyle/>
          <a:p>
            <a:pPr algn="l">
              <a:spcBef>
                <a:spcPts val="0"/>
              </a:spcBef>
              <a:spcAft>
                <a:spcPts val="0"/>
              </a:spcAft>
            </a:pPr>
            <a:r>
              <a:rPr sz="1100" b="1" i="0">
                <a:solidFill>
                  <a:srgbClr val="0E5E6F"/>
                </a:solidFill>
                <a:latin typeface="Calibri"/>
              </a:rPr>
              <a:t>SOLUTION</a:t>
            </a:r>
          </a:p>
        </p:txBody>
      </p:sp>
      <p:sp>
        <p:nvSpPr>
          <p:cNvPr id="5" name="TextBox 4"/>
          <p:cNvSpPr txBox="1"/>
          <p:nvPr/>
        </p:nvSpPr>
        <p:spPr>
          <a:xfrm>
            <a:off x="548640" y="4818888"/>
            <a:ext cx="5486400" cy="219456"/>
          </a:xfrm>
          <a:prstGeom prst="rect">
            <a:avLst/>
          </a:prstGeom>
          <a:noFill/>
        </p:spPr>
        <p:txBody>
          <a:bodyPr wrap="square" anchor="t" lIns="45720" rIns="45720" tIns="27432" bIns="27432">
            <a:noAutofit/>
          </a:bodyPr>
          <a:lstStyle/>
          <a:p>
            <a:pPr algn="l">
              <a:spcBef>
                <a:spcPts val="0"/>
              </a:spcBef>
              <a:spcAft>
                <a:spcPts val="0"/>
              </a:spcAft>
            </a:pPr>
            <a:r>
              <a:rPr sz="1100" b="0" i="0">
                <a:solidFill>
                  <a:srgbClr val="5B6270"/>
                </a:solidFill>
                <a:latin typeface="Calibri"/>
              </a:rPr>
              <a:t>Order Rescue | synthetic data only | local MVP</a:t>
            </a:r>
          </a:p>
        </p:txBody>
      </p:sp>
      <p:sp>
        <p:nvSpPr>
          <p:cNvPr id="6" name="TextBox 5"/>
          <p:cNvSpPr txBox="1"/>
          <p:nvPr/>
        </p:nvSpPr>
        <p:spPr>
          <a:xfrm>
            <a:off x="7680960" y="4818888"/>
            <a:ext cx="914400" cy="219456"/>
          </a:xfrm>
          <a:prstGeom prst="rect">
            <a:avLst/>
          </a:prstGeom>
          <a:noFill/>
        </p:spPr>
        <p:txBody>
          <a:bodyPr wrap="square" anchor="t" lIns="45720" rIns="45720" tIns="27432" bIns="27432">
            <a:noAutofit/>
          </a:bodyPr>
          <a:lstStyle/>
          <a:p>
            <a:pPr algn="r">
              <a:spcBef>
                <a:spcPts val="0"/>
              </a:spcBef>
              <a:spcAft>
                <a:spcPts val="0"/>
              </a:spcAft>
            </a:pPr>
            <a:r>
              <a:rPr sz="1100" b="0" i="0">
                <a:solidFill>
                  <a:srgbClr val="5B6270"/>
                </a:solidFill>
                <a:latin typeface="Calibri"/>
              </a:rPr>
              <a:t>5 / 15</a:t>
            </a:r>
          </a:p>
        </p:txBody>
      </p:sp>
      <p:cxnSp>
        <p:nvCxnSpPr>
          <p:cNvPr id="7" name="Connector 6"/>
          <p:cNvCxnSpPr/>
          <p:nvPr/>
        </p:nvCxnSpPr>
        <p:spPr>
          <a:xfrm>
            <a:off x="548640" y="4645152"/>
            <a:ext cx="8046720" cy="0"/>
          </a:xfrm>
          <a:prstGeom prst="line">
            <a:avLst/>
          </a:prstGeom>
          <a:ln w="12700">
            <a:solidFill>
              <a:srgbClr val="C58B4B"/>
            </a:solidFill>
          </a:ln>
        </p:spPr>
        <p:style>
          <a:lnRef idx="2">
            <a:schemeClr val="accent1"/>
          </a:lnRef>
          <a:fillRef idx="0">
            <a:schemeClr val="accent1"/>
          </a:fillRef>
          <a:effectRef idx="1">
            <a:schemeClr val="accent1"/>
          </a:effectRef>
          <a:fontRef idx="minor">
            <a:schemeClr val="tx1"/>
          </a:fontRef>
        </p:style>
      </p:cxnSp>
      <p:sp>
        <p:nvSpPr>
          <p:cNvPr id="8" name="Oval 7"/>
          <p:cNvSpPr/>
          <p:nvPr/>
        </p:nvSpPr>
        <p:spPr>
          <a:xfrm>
            <a:off x="498348" y="4594860"/>
            <a:ext cx="100584" cy="100584"/>
          </a:xfrm>
          <a:prstGeom prst="ellipse">
            <a:avLst/>
          </a:prstGeom>
          <a:solidFill>
            <a:srgbClr val="FAF6E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73114" y="4594860"/>
            <a:ext cx="100584" cy="100584"/>
          </a:xfrm>
          <a:prstGeom prst="ellipse">
            <a:avLst/>
          </a:prstGeom>
          <a:solidFill>
            <a:srgbClr val="FAF6E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647879" y="4594860"/>
            <a:ext cx="100584" cy="100584"/>
          </a:xfrm>
          <a:prstGeom prst="ellipse">
            <a:avLst/>
          </a:prstGeom>
          <a:solidFill>
            <a:srgbClr val="FAF6E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222645" y="4594860"/>
            <a:ext cx="100584" cy="100584"/>
          </a:xfrm>
          <a:prstGeom prst="ellipse">
            <a:avLst/>
          </a:prstGeom>
          <a:solidFill>
            <a:srgbClr val="FAF6E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2756263" y="4553712"/>
            <a:ext cx="182880" cy="182880"/>
          </a:xfrm>
          <a:prstGeom prst="ellipse">
            <a:avLst/>
          </a:prstGeom>
          <a:solidFill>
            <a:srgbClr val="0E5E6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3372177" y="4594860"/>
            <a:ext cx="100584" cy="100584"/>
          </a:xfrm>
          <a:prstGeom prst="ellipse">
            <a:avLst/>
          </a:prstGeom>
          <a:solidFill>
            <a:srgbClr val="FAF6E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946942" y="4594860"/>
            <a:ext cx="100584" cy="100584"/>
          </a:xfrm>
          <a:prstGeom prst="ellipse">
            <a:avLst/>
          </a:prstGeom>
          <a:solidFill>
            <a:srgbClr val="FAF6E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521708" y="4594860"/>
            <a:ext cx="100584" cy="100584"/>
          </a:xfrm>
          <a:prstGeom prst="ellipse">
            <a:avLst/>
          </a:prstGeom>
          <a:solidFill>
            <a:srgbClr val="FAF6E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096474" y="4594860"/>
            <a:ext cx="100584" cy="100584"/>
          </a:xfrm>
          <a:prstGeom prst="ellipse">
            <a:avLst/>
          </a:prstGeom>
          <a:solidFill>
            <a:srgbClr val="FAF6E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5671239" y="4594860"/>
            <a:ext cx="100584" cy="100584"/>
          </a:xfrm>
          <a:prstGeom prst="ellipse">
            <a:avLst/>
          </a:prstGeom>
          <a:solidFill>
            <a:srgbClr val="FAF6E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246005" y="4594860"/>
            <a:ext cx="100584" cy="100584"/>
          </a:xfrm>
          <a:prstGeom prst="ellipse">
            <a:avLst/>
          </a:prstGeom>
          <a:solidFill>
            <a:srgbClr val="FAF6E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20771" y="4594860"/>
            <a:ext cx="100584" cy="100584"/>
          </a:xfrm>
          <a:prstGeom prst="ellipse">
            <a:avLst/>
          </a:prstGeom>
          <a:solidFill>
            <a:srgbClr val="FAF6EF"/>
          </a:solidFill>
          <a:ln w="15875">
            <a:solidFill>
              <a:srgbClr val="C58B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395537" y="4594860"/>
            <a:ext cx="100584" cy="100584"/>
          </a:xfrm>
          <a:prstGeom prst="ellipse">
            <a:avLst/>
          </a:prstGeom>
          <a:solidFill>
            <a:srgbClr val="FAF6EF"/>
          </a:solidFill>
          <a:ln w="15875">
            <a:solidFill>
              <a:srgbClr val="C58B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970302" y="4594860"/>
            <a:ext cx="100584" cy="100584"/>
          </a:xfrm>
          <a:prstGeom prst="ellipse">
            <a:avLst/>
          </a:prstGeom>
          <a:solidFill>
            <a:srgbClr val="FAF6EF"/>
          </a:solidFill>
          <a:ln w="15875">
            <a:solidFill>
              <a:srgbClr val="C58B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8545068" y="4594860"/>
            <a:ext cx="100584" cy="100584"/>
          </a:xfrm>
          <a:prstGeom prst="ellipse">
            <a:avLst/>
          </a:prstGeom>
          <a:solidFill>
            <a:srgbClr val="FAF6EF"/>
          </a:solidFill>
          <a:ln w="15875">
            <a:solidFill>
              <a:srgbClr val="C58B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371600" y="502920"/>
            <a:ext cx="7223760" cy="496824"/>
          </a:xfrm>
          <a:prstGeom prst="rect">
            <a:avLst/>
          </a:prstGeom>
          <a:noFill/>
        </p:spPr>
        <p:txBody>
          <a:bodyPr wrap="square" anchor="t" lIns="45720" rIns="45720" tIns="27432" bIns="27432">
            <a:noAutofit/>
          </a:bodyPr>
          <a:lstStyle/>
          <a:p>
            <a:pPr algn="l">
              <a:lnSpc>
                <a:spcPct val="95000"/>
              </a:lnSpc>
              <a:spcBef>
                <a:spcPts val="0"/>
              </a:spcBef>
              <a:spcAft>
                <a:spcPts val="0"/>
              </a:spcAft>
            </a:pPr>
            <a:r>
              <a:rPr sz="2800" b="1" i="0">
                <a:solidFill>
                  <a:srgbClr val="1F2A37"/>
                </a:solidFill>
                <a:latin typeface="Georgia"/>
              </a:rPr>
              <a:t>Solution: the two-assessment flow</a:t>
            </a:r>
          </a:p>
        </p:txBody>
      </p:sp>
      <p:sp>
        <p:nvSpPr>
          <p:cNvPr id="24" name="Rectangle 23"/>
          <p:cNvSpPr/>
          <p:nvPr/>
        </p:nvSpPr>
        <p:spPr>
          <a:xfrm>
            <a:off x="1280160" y="1005840"/>
            <a:ext cx="7315200" cy="1024128"/>
          </a:xfrm>
          <a:prstGeom prst="rect">
            <a:avLst/>
          </a:prstGeom>
          <a:solidFill>
            <a:srgbClr val="F1E9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280160" y="1005840"/>
            <a:ext cx="256032" cy="1024128"/>
          </a:xfrm>
          <a:prstGeom prst="rect">
            <a:avLst/>
          </a:prstGeom>
          <a:solidFill>
            <a:srgbClr val="0E5E6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vert="vert270">
            <a:noAutofit/>
          </a:bodyPr>
          <a:lstStyle/>
          <a:p>
            <a:pPr algn="ctr">
              <a:spcBef>
                <a:spcPts val="0"/>
              </a:spcBef>
              <a:spcAft>
                <a:spcPts val="0"/>
              </a:spcAft>
            </a:pPr>
            <a:r>
              <a:rPr sz="1100" b="1" i="0">
                <a:solidFill>
                  <a:srgbClr val="FAF6EF"/>
                </a:solidFill>
                <a:latin typeface="Calibri"/>
              </a:rPr>
              <a:t>ASSESS</a:t>
            </a:r>
          </a:p>
        </p:txBody>
      </p:sp>
      <p:sp>
        <p:nvSpPr>
          <p:cNvPr id="26" name="Rectangle 25"/>
          <p:cNvSpPr/>
          <p:nvPr/>
        </p:nvSpPr>
        <p:spPr>
          <a:xfrm>
            <a:off x="1280160" y="2240280"/>
            <a:ext cx="7315200" cy="1252728"/>
          </a:xfrm>
          <a:prstGeom prst="rect">
            <a:avLst/>
          </a:prstGeom>
          <a:solidFill>
            <a:srgbClr val="F1E9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280160" y="2240280"/>
            <a:ext cx="256032" cy="1252728"/>
          </a:xfrm>
          <a:prstGeom prst="rect">
            <a:avLst/>
          </a:prstGeom>
          <a:solidFill>
            <a:srgbClr val="0E5E6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vert="vert270">
            <a:noAutofit/>
          </a:bodyPr>
          <a:lstStyle/>
          <a:p>
            <a:pPr algn="ctr">
              <a:spcBef>
                <a:spcPts val="0"/>
              </a:spcBef>
              <a:spcAft>
                <a:spcPts val="0"/>
              </a:spcAft>
            </a:pPr>
            <a:r>
              <a:rPr sz="1100" b="1" i="0">
                <a:solidFill>
                  <a:srgbClr val="FAF6EF"/>
                </a:solidFill>
                <a:latin typeface="Calibri"/>
              </a:rPr>
              <a:t>DECIDE</a:t>
            </a:r>
          </a:p>
        </p:txBody>
      </p:sp>
      <p:sp>
        <p:nvSpPr>
          <p:cNvPr id="28" name="Rectangle 27"/>
          <p:cNvSpPr/>
          <p:nvPr/>
        </p:nvSpPr>
        <p:spPr>
          <a:xfrm>
            <a:off x="1645920" y="1042416"/>
            <a:ext cx="1207008" cy="950976"/>
          </a:xfrm>
          <a:prstGeom prst="rect">
            <a:avLst/>
          </a:prstGeom>
          <a:solidFill>
            <a:srgbClr val="FFFDF8"/>
          </a:solidFill>
          <a:ln w="12700">
            <a:solidFill>
              <a:srgbClr val="C58B4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27432" bIns="27432">
            <a:noAutofit/>
          </a:bodyPr>
          <a:lstStyle/>
          <a:p>
            <a:pPr algn="ctr">
              <a:spcBef>
                <a:spcPts val="0"/>
              </a:spcBef>
              <a:spcAft>
                <a:spcPts val="0"/>
              </a:spcAft>
            </a:pPr>
            <a:r>
              <a:rPr sz="1400" b="1" i="0">
                <a:solidFill>
                  <a:srgbClr val="1F2A37"/>
                </a:solidFill>
                <a:latin typeface="Calibri"/>
              </a:rPr>
              <a:t>Raw data</a:t>
            </a:r>
          </a:p>
          <a:p>
            <a:pPr algn="ctr">
              <a:spcBef>
                <a:spcPts val="0"/>
              </a:spcBef>
              <a:spcAft>
                <a:spcPts val="0"/>
              </a:spcAft>
            </a:pPr>
            <a:r>
              <a:rPr sz="1400" b="0" i="0">
                <a:solidFill>
                  <a:srgbClr val="1F2A37"/>
                </a:solidFill>
                <a:latin typeface="Calibri"/>
              </a:rPr>
              <a:t>status, notes, lifecycle</a:t>
            </a:r>
          </a:p>
        </p:txBody>
      </p:sp>
      <p:sp>
        <p:nvSpPr>
          <p:cNvPr id="29" name="Rectangle 28"/>
          <p:cNvSpPr/>
          <p:nvPr/>
        </p:nvSpPr>
        <p:spPr>
          <a:xfrm>
            <a:off x="3072384" y="1042416"/>
            <a:ext cx="1207008" cy="950976"/>
          </a:xfrm>
          <a:prstGeom prst="rect">
            <a:avLst/>
          </a:prstGeom>
          <a:solidFill>
            <a:srgbClr val="FFFDF8"/>
          </a:solidFill>
          <a:ln w="12700">
            <a:solidFill>
              <a:srgbClr val="C58B4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27432" bIns="27432">
            <a:noAutofit/>
          </a:bodyPr>
          <a:lstStyle/>
          <a:p>
            <a:pPr algn="ctr">
              <a:spcBef>
                <a:spcPts val="0"/>
              </a:spcBef>
              <a:spcAft>
                <a:spcPts val="0"/>
              </a:spcAft>
            </a:pPr>
            <a:r>
              <a:rPr sz="1400" b="1" i="0">
                <a:solidFill>
                  <a:srgbClr val="1F2A37"/>
                </a:solidFill>
                <a:latin typeface="Calibri"/>
              </a:rPr>
              <a:t>Pre-check</a:t>
            </a:r>
          </a:p>
          <a:p>
            <a:pPr algn="ctr">
              <a:spcBef>
                <a:spcPts val="0"/>
              </a:spcBef>
              <a:spcAft>
                <a:spcPts val="0"/>
              </a:spcAft>
            </a:pPr>
            <a:r>
              <a:rPr sz="1400" b="0" i="0">
                <a:solidFill>
                  <a:srgbClr val="1F2A37"/>
                </a:solidFill>
                <a:latin typeface="Calibri"/>
              </a:rPr>
              <a:t>exclude invalid cases</a:t>
            </a:r>
          </a:p>
        </p:txBody>
      </p:sp>
      <p:sp>
        <p:nvSpPr>
          <p:cNvPr id="30" name="Rectangle 29"/>
          <p:cNvSpPr/>
          <p:nvPr/>
        </p:nvSpPr>
        <p:spPr>
          <a:xfrm>
            <a:off x="4498848" y="1042416"/>
            <a:ext cx="1207008" cy="950976"/>
          </a:xfrm>
          <a:prstGeom prst="rect">
            <a:avLst/>
          </a:prstGeom>
          <a:solidFill>
            <a:srgbClr val="0E5E6F"/>
          </a:solidFill>
          <a:ln w="12700">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27432" bIns="27432">
            <a:noAutofit/>
          </a:bodyPr>
          <a:lstStyle/>
          <a:p>
            <a:pPr algn="ctr">
              <a:spcBef>
                <a:spcPts val="0"/>
              </a:spcBef>
              <a:spcAft>
                <a:spcPts val="0"/>
              </a:spcAft>
            </a:pPr>
            <a:r>
              <a:rPr sz="1400" b="1" i="0">
                <a:solidFill>
                  <a:srgbClr val="FAF6EF"/>
                </a:solidFill>
                <a:latin typeface="Calibri"/>
              </a:rPr>
              <a:t>Agent assessment 1</a:t>
            </a:r>
          </a:p>
          <a:p>
            <a:pPr algn="ctr">
              <a:spcBef>
                <a:spcPts val="0"/>
              </a:spcBef>
              <a:spcAft>
                <a:spcPts val="0"/>
              </a:spcAft>
            </a:pPr>
            <a:r>
              <a:rPr sz="1400" b="0" i="0">
                <a:solidFill>
                  <a:srgbClr val="FAF6EF"/>
                </a:solidFill>
                <a:latin typeface="Calibri"/>
              </a:rPr>
              <a:t>6-field output</a:t>
            </a:r>
          </a:p>
        </p:txBody>
      </p:sp>
      <p:sp>
        <p:nvSpPr>
          <p:cNvPr id="31" name="Rectangle 30"/>
          <p:cNvSpPr/>
          <p:nvPr/>
        </p:nvSpPr>
        <p:spPr>
          <a:xfrm>
            <a:off x="5925312" y="1042416"/>
            <a:ext cx="1207008" cy="950976"/>
          </a:xfrm>
          <a:prstGeom prst="rect">
            <a:avLst/>
          </a:prstGeom>
          <a:solidFill>
            <a:srgbClr val="FFFDF8"/>
          </a:solidFill>
          <a:ln w="12700">
            <a:solidFill>
              <a:srgbClr val="C58B4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27432" bIns="27432">
            <a:noAutofit/>
          </a:bodyPr>
          <a:lstStyle/>
          <a:p>
            <a:pPr algn="ctr">
              <a:spcBef>
                <a:spcPts val="0"/>
              </a:spcBef>
              <a:spcAft>
                <a:spcPts val="0"/>
              </a:spcAft>
            </a:pPr>
            <a:r>
              <a:rPr sz="1400" b="1" i="0">
                <a:solidFill>
                  <a:srgbClr val="1F2A37"/>
                </a:solidFill>
                <a:latin typeface="Calibri"/>
              </a:rPr>
              <a:t>Contact gate</a:t>
            </a:r>
          </a:p>
          <a:p>
            <a:pPr algn="ctr">
              <a:spcBef>
                <a:spcPts val="0"/>
              </a:spcBef>
              <a:spcAft>
                <a:spcPts val="0"/>
              </a:spcAft>
            </a:pPr>
            <a:r>
              <a:rPr sz="1400" b="0" i="0">
                <a:solidFill>
                  <a:srgbClr val="1F2A37"/>
                </a:solidFill>
                <a:latin typeface="Calibri"/>
              </a:rPr>
              <a:t>backend allows 1 question</a:t>
            </a:r>
          </a:p>
        </p:txBody>
      </p:sp>
      <p:sp>
        <p:nvSpPr>
          <p:cNvPr id="32" name="Rectangle 31"/>
          <p:cNvSpPr/>
          <p:nvPr/>
        </p:nvSpPr>
        <p:spPr>
          <a:xfrm>
            <a:off x="7351776" y="1042416"/>
            <a:ext cx="1207008" cy="950976"/>
          </a:xfrm>
          <a:prstGeom prst="rect">
            <a:avLst/>
          </a:prstGeom>
          <a:solidFill>
            <a:srgbClr val="FFFDF8"/>
          </a:solidFill>
          <a:ln w="12700">
            <a:solidFill>
              <a:srgbClr val="C58B4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27432" bIns="27432">
            <a:noAutofit/>
          </a:bodyPr>
          <a:lstStyle/>
          <a:p>
            <a:pPr algn="ctr">
              <a:spcBef>
                <a:spcPts val="0"/>
              </a:spcBef>
              <a:spcAft>
                <a:spcPts val="0"/>
              </a:spcAft>
            </a:pPr>
            <a:r>
              <a:rPr sz="1400" b="1" i="0">
                <a:solidFill>
                  <a:srgbClr val="1F2A37"/>
                </a:solidFill>
                <a:latin typeface="Calibri"/>
              </a:rPr>
              <a:t>One buyer question</a:t>
            </a:r>
          </a:p>
          <a:p>
            <a:pPr algn="ctr">
              <a:spcBef>
                <a:spcPts val="0"/>
              </a:spcBef>
              <a:spcAft>
                <a:spcPts val="0"/>
              </a:spcAft>
            </a:pPr>
            <a:r>
              <a:rPr sz="1400" b="0" i="0">
                <a:solidFill>
                  <a:srgbClr val="1F2A37"/>
                </a:solidFill>
                <a:latin typeface="Calibri"/>
              </a:rPr>
              <a:t>from missing_info</a:t>
            </a:r>
          </a:p>
        </p:txBody>
      </p:sp>
      <p:cxnSp>
        <p:nvCxnSpPr>
          <p:cNvPr id="33" name="Connector 32"/>
          <p:cNvCxnSpPr>
            <a:stCxn id="28" idx="3"/>
            <a:endCxn id="29" idx="1"/>
          </p:cNvCxnSpPr>
          <p:nvPr/>
        </p:nvCxnSpPr>
        <p:spPr>
          <a:xfrm flipV="1">
            <a:off x="2852928" y="1517904"/>
            <a:ext cx="219456" cy="0"/>
          </a:xfrm>
          <a:prstGeom prst="line">
            <a:avLst/>
          </a:prstGeom>
          <a:ln w="22225">
            <a:solidFill>
              <a:srgbClr val="1F2A3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a:stCxn id="29" idx="3"/>
            <a:endCxn id="30" idx="1"/>
          </p:cNvCxnSpPr>
          <p:nvPr/>
        </p:nvCxnSpPr>
        <p:spPr>
          <a:xfrm flipV="1">
            <a:off x="4279392" y="1517904"/>
            <a:ext cx="219456" cy="0"/>
          </a:xfrm>
          <a:prstGeom prst="line">
            <a:avLst/>
          </a:prstGeom>
          <a:ln w="22225">
            <a:solidFill>
              <a:srgbClr val="1F2A3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a:stCxn id="30" idx="3"/>
            <a:endCxn id="31" idx="1"/>
          </p:cNvCxnSpPr>
          <p:nvPr/>
        </p:nvCxnSpPr>
        <p:spPr>
          <a:xfrm flipV="1">
            <a:off x="5705856" y="1517904"/>
            <a:ext cx="219456" cy="0"/>
          </a:xfrm>
          <a:prstGeom prst="line">
            <a:avLst/>
          </a:prstGeom>
          <a:ln w="22225">
            <a:solidFill>
              <a:srgbClr val="1F2A3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a:stCxn id="31" idx="3"/>
            <a:endCxn id="32" idx="1"/>
          </p:cNvCxnSpPr>
          <p:nvPr/>
        </p:nvCxnSpPr>
        <p:spPr>
          <a:xfrm flipV="1">
            <a:off x="7132320" y="1517904"/>
            <a:ext cx="219456" cy="0"/>
          </a:xfrm>
          <a:prstGeom prst="line">
            <a:avLst/>
          </a:prstGeom>
          <a:ln w="22225">
            <a:solidFill>
              <a:srgbClr val="1F2A3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Rectangle 36"/>
          <p:cNvSpPr/>
          <p:nvPr/>
        </p:nvSpPr>
        <p:spPr>
          <a:xfrm>
            <a:off x="1645920" y="2286000"/>
            <a:ext cx="1481328" cy="950976"/>
          </a:xfrm>
          <a:prstGeom prst="rect">
            <a:avLst/>
          </a:prstGeom>
          <a:solidFill>
            <a:srgbClr val="1F2A37"/>
          </a:solidFill>
          <a:ln w="12700">
            <a:solidFill>
              <a:srgbClr val="1F2A3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27432" bIns="27432">
            <a:noAutofit/>
          </a:bodyPr>
          <a:lstStyle/>
          <a:p>
            <a:pPr algn="ctr">
              <a:spcBef>
                <a:spcPts val="0"/>
              </a:spcBef>
              <a:spcAft>
                <a:spcPts val="0"/>
              </a:spcAft>
            </a:pPr>
            <a:r>
              <a:rPr sz="1400" b="1" i="0">
                <a:solidFill>
                  <a:srgbClr val="FAF6EF"/>
                </a:solidFill>
                <a:latin typeface="Calibri"/>
              </a:rPr>
              <a:t>Ops</a:t>
            </a:r>
          </a:p>
          <a:p>
            <a:pPr algn="ctr">
              <a:spcBef>
                <a:spcPts val="0"/>
              </a:spcBef>
              <a:spcAft>
                <a:spcPts val="0"/>
              </a:spcAft>
            </a:pPr>
            <a:r>
              <a:rPr sz="1400" b="0" i="0">
                <a:solidFill>
                  <a:srgbClr val="FAF6EF"/>
                </a:solidFill>
                <a:latin typeface="Calibri"/>
              </a:rPr>
              <a:t>recommendation</a:t>
            </a:r>
          </a:p>
        </p:txBody>
      </p:sp>
      <p:sp>
        <p:nvSpPr>
          <p:cNvPr id="38" name="Rectangle 37"/>
          <p:cNvSpPr/>
          <p:nvPr/>
        </p:nvSpPr>
        <p:spPr>
          <a:xfrm>
            <a:off x="3383280" y="2286000"/>
            <a:ext cx="2194560" cy="950976"/>
          </a:xfrm>
          <a:prstGeom prst="rect">
            <a:avLst/>
          </a:prstGeom>
          <a:solidFill>
            <a:srgbClr val="C58B4B"/>
          </a:solidFill>
          <a:ln w="12700">
            <a:solidFill>
              <a:srgbClr val="1F2A3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27432" bIns="27432">
            <a:noAutofit/>
          </a:bodyPr>
          <a:lstStyle/>
          <a:p>
            <a:pPr algn="ctr">
              <a:spcBef>
                <a:spcPts val="0"/>
              </a:spcBef>
              <a:spcAft>
                <a:spcPts val="0"/>
              </a:spcAft>
            </a:pPr>
            <a:r>
              <a:rPr sz="1400" b="1" i="0">
                <a:solidFill>
                  <a:srgbClr val="1F2A37"/>
                </a:solidFill>
                <a:latin typeface="Calibri"/>
              </a:rPr>
              <a:t>Policy engine</a:t>
            </a:r>
          </a:p>
          <a:p>
            <a:pPr algn="ctr">
              <a:spcBef>
                <a:spcPts val="0"/>
              </a:spcBef>
              <a:spcAft>
                <a:spcPts val="0"/>
              </a:spcAft>
            </a:pPr>
            <a:r>
              <a:rPr sz="1400" b="0" i="0">
                <a:solidFill>
                  <a:srgbClr val="1F2A37"/>
                </a:solidFill>
                <a:latin typeface="Calibri"/>
              </a:rPr>
              <a:t>deterministic gate</a:t>
            </a:r>
          </a:p>
        </p:txBody>
      </p:sp>
      <p:sp>
        <p:nvSpPr>
          <p:cNvPr id="39" name="Rectangle 38"/>
          <p:cNvSpPr/>
          <p:nvPr/>
        </p:nvSpPr>
        <p:spPr>
          <a:xfrm>
            <a:off x="5925312" y="2286000"/>
            <a:ext cx="1207008" cy="950976"/>
          </a:xfrm>
          <a:prstGeom prst="rect">
            <a:avLst/>
          </a:prstGeom>
          <a:solidFill>
            <a:srgbClr val="FFFDF8"/>
          </a:solidFill>
          <a:ln w="19050">
            <a:solidFill>
              <a:srgbClr val="C58B4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27432" bIns="27432">
            <a:noAutofit/>
          </a:bodyPr>
          <a:lstStyle/>
          <a:p>
            <a:pPr algn="ctr">
              <a:spcBef>
                <a:spcPts val="0"/>
              </a:spcBef>
              <a:spcAft>
                <a:spcPts val="0"/>
              </a:spcAft>
            </a:pPr>
            <a:r>
              <a:rPr sz="1400" b="1" i="0">
                <a:solidFill>
                  <a:srgbClr val="1F2A37"/>
                </a:solidFill>
                <a:latin typeface="Calibri"/>
              </a:rPr>
              <a:t>No reply (manual)</a:t>
            </a:r>
          </a:p>
          <a:p>
            <a:pPr algn="ctr">
              <a:spcBef>
                <a:spcPts val="0"/>
              </a:spcBef>
              <a:spcAft>
                <a:spcPts val="0"/>
              </a:spcAft>
            </a:pPr>
            <a:r>
              <a:rPr sz="1400" b="0" i="0">
                <a:solidFill>
                  <a:srgbClr val="1F2A37"/>
                </a:solidFill>
                <a:latin typeface="Calibri"/>
              </a:rPr>
              <a:t>keep assessment 1</a:t>
            </a:r>
          </a:p>
        </p:txBody>
      </p:sp>
      <p:sp>
        <p:nvSpPr>
          <p:cNvPr id="40" name="Rectangle 39"/>
          <p:cNvSpPr/>
          <p:nvPr/>
        </p:nvSpPr>
        <p:spPr>
          <a:xfrm>
            <a:off x="7351776" y="2286000"/>
            <a:ext cx="1207008" cy="950976"/>
          </a:xfrm>
          <a:prstGeom prst="rect">
            <a:avLst/>
          </a:prstGeom>
          <a:solidFill>
            <a:srgbClr val="0E5E6F"/>
          </a:solidFill>
          <a:ln w="12700">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27432" bIns="27432">
            <a:noAutofit/>
          </a:bodyPr>
          <a:lstStyle/>
          <a:p>
            <a:pPr algn="ctr">
              <a:spcBef>
                <a:spcPts val="0"/>
              </a:spcBef>
              <a:spcAft>
                <a:spcPts val="0"/>
              </a:spcAft>
            </a:pPr>
            <a:r>
              <a:rPr sz="1400" b="1" i="0">
                <a:solidFill>
                  <a:srgbClr val="FAF6EF"/>
                </a:solidFill>
                <a:latin typeface="Calibri"/>
              </a:rPr>
              <a:t>Reply</a:t>
            </a:r>
          </a:p>
          <a:p>
            <a:pPr algn="ctr">
              <a:spcBef>
                <a:spcPts val="0"/>
              </a:spcBef>
              <a:spcAft>
                <a:spcPts val="0"/>
              </a:spcAft>
            </a:pPr>
            <a:r>
              <a:rPr sz="1400" b="0" i="0">
                <a:solidFill>
                  <a:srgbClr val="FAF6EF"/>
                </a:solidFill>
                <a:latin typeface="Calibri"/>
              </a:rPr>
              <a:t>Agent assessment 2</a:t>
            </a:r>
          </a:p>
        </p:txBody>
      </p:sp>
      <p:cxnSp>
        <p:nvCxnSpPr>
          <p:cNvPr id="41" name="Connector 40"/>
          <p:cNvCxnSpPr>
            <a:stCxn id="32" idx="2"/>
            <a:endCxn id="40" idx="0"/>
          </p:cNvCxnSpPr>
          <p:nvPr/>
        </p:nvCxnSpPr>
        <p:spPr>
          <a:xfrm flipH="1">
            <a:off x="7955280" y="1993392"/>
            <a:ext cx="0" cy="292608"/>
          </a:xfrm>
          <a:prstGeom prst="line">
            <a:avLst/>
          </a:prstGeom>
          <a:ln w="22225">
            <a:solidFill>
              <a:srgbClr val="0E5E6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H="1">
            <a:off x="6528816" y="2139696"/>
            <a:ext cx="1426464" cy="0"/>
          </a:xfrm>
          <a:prstGeom prst="line">
            <a:avLst/>
          </a:prstGeom>
          <a:ln w="22225">
            <a:solidFill>
              <a:srgbClr val="A9733A"/>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6528816" y="2139696"/>
            <a:ext cx="0" cy="146304"/>
          </a:xfrm>
          <a:prstGeom prst="line">
            <a:avLst/>
          </a:prstGeom>
          <a:ln w="22225">
            <a:solidFill>
              <a:srgbClr val="A9733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4" name="Connector 43"/>
          <p:cNvCxnSpPr>
            <a:stCxn id="39" idx="1"/>
            <a:endCxn id="38" idx="3"/>
          </p:cNvCxnSpPr>
          <p:nvPr/>
        </p:nvCxnSpPr>
        <p:spPr>
          <a:xfrm flipH="1" flipV="1">
            <a:off x="5577840" y="2761488"/>
            <a:ext cx="347472" cy="0"/>
          </a:xfrm>
          <a:prstGeom prst="line">
            <a:avLst/>
          </a:prstGeom>
          <a:ln w="22225">
            <a:solidFill>
              <a:srgbClr val="A9733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7955280" y="3236976"/>
            <a:ext cx="0" cy="146304"/>
          </a:xfrm>
          <a:prstGeom prst="line">
            <a:avLst/>
          </a:prstGeom>
          <a:ln w="22225">
            <a:solidFill>
              <a:srgbClr val="0E5E6F"/>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H="1">
            <a:off x="4480560" y="3383280"/>
            <a:ext cx="3474720" cy="0"/>
          </a:xfrm>
          <a:prstGeom prst="line">
            <a:avLst/>
          </a:prstGeom>
          <a:ln w="22225">
            <a:solidFill>
              <a:srgbClr val="0E5E6F"/>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4480560" y="3236976"/>
            <a:ext cx="0" cy="146304"/>
          </a:xfrm>
          <a:prstGeom prst="line">
            <a:avLst/>
          </a:prstGeom>
          <a:ln w="22225">
            <a:solidFill>
              <a:srgbClr val="0E5E6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8" name="Connector 47"/>
          <p:cNvCxnSpPr>
            <a:stCxn id="38" idx="1"/>
            <a:endCxn id="37" idx="3"/>
          </p:cNvCxnSpPr>
          <p:nvPr/>
        </p:nvCxnSpPr>
        <p:spPr>
          <a:xfrm flipH="1" flipV="1">
            <a:off x="3127248" y="2761488"/>
            <a:ext cx="256032" cy="0"/>
          </a:xfrm>
          <a:prstGeom prst="line">
            <a:avLst/>
          </a:prstGeom>
          <a:ln w="22225">
            <a:solidFill>
              <a:srgbClr val="1F2A37"/>
            </a:solidFill>
            <a:tailEnd type="triangle" w="med" len="med"/>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1371600" y="3566160"/>
            <a:ext cx="7223760" cy="950976"/>
          </a:xfrm>
          <a:prstGeom prst="rect">
            <a:avLst/>
          </a:prstGeom>
          <a:noFill/>
        </p:spPr>
        <p:txBody>
          <a:bodyPr wrap="square" anchor="t" lIns="45720" rIns="45720" tIns="27432" bIns="27432">
            <a:noAutofit/>
          </a:bodyPr>
          <a:lstStyle/>
          <a:p>
            <a:pPr algn="l">
              <a:spcBef>
                <a:spcPts val="0"/>
              </a:spcBef>
              <a:spcAft>
                <a:spcPts val="200"/>
              </a:spcAft>
            </a:pPr>
            <a:r>
              <a:rPr sz="1400" b="1" i="0">
                <a:solidFill>
                  <a:srgbClr val="0E5E6F"/>
                </a:solidFill>
                <a:latin typeface="Calibri"/>
              </a:rPr>
              <a:t>Novelty: one bounded buyer question + fixed vocabularies. LLM proposes; policy decides; Ops executes.</a:t>
            </a:r>
          </a:p>
          <a:p>
            <a:pPr algn="l">
              <a:spcBef>
                <a:spcPts val="0"/>
              </a:spcBef>
              <a:spcAft>
                <a:spcPts val="0"/>
              </a:spcAft>
            </a:pPr>
            <a:r>
              <a:rPr sz="1400" b="1" i="0">
                <a:solidFill>
                  <a:srgbClr val="B83A26"/>
                </a:solidFill>
                <a:latin typeface="Calibri"/>
              </a:rPr>
              <a:t>Today a deterministic assessor stands in for the LLM agent (next step). The agent never acts.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AF6EF"/>
        </a:solidFill>
        <a:effectLst/>
      </p:bgPr>
    </p:bg>
    <p:spTree>
      <p:nvGrpSpPr>
        <p:cNvPr id="1" name=""/>
        <p:cNvGrpSpPr/>
        <p:nvPr/>
      </p:nvGrpSpPr>
      <p:grpSpPr/>
      <p:sp>
        <p:nvSpPr>
          <p:cNvPr id="2" name="TextBox 1"/>
          <p:cNvSpPr txBox="1"/>
          <p:nvPr/>
        </p:nvSpPr>
        <p:spPr>
          <a:xfrm>
            <a:off x="512064" y="256032"/>
            <a:ext cx="731520" cy="731520"/>
          </a:xfrm>
          <a:prstGeom prst="rect">
            <a:avLst/>
          </a:prstGeom>
          <a:noFill/>
        </p:spPr>
        <p:txBody>
          <a:bodyPr wrap="square" anchor="t" lIns="45720" rIns="45720" tIns="27432" bIns="27432">
            <a:noAutofit/>
          </a:bodyPr>
          <a:lstStyle/>
          <a:p>
            <a:pPr algn="l">
              <a:spcBef>
                <a:spcPts val="0"/>
              </a:spcBef>
              <a:spcAft>
                <a:spcPts val="0"/>
              </a:spcAft>
            </a:pPr>
            <a:r>
              <a:rPr sz="4400" b="1" i="0">
                <a:solidFill>
                  <a:srgbClr val="0E5E6F"/>
                </a:solidFill>
                <a:latin typeface="Georgia"/>
              </a:rPr>
              <a:t>4</a:t>
            </a:r>
          </a:p>
        </p:txBody>
      </p:sp>
      <p:cxnSp>
        <p:nvCxnSpPr>
          <p:cNvPr id="3" name="Connector 2"/>
          <p:cNvCxnSpPr/>
          <p:nvPr/>
        </p:nvCxnSpPr>
        <p:spPr>
          <a:xfrm>
            <a:off x="621792" y="1051560"/>
            <a:ext cx="0" cy="3337560"/>
          </a:xfrm>
          <a:prstGeom prst="line">
            <a:avLst/>
          </a:prstGeom>
          <a:ln w="12700">
            <a:solidFill>
              <a:srgbClr val="C58B4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371600" y="274320"/>
            <a:ext cx="7223760" cy="219456"/>
          </a:xfrm>
          <a:prstGeom prst="rect">
            <a:avLst/>
          </a:prstGeom>
          <a:noFill/>
        </p:spPr>
        <p:txBody>
          <a:bodyPr wrap="square" anchor="t" lIns="45720" rIns="45720" tIns="27432" bIns="27432">
            <a:noAutofit/>
          </a:bodyPr>
          <a:lstStyle/>
          <a:p>
            <a:pPr algn="l">
              <a:spcBef>
                <a:spcPts val="0"/>
              </a:spcBef>
              <a:spcAft>
                <a:spcPts val="0"/>
              </a:spcAft>
            </a:pPr>
            <a:r>
              <a:rPr sz="1100" b="1" i="0">
                <a:solidFill>
                  <a:srgbClr val="0E5E6F"/>
                </a:solidFill>
                <a:latin typeface="Calibri"/>
              </a:rPr>
              <a:t>SOLUTION</a:t>
            </a:r>
          </a:p>
        </p:txBody>
      </p:sp>
      <p:sp>
        <p:nvSpPr>
          <p:cNvPr id="5" name="TextBox 4"/>
          <p:cNvSpPr txBox="1"/>
          <p:nvPr/>
        </p:nvSpPr>
        <p:spPr>
          <a:xfrm>
            <a:off x="548640" y="4818888"/>
            <a:ext cx="5486400" cy="219456"/>
          </a:xfrm>
          <a:prstGeom prst="rect">
            <a:avLst/>
          </a:prstGeom>
          <a:noFill/>
        </p:spPr>
        <p:txBody>
          <a:bodyPr wrap="square" anchor="t" lIns="45720" rIns="45720" tIns="27432" bIns="27432">
            <a:noAutofit/>
          </a:bodyPr>
          <a:lstStyle/>
          <a:p>
            <a:pPr algn="l">
              <a:spcBef>
                <a:spcPts val="0"/>
              </a:spcBef>
              <a:spcAft>
                <a:spcPts val="0"/>
              </a:spcAft>
            </a:pPr>
            <a:r>
              <a:rPr sz="1100" b="0" i="0">
                <a:solidFill>
                  <a:srgbClr val="5B6270"/>
                </a:solidFill>
                <a:latin typeface="Calibri"/>
              </a:rPr>
              <a:t>Order Rescue | synthetic data only | local MVP</a:t>
            </a:r>
          </a:p>
        </p:txBody>
      </p:sp>
      <p:sp>
        <p:nvSpPr>
          <p:cNvPr id="6" name="TextBox 5"/>
          <p:cNvSpPr txBox="1"/>
          <p:nvPr/>
        </p:nvSpPr>
        <p:spPr>
          <a:xfrm>
            <a:off x="7680960" y="4818888"/>
            <a:ext cx="914400" cy="219456"/>
          </a:xfrm>
          <a:prstGeom prst="rect">
            <a:avLst/>
          </a:prstGeom>
          <a:noFill/>
        </p:spPr>
        <p:txBody>
          <a:bodyPr wrap="square" anchor="t" lIns="45720" rIns="45720" tIns="27432" bIns="27432">
            <a:noAutofit/>
          </a:bodyPr>
          <a:lstStyle/>
          <a:p>
            <a:pPr algn="r">
              <a:spcBef>
                <a:spcPts val="0"/>
              </a:spcBef>
              <a:spcAft>
                <a:spcPts val="0"/>
              </a:spcAft>
            </a:pPr>
            <a:r>
              <a:rPr sz="1100" b="0" i="0">
                <a:solidFill>
                  <a:srgbClr val="5B6270"/>
                </a:solidFill>
                <a:latin typeface="Calibri"/>
              </a:rPr>
              <a:t>6 / 15</a:t>
            </a:r>
          </a:p>
        </p:txBody>
      </p:sp>
      <p:cxnSp>
        <p:nvCxnSpPr>
          <p:cNvPr id="7" name="Connector 6"/>
          <p:cNvCxnSpPr/>
          <p:nvPr/>
        </p:nvCxnSpPr>
        <p:spPr>
          <a:xfrm>
            <a:off x="548640" y="4645152"/>
            <a:ext cx="8046720" cy="0"/>
          </a:xfrm>
          <a:prstGeom prst="line">
            <a:avLst/>
          </a:prstGeom>
          <a:ln w="12700">
            <a:solidFill>
              <a:srgbClr val="C58B4B"/>
            </a:solidFill>
          </a:ln>
        </p:spPr>
        <p:style>
          <a:lnRef idx="2">
            <a:schemeClr val="accent1"/>
          </a:lnRef>
          <a:fillRef idx="0">
            <a:schemeClr val="accent1"/>
          </a:fillRef>
          <a:effectRef idx="1">
            <a:schemeClr val="accent1"/>
          </a:effectRef>
          <a:fontRef idx="minor">
            <a:schemeClr val="tx1"/>
          </a:fontRef>
        </p:style>
      </p:cxnSp>
      <p:sp>
        <p:nvSpPr>
          <p:cNvPr id="8" name="Oval 7"/>
          <p:cNvSpPr/>
          <p:nvPr/>
        </p:nvSpPr>
        <p:spPr>
          <a:xfrm>
            <a:off x="498348" y="4594860"/>
            <a:ext cx="100584" cy="100584"/>
          </a:xfrm>
          <a:prstGeom prst="ellipse">
            <a:avLst/>
          </a:prstGeom>
          <a:solidFill>
            <a:srgbClr val="FAF6E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73114" y="4594860"/>
            <a:ext cx="100584" cy="100584"/>
          </a:xfrm>
          <a:prstGeom prst="ellipse">
            <a:avLst/>
          </a:prstGeom>
          <a:solidFill>
            <a:srgbClr val="FAF6E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647879" y="4594860"/>
            <a:ext cx="100584" cy="100584"/>
          </a:xfrm>
          <a:prstGeom prst="ellipse">
            <a:avLst/>
          </a:prstGeom>
          <a:solidFill>
            <a:srgbClr val="FAF6E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222645" y="4594860"/>
            <a:ext cx="100584" cy="100584"/>
          </a:xfrm>
          <a:prstGeom prst="ellipse">
            <a:avLst/>
          </a:prstGeom>
          <a:solidFill>
            <a:srgbClr val="FAF6E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2797411" y="4594860"/>
            <a:ext cx="100584" cy="100584"/>
          </a:xfrm>
          <a:prstGeom prst="ellipse">
            <a:avLst/>
          </a:prstGeom>
          <a:solidFill>
            <a:srgbClr val="FAF6E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3331029" y="4553712"/>
            <a:ext cx="182880" cy="182880"/>
          </a:xfrm>
          <a:prstGeom prst="ellipse">
            <a:avLst/>
          </a:prstGeom>
          <a:solidFill>
            <a:srgbClr val="0E5E6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946942" y="4594860"/>
            <a:ext cx="100584" cy="100584"/>
          </a:xfrm>
          <a:prstGeom prst="ellipse">
            <a:avLst/>
          </a:prstGeom>
          <a:solidFill>
            <a:srgbClr val="FAF6E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521708" y="4594860"/>
            <a:ext cx="100584" cy="100584"/>
          </a:xfrm>
          <a:prstGeom prst="ellipse">
            <a:avLst/>
          </a:prstGeom>
          <a:solidFill>
            <a:srgbClr val="FAF6E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096474" y="4594860"/>
            <a:ext cx="100584" cy="100584"/>
          </a:xfrm>
          <a:prstGeom prst="ellipse">
            <a:avLst/>
          </a:prstGeom>
          <a:solidFill>
            <a:srgbClr val="FAF6E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5671239" y="4594860"/>
            <a:ext cx="100584" cy="100584"/>
          </a:xfrm>
          <a:prstGeom prst="ellipse">
            <a:avLst/>
          </a:prstGeom>
          <a:solidFill>
            <a:srgbClr val="FAF6E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246005" y="4594860"/>
            <a:ext cx="100584" cy="100584"/>
          </a:xfrm>
          <a:prstGeom prst="ellipse">
            <a:avLst/>
          </a:prstGeom>
          <a:solidFill>
            <a:srgbClr val="FAF6E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20771" y="4594860"/>
            <a:ext cx="100584" cy="100584"/>
          </a:xfrm>
          <a:prstGeom prst="ellipse">
            <a:avLst/>
          </a:prstGeom>
          <a:solidFill>
            <a:srgbClr val="FAF6EF"/>
          </a:solidFill>
          <a:ln w="15875">
            <a:solidFill>
              <a:srgbClr val="C58B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395537" y="4594860"/>
            <a:ext cx="100584" cy="100584"/>
          </a:xfrm>
          <a:prstGeom prst="ellipse">
            <a:avLst/>
          </a:prstGeom>
          <a:solidFill>
            <a:srgbClr val="FAF6EF"/>
          </a:solidFill>
          <a:ln w="15875">
            <a:solidFill>
              <a:srgbClr val="C58B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970302" y="4594860"/>
            <a:ext cx="100584" cy="100584"/>
          </a:xfrm>
          <a:prstGeom prst="ellipse">
            <a:avLst/>
          </a:prstGeom>
          <a:solidFill>
            <a:srgbClr val="FAF6EF"/>
          </a:solidFill>
          <a:ln w="15875">
            <a:solidFill>
              <a:srgbClr val="C58B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8545068" y="4594860"/>
            <a:ext cx="100584" cy="100584"/>
          </a:xfrm>
          <a:prstGeom prst="ellipse">
            <a:avLst/>
          </a:prstGeom>
          <a:solidFill>
            <a:srgbClr val="FAF6EF"/>
          </a:solidFill>
          <a:ln w="15875">
            <a:solidFill>
              <a:srgbClr val="C58B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371600" y="502920"/>
            <a:ext cx="7223760" cy="902208"/>
          </a:xfrm>
          <a:prstGeom prst="rect">
            <a:avLst/>
          </a:prstGeom>
          <a:noFill/>
        </p:spPr>
        <p:txBody>
          <a:bodyPr wrap="square" anchor="t" lIns="45720" rIns="45720" tIns="27432" bIns="27432">
            <a:noAutofit/>
          </a:bodyPr>
          <a:lstStyle/>
          <a:p>
            <a:pPr algn="l">
              <a:lnSpc>
                <a:spcPct val="95000"/>
              </a:lnSpc>
              <a:spcBef>
                <a:spcPts val="0"/>
              </a:spcBef>
              <a:spcAft>
                <a:spcPts val="0"/>
              </a:spcAft>
            </a:pPr>
            <a:r>
              <a:rPr sz="2800" b="1" i="0">
                <a:solidFill>
                  <a:srgbClr val="1F2A37"/>
                </a:solidFill>
                <a:latin typeface="Georgia"/>
              </a:rPr>
              <a:t>The agent's output: six fields, fixed vocabularies</a:t>
            </a:r>
          </a:p>
        </p:txBody>
      </p:sp>
      <p:sp>
        <p:nvSpPr>
          <p:cNvPr id="24" name="Rectangle 23"/>
          <p:cNvSpPr/>
          <p:nvPr/>
        </p:nvSpPr>
        <p:spPr>
          <a:xfrm>
            <a:off x="1371600" y="1463040"/>
            <a:ext cx="2286000" cy="384048"/>
          </a:xfrm>
          <a:prstGeom prst="rect">
            <a:avLst/>
          </a:prstGeom>
          <a:no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Autofit/>
          </a:bodyPr>
          <a:lstStyle/>
          <a:p>
            <a:pPr algn="ctr">
              <a:spcBef>
                <a:spcPts val="0"/>
              </a:spcBef>
              <a:spcAft>
                <a:spcPts val="0"/>
              </a:spcAft>
            </a:pPr>
            <a:r>
              <a:rPr sz="1500" b="1" i="0">
                <a:solidFill>
                  <a:srgbClr val="0E5E6F"/>
                </a:solidFill>
                <a:latin typeface="Calibri"/>
              </a:rPr>
              <a:t>evidence</a:t>
            </a:r>
          </a:p>
        </p:txBody>
      </p:sp>
      <p:sp>
        <p:nvSpPr>
          <p:cNvPr id="25" name="Rectangle 24"/>
          <p:cNvSpPr/>
          <p:nvPr/>
        </p:nvSpPr>
        <p:spPr>
          <a:xfrm>
            <a:off x="3840480" y="1463040"/>
            <a:ext cx="2286000" cy="384048"/>
          </a:xfrm>
          <a:prstGeom prst="rect">
            <a:avLst/>
          </a:prstGeom>
          <a:no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Autofit/>
          </a:bodyPr>
          <a:lstStyle/>
          <a:p>
            <a:pPr algn="ctr">
              <a:spcBef>
                <a:spcPts val="0"/>
              </a:spcBef>
              <a:spcAft>
                <a:spcPts val="0"/>
              </a:spcAft>
            </a:pPr>
            <a:r>
              <a:rPr sz="1500" b="1" i="0">
                <a:solidFill>
                  <a:srgbClr val="0E5E6F"/>
                </a:solidFill>
                <a:latin typeface="Calibri"/>
              </a:rPr>
              <a:t>hypothesis</a:t>
            </a:r>
          </a:p>
        </p:txBody>
      </p:sp>
      <p:sp>
        <p:nvSpPr>
          <p:cNvPr id="26" name="Rectangle 25"/>
          <p:cNvSpPr/>
          <p:nvPr/>
        </p:nvSpPr>
        <p:spPr>
          <a:xfrm>
            <a:off x="6309360" y="1463040"/>
            <a:ext cx="2286000" cy="384048"/>
          </a:xfrm>
          <a:prstGeom prst="rect">
            <a:avLst/>
          </a:prstGeom>
          <a:no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Autofit/>
          </a:bodyPr>
          <a:lstStyle/>
          <a:p>
            <a:pPr algn="ctr">
              <a:spcBef>
                <a:spcPts val="0"/>
              </a:spcBef>
              <a:spcAft>
                <a:spcPts val="0"/>
              </a:spcAft>
            </a:pPr>
            <a:r>
              <a:rPr sz="1500" b="1" i="0">
                <a:solidFill>
                  <a:srgbClr val="0E5E6F"/>
                </a:solidFill>
                <a:latin typeface="Calibri"/>
              </a:rPr>
              <a:t>confidence</a:t>
            </a:r>
          </a:p>
        </p:txBody>
      </p:sp>
      <p:sp>
        <p:nvSpPr>
          <p:cNvPr id="27" name="Rectangle 26"/>
          <p:cNvSpPr/>
          <p:nvPr/>
        </p:nvSpPr>
        <p:spPr>
          <a:xfrm>
            <a:off x="1371600" y="1938528"/>
            <a:ext cx="2286000" cy="384048"/>
          </a:xfrm>
          <a:prstGeom prst="rect">
            <a:avLst/>
          </a:prstGeom>
          <a:no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Autofit/>
          </a:bodyPr>
          <a:lstStyle/>
          <a:p>
            <a:pPr algn="ctr">
              <a:spcBef>
                <a:spcPts val="0"/>
              </a:spcBef>
              <a:spcAft>
                <a:spcPts val="0"/>
              </a:spcAft>
            </a:pPr>
            <a:r>
              <a:rPr sz="1500" b="1" i="0">
                <a:solidFill>
                  <a:srgbClr val="0E5E6F"/>
                </a:solidFill>
                <a:latin typeface="Calibri"/>
              </a:rPr>
              <a:t>missing_info</a:t>
            </a:r>
          </a:p>
        </p:txBody>
      </p:sp>
      <p:sp>
        <p:nvSpPr>
          <p:cNvPr id="28" name="Rectangle 27"/>
          <p:cNvSpPr/>
          <p:nvPr/>
        </p:nvSpPr>
        <p:spPr>
          <a:xfrm>
            <a:off x="3840480" y="1938528"/>
            <a:ext cx="2286000" cy="384048"/>
          </a:xfrm>
          <a:prstGeom prst="rect">
            <a:avLst/>
          </a:prstGeom>
          <a:no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Autofit/>
          </a:bodyPr>
          <a:lstStyle/>
          <a:p>
            <a:pPr algn="ctr">
              <a:spcBef>
                <a:spcPts val="0"/>
              </a:spcBef>
              <a:spcAft>
                <a:spcPts val="0"/>
              </a:spcAft>
            </a:pPr>
            <a:r>
              <a:rPr sz="1500" b="1" i="0">
                <a:solidFill>
                  <a:srgbClr val="0E5E6F"/>
                </a:solidFill>
                <a:latin typeface="Calibri"/>
              </a:rPr>
              <a:t>question_key</a:t>
            </a:r>
          </a:p>
        </p:txBody>
      </p:sp>
      <p:sp>
        <p:nvSpPr>
          <p:cNvPr id="29" name="Rectangle 28"/>
          <p:cNvSpPr/>
          <p:nvPr/>
        </p:nvSpPr>
        <p:spPr>
          <a:xfrm>
            <a:off x="6309360" y="1938528"/>
            <a:ext cx="2286000" cy="384048"/>
          </a:xfrm>
          <a:prstGeom prst="rect">
            <a:avLst/>
          </a:prstGeom>
          <a:no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noAutofit/>
          </a:bodyPr>
          <a:lstStyle/>
          <a:p>
            <a:pPr algn="ctr">
              <a:spcBef>
                <a:spcPts val="0"/>
              </a:spcBef>
              <a:spcAft>
                <a:spcPts val="0"/>
              </a:spcAft>
            </a:pPr>
            <a:r>
              <a:rPr sz="1500" b="1" i="0">
                <a:solidFill>
                  <a:srgbClr val="0E5E6F"/>
                </a:solidFill>
                <a:latin typeface="Calibri"/>
              </a:rPr>
              <a:t>candidate_action</a:t>
            </a:r>
          </a:p>
        </p:txBody>
      </p:sp>
      <p:cxnSp>
        <p:nvCxnSpPr>
          <p:cNvPr id="30" name="Connector 29"/>
          <p:cNvCxnSpPr/>
          <p:nvPr/>
        </p:nvCxnSpPr>
        <p:spPr>
          <a:xfrm>
            <a:off x="1371600" y="2450592"/>
            <a:ext cx="2286000" cy="0"/>
          </a:xfrm>
          <a:prstGeom prst="line">
            <a:avLst/>
          </a:prstGeom>
          <a:ln w="28575">
            <a:solidFill>
              <a:srgbClr val="C58B4B"/>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1371600" y="2468880"/>
            <a:ext cx="2286000" cy="777240"/>
          </a:xfrm>
          <a:prstGeom prst="rect">
            <a:avLst/>
          </a:prstGeom>
          <a:noFill/>
        </p:spPr>
        <p:txBody>
          <a:bodyPr wrap="square" anchor="ctr" lIns="45720" rIns="45720" tIns="27432" bIns="27432">
            <a:noAutofit/>
          </a:bodyPr>
          <a:lstStyle/>
          <a:p>
            <a:pPr algn="l">
              <a:spcBef>
                <a:spcPts val="0"/>
              </a:spcBef>
              <a:spcAft>
                <a:spcPts val="0"/>
              </a:spcAft>
            </a:pPr>
            <a:r>
              <a:rPr sz="4600" b="1" i="0">
                <a:solidFill>
                  <a:srgbClr val="0E5E6F"/>
                </a:solidFill>
                <a:latin typeface="Georgia"/>
              </a:rPr>
              <a:t>7</a:t>
            </a:r>
          </a:p>
        </p:txBody>
      </p:sp>
      <p:sp>
        <p:nvSpPr>
          <p:cNvPr id="32" name="TextBox 31"/>
          <p:cNvSpPr txBox="1"/>
          <p:nvPr/>
        </p:nvSpPr>
        <p:spPr>
          <a:xfrm>
            <a:off x="1371600" y="3246120"/>
            <a:ext cx="2286000" cy="310896"/>
          </a:xfrm>
          <a:prstGeom prst="rect">
            <a:avLst/>
          </a:prstGeom>
          <a:noFill/>
        </p:spPr>
        <p:txBody>
          <a:bodyPr wrap="square" anchor="t" lIns="45720" rIns="45720" tIns="27432" bIns="27432">
            <a:noAutofit/>
          </a:bodyPr>
          <a:lstStyle/>
          <a:p>
            <a:pPr algn="l">
              <a:spcBef>
                <a:spcPts val="0"/>
              </a:spcBef>
              <a:spcAft>
                <a:spcPts val="0"/>
              </a:spcAft>
            </a:pPr>
            <a:r>
              <a:rPr sz="1600" b="1" i="0">
                <a:solidFill>
                  <a:srgbClr val="1F2A37"/>
                </a:solidFill>
                <a:latin typeface="Georgia"/>
              </a:rPr>
              <a:t>hypotheses</a:t>
            </a:r>
          </a:p>
        </p:txBody>
      </p:sp>
      <p:sp>
        <p:nvSpPr>
          <p:cNvPr id="33" name="TextBox 32"/>
          <p:cNvSpPr txBox="1"/>
          <p:nvPr/>
        </p:nvSpPr>
        <p:spPr>
          <a:xfrm>
            <a:off x="1371600" y="3566160"/>
            <a:ext cx="2286000" cy="932688"/>
          </a:xfrm>
          <a:prstGeom prst="rect">
            <a:avLst/>
          </a:prstGeom>
          <a:noFill/>
        </p:spPr>
        <p:txBody>
          <a:bodyPr wrap="square" anchor="t" lIns="45720" rIns="45720" tIns="27432" bIns="27432">
            <a:noAutofit/>
          </a:bodyPr>
          <a:lstStyle/>
          <a:p>
            <a:pPr algn="l">
              <a:spcBef>
                <a:spcPts val="0"/>
              </a:spcBef>
              <a:spcAft>
                <a:spcPts val="0"/>
              </a:spcAft>
            </a:pPr>
            <a:r>
              <a:rPr sz="1400" b="0" i="0">
                <a:solidFill>
                  <a:srgbClr val="1F2A37"/>
                </a:solidFill>
                <a:latin typeface="Calibri"/>
              </a:rPr>
              <a:t>availability, address, contact, buyer intent, payment, logistics, unknown</a:t>
            </a:r>
          </a:p>
        </p:txBody>
      </p:sp>
      <p:cxnSp>
        <p:nvCxnSpPr>
          <p:cNvPr id="34" name="Connector 33"/>
          <p:cNvCxnSpPr/>
          <p:nvPr/>
        </p:nvCxnSpPr>
        <p:spPr>
          <a:xfrm>
            <a:off x="3840480" y="2450592"/>
            <a:ext cx="2286000" cy="0"/>
          </a:xfrm>
          <a:prstGeom prst="line">
            <a:avLst/>
          </a:prstGeom>
          <a:ln w="28575">
            <a:solidFill>
              <a:srgbClr val="C58B4B"/>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3840480" y="2468880"/>
            <a:ext cx="2286000" cy="777240"/>
          </a:xfrm>
          <a:prstGeom prst="rect">
            <a:avLst/>
          </a:prstGeom>
          <a:noFill/>
        </p:spPr>
        <p:txBody>
          <a:bodyPr wrap="square" anchor="ctr" lIns="45720" rIns="45720" tIns="27432" bIns="27432">
            <a:noAutofit/>
          </a:bodyPr>
          <a:lstStyle/>
          <a:p>
            <a:pPr algn="l">
              <a:spcBef>
                <a:spcPts val="0"/>
              </a:spcBef>
              <a:spcAft>
                <a:spcPts val="0"/>
              </a:spcAft>
            </a:pPr>
            <a:r>
              <a:rPr sz="4600" b="1" i="0">
                <a:solidFill>
                  <a:srgbClr val="0E5E6F"/>
                </a:solidFill>
                <a:latin typeface="Georgia"/>
              </a:rPr>
              <a:t>8</a:t>
            </a:r>
          </a:p>
        </p:txBody>
      </p:sp>
      <p:sp>
        <p:nvSpPr>
          <p:cNvPr id="36" name="TextBox 35"/>
          <p:cNvSpPr txBox="1"/>
          <p:nvPr/>
        </p:nvSpPr>
        <p:spPr>
          <a:xfrm>
            <a:off x="3840480" y="3246120"/>
            <a:ext cx="2286000" cy="310896"/>
          </a:xfrm>
          <a:prstGeom prst="rect">
            <a:avLst/>
          </a:prstGeom>
          <a:noFill/>
        </p:spPr>
        <p:txBody>
          <a:bodyPr wrap="square" anchor="t" lIns="45720" rIns="45720" tIns="27432" bIns="27432">
            <a:noAutofit/>
          </a:bodyPr>
          <a:lstStyle/>
          <a:p>
            <a:pPr algn="l">
              <a:spcBef>
                <a:spcPts val="0"/>
              </a:spcBef>
              <a:spcAft>
                <a:spcPts val="0"/>
              </a:spcAft>
            </a:pPr>
            <a:r>
              <a:rPr sz="1600" b="1" i="0">
                <a:solidFill>
                  <a:srgbClr val="1F2A37"/>
                </a:solidFill>
                <a:latin typeface="Georgia"/>
              </a:rPr>
              <a:t>missing_info</a:t>
            </a:r>
          </a:p>
        </p:txBody>
      </p:sp>
      <p:sp>
        <p:nvSpPr>
          <p:cNvPr id="37" name="TextBox 36"/>
          <p:cNvSpPr txBox="1"/>
          <p:nvPr/>
        </p:nvSpPr>
        <p:spPr>
          <a:xfrm>
            <a:off x="3840480" y="3566160"/>
            <a:ext cx="2286000" cy="932688"/>
          </a:xfrm>
          <a:prstGeom prst="rect">
            <a:avLst/>
          </a:prstGeom>
          <a:noFill/>
        </p:spPr>
        <p:txBody>
          <a:bodyPr wrap="square" anchor="t" lIns="45720" rIns="45720" tIns="27432" bIns="27432">
            <a:noAutofit/>
          </a:bodyPr>
          <a:lstStyle/>
          <a:p>
            <a:pPr algn="l">
              <a:spcBef>
                <a:spcPts val="0"/>
              </a:spcBef>
              <a:spcAft>
                <a:spcPts val="0"/>
              </a:spcAft>
            </a:pPr>
            <a:r>
              <a:rPr sz="1400" b="0" i="0">
                <a:solidFill>
                  <a:srgbClr val="1F2A37"/>
                </a:solidFill>
                <a:latin typeface="Calibri"/>
              </a:rPr>
              <a:t>intent, availability, address, contact, COD, access, logistics, cause</a:t>
            </a:r>
          </a:p>
        </p:txBody>
      </p:sp>
      <p:cxnSp>
        <p:nvCxnSpPr>
          <p:cNvPr id="38" name="Connector 37"/>
          <p:cNvCxnSpPr/>
          <p:nvPr/>
        </p:nvCxnSpPr>
        <p:spPr>
          <a:xfrm>
            <a:off x="6309360" y="2450592"/>
            <a:ext cx="2286000" cy="0"/>
          </a:xfrm>
          <a:prstGeom prst="line">
            <a:avLst/>
          </a:prstGeom>
          <a:ln w="28575">
            <a:solidFill>
              <a:srgbClr val="C58B4B"/>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6309360" y="2468880"/>
            <a:ext cx="2286000" cy="777240"/>
          </a:xfrm>
          <a:prstGeom prst="rect">
            <a:avLst/>
          </a:prstGeom>
          <a:noFill/>
        </p:spPr>
        <p:txBody>
          <a:bodyPr wrap="square" anchor="ctr" lIns="45720" rIns="45720" tIns="27432" bIns="27432">
            <a:noAutofit/>
          </a:bodyPr>
          <a:lstStyle/>
          <a:p>
            <a:pPr algn="l">
              <a:spcBef>
                <a:spcPts val="0"/>
              </a:spcBef>
              <a:spcAft>
                <a:spcPts val="0"/>
              </a:spcAft>
            </a:pPr>
            <a:r>
              <a:rPr sz="4600" b="1" i="0">
                <a:solidFill>
                  <a:srgbClr val="0E5E6F"/>
                </a:solidFill>
                <a:latin typeface="Georgia"/>
              </a:rPr>
              <a:t>5</a:t>
            </a:r>
          </a:p>
        </p:txBody>
      </p:sp>
      <p:sp>
        <p:nvSpPr>
          <p:cNvPr id="40" name="TextBox 39"/>
          <p:cNvSpPr txBox="1"/>
          <p:nvPr/>
        </p:nvSpPr>
        <p:spPr>
          <a:xfrm>
            <a:off x="6309360" y="3246120"/>
            <a:ext cx="2286000" cy="310896"/>
          </a:xfrm>
          <a:prstGeom prst="rect">
            <a:avLst/>
          </a:prstGeom>
          <a:noFill/>
        </p:spPr>
        <p:txBody>
          <a:bodyPr wrap="square" anchor="t" lIns="45720" rIns="45720" tIns="27432" bIns="27432">
            <a:noAutofit/>
          </a:bodyPr>
          <a:lstStyle/>
          <a:p>
            <a:pPr algn="l">
              <a:spcBef>
                <a:spcPts val="0"/>
              </a:spcBef>
              <a:spcAft>
                <a:spcPts val="0"/>
              </a:spcAft>
            </a:pPr>
            <a:r>
              <a:rPr sz="1600" b="1" i="0">
                <a:solidFill>
                  <a:srgbClr val="1F2A37"/>
                </a:solidFill>
                <a:latin typeface="Georgia"/>
              </a:rPr>
              <a:t>candidate actions</a:t>
            </a:r>
          </a:p>
        </p:txBody>
      </p:sp>
      <p:sp>
        <p:nvSpPr>
          <p:cNvPr id="41" name="TextBox 40"/>
          <p:cNvSpPr txBox="1"/>
          <p:nvPr/>
        </p:nvSpPr>
        <p:spPr>
          <a:xfrm>
            <a:off x="6309360" y="3566160"/>
            <a:ext cx="2286000" cy="932688"/>
          </a:xfrm>
          <a:prstGeom prst="rect">
            <a:avLst/>
          </a:prstGeom>
          <a:noFill/>
        </p:spPr>
        <p:txBody>
          <a:bodyPr wrap="square" anchor="t" lIns="45720" rIns="45720" tIns="27432" bIns="27432">
            <a:noAutofit/>
          </a:bodyPr>
          <a:lstStyle/>
          <a:p>
            <a:pPr algn="l">
              <a:spcBef>
                <a:spcPts val="0"/>
              </a:spcBef>
              <a:spcAft>
                <a:spcPts val="0"/>
              </a:spcAft>
            </a:pPr>
            <a:r>
              <a:rPr sz="1400" b="0" i="0">
                <a:solidFill>
                  <a:srgbClr val="1F2A37"/>
                </a:solidFill>
                <a:latin typeface="Calibri"/>
              </a:rPr>
              <a:t>clarify, standard re-attempt, hold, escalate review, no action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6EF"/>
        </a:solidFill>
        <a:effectLst/>
      </p:bgPr>
    </p:bg>
    <p:spTree>
      <p:nvGrpSpPr>
        <p:cNvPr id="1" name=""/>
        <p:cNvGrpSpPr/>
        <p:nvPr/>
      </p:nvGrpSpPr>
      <p:grpSpPr/>
      <p:sp>
        <p:nvSpPr>
          <p:cNvPr id="2" name="TextBox 1"/>
          <p:cNvSpPr txBox="1"/>
          <p:nvPr/>
        </p:nvSpPr>
        <p:spPr>
          <a:xfrm>
            <a:off x="512064" y="256032"/>
            <a:ext cx="731520" cy="731520"/>
          </a:xfrm>
          <a:prstGeom prst="rect">
            <a:avLst/>
          </a:prstGeom>
          <a:noFill/>
        </p:spPr>
        <p:txBody>
          <a:bodyPr wrap="square" anchor="t" lIns="45720" rIns="45720" tIns="27432" bIns="27432">
            <a:noAutofit/>
          </a:bodyPr>
          <a:lstStyle/>
          <a:p>
            <a:pPr algn="l">
              <a:spcBef>
                <a:spcPts val="0"/>
              </a:spcBef>
              <a:spcAft>
                <a:spcPts val="0"/>
              </a:spcAft>
            </a:pPr>
            <a:r>
              <a:rPr sz="4400" b="1" i="0">
                <a:solidFill>
                  <a:srgbClr val="0E5E6F"/>
                </a:solidFill>
                <a:latin typeface="Georgia"/>
              </a:rPr>
              <a:t>4</a:t>
            </a:r>
          </a:p>
        </p:txBody>
      </p:sp>
      <p:cxnSp>
        <p:nvCxnSpPr>
          <p:cNvPr id="3" name="Connector 2"/>
          <p:cNvCxnSpPr/>
          <p:nvPr/>
        </p:nvCxnSpPr>
        <p:spPr>
          <a:xfrm>
            <a:off x="621792" y="1051560"/>
            <a:ext cx="0" cy="3337560"/>
          </a:xfrm>
          <a:prstGeom prst="line">
            <a:avLst/>
          </a:prstGeom>
          <a:ln w="12700">
            <a:solidFill>
              <a:srgbClr val="C58B4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371600" y="274320"/>
            <a:ext cx="7223760" cy="219456"/>
          </a:xfrm>
          <a:prstGeom prst="rect">
            <a:avLst/>
          </a:prstGeom>
          <a:noFill/>
        </p:spPr>
        <p:txBody>
          <a:bodyPr wrap="square" anchor="t" lIns="45720" rIns="45720" tIns="27432" bIns="27432">
            <a:noAutofit/>
          </a:bodyPr>
          <a:lstStyle/>
          <a:p>
            <a:pPr algn="l">
              <a:spcBef>
                <a:spcPts val="0"/>
              </a:spcBef>
              <a:spcAft>
                <a:spcPts val="0"/>
              </a:spcAft>
            </a:pPr>
            <a:r>
              <a:rPr sz="1100" b="1" i="0">
                <a:solidFill>
                  <a:srgbClr val="0E5E6F"/>
                </a:solidFill>
                <a:latin typeface="Calibri"/>
              </a:rPr>
              <a:t>SOLUTION</a:t>
            </a:r>
          </a:p>
        </p:txBody>
      </p:sp>
      <p:sp>
        <p:nvSpPr>
          <p:cNvPr id="5" name="TextBox 4"/>
          <p:cNvSpPr txBox="1"/>
          <p:nvPr/>
        </p:nvSpPr>
        <p:spPr>
          <a:xfrm>
            <a:off x="548640" y="4818888"/>
            <a:ext cx="5486400" cy="219456"/>
          </a:xfrm>
          <a:prstGeom prst="rect">
            <a:avLst/>
          </a:prstGeom>
          <a:noFill/>
        </p:spPr>
        <p:txBody>
          <a:bodyPr wrap="square" anchor="t" lIns="45720" rIns="45720" tIns="27432" bIns="27432">
            <a:noAutofit/>
          </a:bodyPr>
          <a:lstStyle/>
          <a:p>
            <a:pPr algn="l">
              <a:spcBef>
                <a:spcPts val="0"/>
              </a:spcBef>
              <a:spcAft>
                <a:spcPts val="0"/>
              </a:spcAft>
            </a:pPr>
            <a:r>
              <a:rPr sz="1100" b="0" i="0">
                <a:solidFill>
                  <a:srgbClr val="5B6270"/>
                </a:solidFill>
                <a:latin typeface="Calibri"/>
              </a:rPr>
              <a:t>Order Rescue | synthetic data only | local MVP</a:t>
            </a:r>
          </a:p>
        </p:txBody>
      </p:sp>
      <p:sp>
        <p:nvSpPr>
          <p:cNvPr id="6" name="TextBox 5"/>
          <p:cNvSpPr txBox="1"/>
          <p:nvPr/>
        </p:nvSpPr>
        <p:spPr>
          <a:xfrm>
            <a:off x="7680960" y="4818888"/>
            <a:ext cx="914400" cy="219456"/>
          </a:xfrm>
          <a:prstGeom prst="rect">
            <a:avLst/>
          </a:prstGeom>
          <a:noFill/>
        </p:spPr>
        <p:txBody>
          <a:bodyPr wrap="square" anchor="t" lIns="45720" rIns="45720" tIns="27432" bIns="27432">
            <a:noAutofit/>
          </a:bodyPr>
          <a:lstStyle/>
          <a:p>
            <a:pPr algn="r">
              <a:spcBef>
                <a:spcPts val="0"/>
              </a:spcBef>
              <a:spcAft>
                <a:spcPts val="0"/>
              </a:spcAft>
            </a:pPr>
            <a:r>
              <a:rPr sz="1100" b="0" i="0">
                <a:solidFill>
                  <a:srgbClr val="5B6270"/>
                </a:solidFill>
                <a:latin typeface="Calibri"/>
              </a:rPr>
              <a:t>7 / 15</a:t>
            </a:r>
          </a:p>
        </p:txBody>
      </p:sp>
      <p:cxnSp>
        <p:nvCxnSpPr>
          <p:cNvPr id="7" name="Connector 6"/>
          <p:cNvCxnSpPr/>
          <p:nvPr/>
        </p:nvCxnSpPr>
        <p:spPr>
          <a:xfrm>
            <a:off x="548640" y="4645152"/>
            <a:ext cx="8046720" cy="0"/>
          </a:xfrm>
          <a:prstGeom prst="line">
            <a:avLst/>
          </a:prstGeom>
          <a:ln w="12700">
            <a:solidFill>
              <a:srgbClr val="C58B4B"/>
            </a:solidFill>
          </a:ln>
        </p:spPr>
        <p:style>
          <a:lnRef idx="2">
            <a:schemeClr val="accent1"/>
          </a:lnRef>
          <a:fillRef idx="0">
            <a:schemeClr val="accent1"/>
          </a:fillRef>
          <a:effectRef idx="1">
            <a:schemeClr val="accent1"/>
          </a:effectRef>
          <a:fontRef idx="minor">
            <a:schemeClr val="tx1"/>
          </a:fontRef>
        </p:style>
      </p:cxnSp>
      <p:sp>
        <p:nvSpPr>
          <p:cNvPr id="8" name="Oval 7"/>
          <p:cNvSpPr/>
          <p:nvPr/>
        </p:nvSpPr>
        <p:spPr>
          <a:xfrm>
            <a:off x="498348" y="4594860"/>
            <a:ext cx="100584" cy="100584"/>
          </a:xfrm>
          <a:prstGeom prst="ellipse">
            <a:avLst/>
          </a:prstGeom>
          <a:solidFill>
            <a:srgbClr val="FAF6E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73114" y="4594860"/>
            <a:ext cx="100584" cy="100584"/>
          </a:xfrm>
          <a:prstGeom prst="ellipse">
            <a:avLst/>
          </a:prstGeom>
          <a:solidFill>
            <a:srgbClr val="FAF6E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647879" y="4594860"/>
            <a:ext cx="100584" cy="100584"/>
          </a:xfrm>
          <a:prstGeom prst="ellipse">
            <a:avLst/>
          </a:prstGeom>
          <a:solidFill>
            <a:srgbClr val="FAF6E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222645" y="4594860"/>
            <a:ext cx="100584" cy="100584"/>
          </a:xfrm>
          <a:prstGeom prst="ellipse">
            <a:avLst/>
          </a:prstGeom>
          <a:solidFill>
            <a:srgbClr val="FAF6E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2797411" y="4594860"/>
            <a:ext cx="100584" cy="100584"/>
          </a:xfrm>
          <a:prstGeom prst="ellipse">
            <a:avLst/>
          </a:prstGeom>
          <a:solidFill>
            <a:srgbClr val="FAF6E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3372177" y="4594860"/>
            <a:ext cx="100584" cy="100584"/>
          </a:xfrm>
          <a:prstGeom prst="ellipse">
            <a:avLst/>
          </a:prstGeom>
          <a:solidFill>
            <a:srgbClr val="FAF6E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905794" y="4553712"/>
            <a:ext cx="182880" cy="182880"/>
          </a:xfrm>
          <a:prstGeom prst="ellipse">
            <a:avLst/>
          </a:prstGeom>
          <a:solidFill>
            <a:srgbClr val="0E5E6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521708" y="4594860"/>
            <a:ext cx="100584" cy="100584"/>
          </a:xfrm>
          <a:prstGeom prst="ellipse">
            <a:avLst/>
          </a:prstGeom>
          <a:solidFill>
            <a:srgbClr val="FAF6E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096474" y="4594860"/>
            <a:ext cx="100584" cy="100584"/>
          </a:xfrm>
          <a:prstGeom prst="ellipse">
            <a:avLst/>
          </a:prstGeom>
          <a:solidFill>
            <a:srgbClr val="FAF6E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5671239" y="4594860"/>
            <a:ext cx="100584" cy="100584"/>
          </a:xfrm>
          <a:prstGeom prst="ellipse">
            <a:avLst/>
          </a:prstGeom>
          <a:solidFill>
            <a:srgbClr val="FAF6E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246005" y="4594860"/>
            <a:ext cx="100584" cy="100584"/>
          </a:xfrm>
          <a:prstGeom prst="ellipse">
            <a:avLst/>
          </a:prstGeom>
          <a:solidFill>
            <a:srgbClr val="FAF6E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20771" y="4594860"/>
            <a:ext cx="100584" cy="100584"/>
          </a:xfrm>
          <a:prstGeom prst="ellipse">
            <a:avLst/>
          </a:prstGeom>
          <a:solidFill>
            <a:srgbClr val="FAF6EF"/>
          </a:solidFill>
          <a:ln w="15875">
            <a:solidFill>
              <a:srgbClr val="C58B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395537" y="4594860"/>
            <a:ext cx="100584" cy="100584"/>
          </a:xfrm>
          <a:prstGeom prst="ellipse">
            <a:avLst/>
          </a:prstGeom>
          <a:solidFill>
            <a:srgbClr val="FAF6EF"/>
          </a:solidFill>
          <a:ln w="15875">
            <a:solidFill>
              <a:srgbClr val="C58B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970302" y="4594860"/>
            <a:ext cx="100584" cy="100584"/>
          </a:xfrm>
          <a:prstGeom prst="ellipse">
            <a:avLst/>
          </a:prstGeom>
          <a:solidFill>
            <a:srgbClr val="FAF6EF"/>
          </a:solidFill>
          <a:ln w="15875">
            <a:solidFill>
              <a:srgbClr val="C58B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8545068" y="4594860"/>
            <a:ext cx="100584" cy="100584"/>
          </a:xfrm>
          <a:prstGeom prst="ellipse">
            <a:avLst/>
          </a:prstGeom>
          <a:solidFill>
            <a:srgbClr val="FAF6EF"/>
          </a:solidFill>
          <a:ln w="15875">
            <a:solidFill>
              <a:srgbClr val="C58B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371600" y="502920"/>
            <a:ext cx="7223760" cy="902208"/>
          </a:xfrm>
          <a:prstGeom prst="rect">
            <a:avLst/>
          </a:prstGeom>
          <a:noFill/>
        </p:spPr>
        <p:txBody>
          <a:bodyPr wrap="square" anchor="t" lIns="45720" rIns="45720" tIns="27432" bIns="27432">
            <a:noAutofit/>
          </a:bodyPr>
          <a:lstStyle/>
          <a:p>
            <a:pPr algn="l">
              <a:lnSpc>
                <a:spcPct val="95000"/>
              </a:lnSpc>
              <a:spcBef>
                <a:spcPts val="0"/>
              </a:spcBef>
              <a:spcAft>
                <a:spcPts val="0"/>
              </a:spcAft>
            </a:pPr>
            <a:r>
              <a:rPr sz="2800" b="1" i="0">
                <a:solidFill>
                  <a:srgbClr val="1F2A37"/>
                </a:solidFill>
                <a:latin typeface="Georgia"/>
              </a:rPr>
              <a:t>Policy gate: the LLM never grants itself permission</a:t>
            </a:r>
          </a:p>
        </p:txBody>
      </p:sp>
      <p:sp>
        <p:nvSpPr>
          <p:cNvPr id="24" name="Rectangle 23"/>
          <p:cNvSpPr/>
          <p:nvPr/>
        </p:nvSpPr>
        <p:spPr>
          <a:xfrm>
            <a:off x="1371600" y="1554480"/>
            <a:ext cx="2743200" cy="2148840"/>
          </a:xfrm>
          <a:prstGeom prst="rect">
            <a:avLst/>
          </a:prstGeom>
          <a:solidFill>
            <a:srgbClr val="E9DFC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bIns="137160">
            <a:noAutofit/>
          </a:bodyPr>
          <a:lstStyle/>
          <a:p>
            <a:pPr algn="l">
              <a:spcBef>
                <a:spcPts val="0"/>
              </a:spcBef>
              <a:spcAft>
                <a:spcPts val="600"/>
              </a:spcAft>
            </a:pPr>
            <a:r>
              <a:rPr sz="1800" b="1" i="0">
                <a:solidFill>
                  <a:srgbClr val="0E5E6F"/>
                </a:solidFill>
                <a:latin typeface="Georgia"/>
              </a:rPr>
              <a:t>Agent proposes</a:t>
            </a:r>
          </a:p>
          <a:p>
            <a:pPr algn="l">
              <a:spcBef>
                <a:spcPts val="0"/>
              </a:spcBef>
              <a:spcAft>
                <a:spcPts val="300"/>
              </a:spcAft>
            </a:pPr>
            <a:r>
              <a:rPr sz="1400" b="0" i="0">
                <a:solidFill>
                  <a:srgbClr val="1F2A37"/>
                </a:solidFill>
                <a:latin typeface="Calibri"/>
              </a:rPr>
              <a:t>•  Evidence and hypothesis</a:t>
            </a:r>
          </a:p>
          <a:p>
            <a:pPr algn="l">
              <a:spcBef>
                <a:spcPts val="0"/>
              </a:spcBef>
              <a:spcAft>
                <a:spcPts val="300"/>
              </a:spcAft>
            </a:pPr>
            <a:r>
              <a:rPr sz="1400" b="0" i="0">
                <a:solidFill>
                  <a:srgbClr val="1F2A37"/>
                </a:solidFill>
                <a:latin typeface="Calibri"/>
              </a:rPr>
              <a:t>•  Missing information</a:t>
            </a:r>
          </a:p>
          <a:p>
            <a:pPr algn="l">
              <a:spcBef>
                <a:spcPts val="0"/>
              </a:spcBef>
              <a:spcAft>
                <a:spcPts val="300"/>
              </a:spcAft>
            </a:pPr>
            <a:r>
              <a:rPr sz="1400" b="0" i="0">
                <a:solidFill>
                  <a:srgbClr val="1F2A37"/>
                </a:solidFill>
                <a:latin typeface="Calibri"/>
              </a:rPr>
              <a:t>•  One question</a:t>
            </a:r>
          </a:p>
          <a:p>
            <a:pPr algn="l">
              <a:spcBef>
                <a:spcPts val="0"/>
              </a:spcBef>
              <a:spcAft>
                <a:spcPts val="300"/>
              </a:spcAft>
            </a:pPr>
            <a:r>
              <a:rPr sz="1400" b="0" i="0">
                <a:solidFill>
                  <a:srgbClr val="1F2A37"/>
                </a:solidFill>
                <a:latin typeface="Calibri"/>
              </a:rPr>
              <a:t>•  Candidate action</a:t>
            </a:r>
          </a:p>
          <a:p>
            <a:pPr algn="l">
              <a:spcBef>
                <a:spcPts val="0"/>
              </a:spcBef>
              <a:spcAft>
                <a:spcPts val="300"/>
              </a:spcAft>
            </a:pPr>
            <a:r>
              <a:rPr sz="1400" b="0" i="0">
                <a:solidFill>
                  <a:srgbClr val="1F2A37"/>
                </a:solidFill>
                <a:latin typeface="Calibri"/>
              </a:rPr>
              <a:t>•  Today: rule-based; LLM is next</a:t>
            </a:r>
          </a:p>
        </p:txBody>
      </p:sp>
      <p:sp>
        <p:nvSpPr>
          <p:cNvPr id="25" name="Rectangle 24"/>
          <p:cNvSpPr/>
          <p:nvPr/>
        </p:nvSpPr>
        <p:spPr>
          <a:xfrm>
            <a:off x="4526280" y="1371600"/>
            <a:ext cx="146304" cy="2514600"/>
          </a:xfrm>
          <a:prstGeom prst="rect">
            <a:avLst/>
          </a:prstGeom>
          <a:solidFill>
            <a:srgbClr val="D64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212080" y="1554480"/>
            <a:ext cx="3383280" cy="2148840"/>
          </a:xfrm>
          <a:prstGeom prst="rect">
            <a:avLst/>
          </a:prstGeom>
          <a:solidFill>
            <a:srgbClr val="0E5E6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bIns="137160">
            <a:noAutofit/>
          </a:bodyPr>
          <a:lstStyle/>
          <a:p>
            <a:pPr algn="l">
              <a:spcBef>
                <a:spcPts val="0"/>
              </a:spcBef>
              <a:spcAft>
                <a:spcPts val="600"/>
              </a:spcAft>
            </a:pPr>
            <a:r>
              <a:rPr sz="1800" b="1" i="0">
                <a:solidFill>
                  <a:srgbClr val="FAF6EF"/>
                </a:solidFill>
                <a:latin typeface="Georgia"/>
              </a:rPr>
              <a:t>Policy engine decides</a:t>
            </a:r>
          </a:p>
          <a:p>
            <a:pPr algn="l">
              <a:spcBef>
                <a:spcPts val="0"/>
              </a:spcBef>
              <a:spcAft>
                <a:spcPts val="300"/>
              </a:spcAft>
            </a:pPr>
            <a:r>
              <a:rPr sz="1400" b="0" i="0">
                <a:solidFill>
                  <a:srgbClr val="FAF6EF"/>
                </a:solidFill>
                <a:latin typeface="Calibri"/>
              </a:rPr>
              <a:t>•  Eligibility and attempts left</a:t>
            </a:r>
          </a:p>
          <a:p>
            <a:pPr algn="l">
              <a:spcBef>
                <a:spcPts val="0"/>
              </a:spcBef>
              <a:spcAft>
                <a:spcPts val="300"/>
              </a:spcAft>
            </a:pPr>
            <a:r>
              <a:rPr sz="1400" b="0" i="0">
                <a:solidFill>
                  <a:srgbClr val="FAF6EF"/>
                </a:solidFill>
                <a:latin typeface="Calibri"/>
              </a:rPr>
              <a:t>•  Silence is not refusal</a:t>
            </a:r>
          </a:p>
          <a:p>
            <a:pPr algn="l">
              <a:spcBef>
                <a:spcPts val="0"/>
              </a:spcBef>
              <a:spcAft>
                <a:spcPts val="300"/>
              </a:spcAft>
            </a:pPr>
            <a:r>
              <a:rPr sz="1400" b="0" i="0">
                <a:solidFill>
                  <a:srgbClr val="FAF6EF"/>
                </a:solidFill>
                <a:latin typeface="Calibri"/>
              </a:rPr>
              <a:t>•  Courier note is unverified</a:t>
            </a:r>
          </a:p>
          <a:p>
            <a:pPr algn="l">
              <a:spcBef>
                <a:spcPts val="0"/>
              </a:spcBef>
              <a:spcAft>
                <a:spcPts val="300"/>
              </a:spcAft>
            </a:pPr>
            <a:r>
              <a:rPr sz="1400" b="0" i="0">
                <a:solidFill>
                  <a:srgbClr val="FAF6EF"/>
                </a:solidFill>
                <a:latin typeface="Calibri"/>
              </a:rPr>
              <a:t>•  Blocks address change, dispatch, refund</a:t>
            </a:r>
          </a:p>
        </p:txBody>
      </p:sp>
      <p:cxnSp>
        <p:nvCxnSpPr>
          <p:cNvPr id="27" name="Connector 26"/>
          <p:cNvCxnSpPr>
            <a:endCxn id="25" idx="1"/>
          </p:cNvCxnSpPr>
          <p:nvPr/>
        </p:nvCxnSpPr>
        <p:spPr>
          <a:xfrm>
            <a:off x="4114800" y="2628900"/>
            <a:ext cx="411480" cy="0"/>
          </a:xfrm>
          <a:prstGeom prst="line">
            <a:avLst/>
          </a:prstGeom>
          <a:ln w="22225">
            <a:solidFill>
              <a:srgbClr val="1F2A3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a:endCxn id="26" idx="1"/>
          </p:cNvCxnSpPr>
          <p:nvPr/>
        </p:nvCxnSpPr>
        <p:spPr>
          <a:xfrm>
            <a:off x="4672584" y="2628900"/>
            <a:ext cx="539496" cy="0"/>
          </a:xfrm>
          <a:prstGeom prst="line">
            <a:avLst/>
          </a:prstGeom>
          <a:ln w="22225">
            <a:solidFill>
              <a:srgbClr val="1F2A3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1371600" y="3913632"/>
            <a:ext cx="7223760" cy="502920"/>
          </a:xfrm>
          <a:prstGeom prst="rect">
            <a:avLst/>
          </a:prstGeom>
          <a:noFill/>
        </p:spPr>
        <p:txBody>
          <a:bodyPr wrap="square" anchor="t" lIns="45720" rIns="45720" tIns="27432" bIns="27432">
            <a:noAutofit/>
          </a:bodyPr>
          <a:lstStyle/>
          <a:p>
            <a:pPr algn="l">
              <a:spcBef>
                <a:spcPts val="0"/>
              </a:spcBef>
              <a:spcAft>
                <a:spcPts val="0"/>
              </a:spcAft>
            </a:pPr>
            <a:r>
              <a:rPr sz="2000" b="0" i="1">
                <a:solidFill>
                  <a:srgbClr val="B83A26"/>
                </a:solidFill>
                <a:latin typeface="Georgia"/>
              </a:rPr>
              <a:t>High confidence never overrides policy.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AF6EF"/>
        </a:solidFill>
        <a:effectLst/>
      </p:bgPr>
    </p:bg>
    <p:spTree>
      <p:nvGrpSpPr>
        <p:cNvPr id="1" name=""/>
        <p:cNvGrpSpPr/>
        <p:nvPr/>
      </p:nvGrpSpPr>
      <p:grpSpPr/>
      <p:sp>
        <p:nvSpPr>
          <p:cNvPr id="2" name="TextBox 1"/>
          <p:cNvSpPr txBox="1"/>
          <p:nvPr/>
        </p:nvSpPr>
        <p:spPr>
          <a:xfrm>
            <a:off x="512064" y="256032"/>
            <a:ext cx="731520" cy="731520"/>
          </a:xfrm>
          <a:prstGeom prst="rect">
            <a:avLst/>
          </a:prstGeom>
          <a:noFill/>
        </p:spPr>
        <p:txBody>
          <a:bodyPr wrap="square" anchor="t" lIns="45720" rIns="45720" tIns="27432" bIns="27432">
            <a:noAutofit/>
          </a:bodyPr>
          <a:lstStyle/>
          <a:p>
            <a:pPr algn="l">
              <a:spcBef>
                <a:spcPts val="0"/>
              </a:spcBef>
              <a:spcAft>
                <a:spcPts val="0"/>
              </a:spcAft>
            </a:pPr>
            <a:r>
              <a:rPr sz="4400" b="1" i="0">
                <a:solidFill>
                  <a:srgbClr val="0E5E6F"/>
                </a:solidFill>
                <a:latin typeface="Georgia"/>
              </a:rPr>
              <a:t>5</a:t>
            </a:r>
          </a:p>
        </p:txBody>
      </p:sp>
      <p:cxnSp>
        <p:nvCxnSpPr>
          <p:cNvPr id="3" name="Connector 2"/>
          <p:cNvCxnSpPr/>
          <p:nvPr/>
        </p:nvCxnSpPr>
        <p:spPr>
          <a:xfrm>
            <a:off x="621792" y="1051560"/>
            <a:ext cx="0" cy="3337560"/>
          </a:xfrm>
          <a:prstGeom prst="line">
            <a:avLst/>
          </a:prstGeom>
          <a:ln w="12700">
            <a:solidFill>
              <a:srgbClr val="C58B4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371600" y="274320"/>
            <a:ext cx="7223760" cy="219456"/>
          </a:xfrm>
          <a:prstGeom prst="rect">
            <a:avLst/>
          </a:prstGeom>
          <a:noFill/>
        </p:spPr>
        <p:txBody>
          <a:bodyPr wrap="square" anchor="t" lIns="45720" rIns="45720" tIns="27432" bIns="27432">
            <a:noAutofit/>
          </a:bodyPr>
          <a:lstStyle/>
          <a:p>
            <a:pPr algn="l">
              <a:spcBef>
                <a:spcPts val="0"/>
              </a:spcBef>
              <a:spcAft>
                <a:spcPts val="0"/>
              </a:spcAft>
            </a:pPr>
            <a:r>
              <a:rPr sz="1100" b="1" i="0">
                <a:solidFill>
                  <a:srgbClr val="0E5E6F"/>
                </a:solidFill>
                <a:latin typeface="Calibri"/>
              </a:rPr>
              <a:t>MVP ARCHITECTURE</a:t>
            </a:r>
          </a:p>
        </p:txBody>
      </p:sp>
      <p:sp>
        <p:nvSpPr>
          <p:cNvPr id="5" name="TextBox 4"/>
          <p:cNvSpPr txBox="1"/>
          <p:nvPr/>
        </p:nvSpPr>
        <p:spPr>
          <a:xfrm>
            <a:off x="548640" y="4818888"/>
            <a:ext cx="5486400" cy="219456"/>
          </a:xfrm>
          <a:prstGeom prst="rect">
            <a:avLst/>
          </a:prstGeom>
          <a:noFill/>
        </p:spPr>
        <p:txBody>
          <a:bodyPr wrap="square" anchor="t" lIns="45720" rIns="45720" tIns="27432" bIns="27432">
            <a:noAutofit/>
          </a:bodyPr>
          <a:lstStyle/>
          <a:p>
            <a:pPr algn="l">
              <a:spcBef>
                <a:spcPts val="0"/>
              </a:spcBef>
              <a:spcAft>
                <a:spcPts val="0"/>
              </a:spcAft>
            </a:pPr>
            <a:r>
              <a:rPr sz="1100" b="0" i="0">
                <a:solidFill>
                  <a:srgbClr val="5B6270"/>
                </a:solidFill>
                <a:latin typeface="Calibri"/>
              </a:rPr>
              <a:t>Order Rescue | synthetic data only | local MVP</a:t>
            </a:r>
          </a:p>
        </p:txBody>
      </p:sp>
      <p:sp>
        <p:nvSpPr>
          <p:cNvPr id="6" name="TextBox 5"/>
          <p:cNvSpPr txBox="1"/>
          <p:nvPr/>
        </p:nvSpPr>
        <p:spPr>
          <a:xfrm>
            <a:off x="7680960" y="4818888"/>
            <a:ext cx="914400" cy="219456"/>
          </a:xfrm>
          <a:prstGeom prst="rect">
            <a:avLst/>
          </a:prstGeom>
          <a:noFill/>
        </p:spPr>
        <p:txBody>
          <a:bodyPr wrap="square" anchor="t" lIns="45720" rIns="45720" tIns="27432" bIns="27432">
            <a:noAutofit/>
          </a:bodyPr>
          <a:lstStyle/>
          <a:p>
            <a:pPr algn="r">
              <a:spcBef>
                <a:spcPts val="0"/>
              </a:spcBef>
              <a:spcAft>
                <a:spcPts val="0"/>
              </a:spcAft>
            </a:pPr>
            <a:r>
              <a:rPr sz="1100" b="0" i="0">
                <a:solidFill>
                  <a:srgbClr val="5B6270"/>
                </a:solidFill>
                <a:latin typeface="Calibri"/>
              </a:rPr>
              <a:t>8 / 15</a:t>
            </a:r>
          </a:p>
        </p:txBody>
      </p:sp>
      <p:cxnSp>
        <p:nvCxnSpPr>
          <p:cNvPr id="7" name="Connector 6"/>
          <p:cNvCxnSpPr/>
          <p:nvPr/>
        </p:nvCxnSpPr>
        <p:spPr>
          <a:xfrm>
            <a:off x="548640" y="4645152"/>
            <a:ext cx="8046720" cy="0"/>
          </a:xfrm>
          <a:prstGeom prst="line">
            <a:avLst/>
          </a:prstGeom>
          <a:ln w="12700">
            <a:solidFill>
              <a:srgbClr val="C58B4B"/>
            </a:solidFill>
          </a:ln>
        </p:spPr>
        <p:style>
          <a:lnRef idx="2">
            <a:schemeClr val="accent1"/>
          </a:lnRef>
          <a:fillRef idx="0">
            <a:schemeClr val="accent1"/>
          </a:fillRef>
          <a:effectRef idx="1">
            <a:schemeClr val="accent1"/>
          </a:effectRef>
          <a:fontRef idx="minor">
            <a:schemeClr val="tx1"/>
          </a:fontRef>
        </p:style>
      </p:cxnSp>
      <p:sp>
        <p:nvSpPr>
          <p:cNvPr id="8" name="Oval 7"/>
          <p:cNvSpPr/>
          <p:nvPr/>
        </p:nvSpPr>
        <p:spPr>
          <a:xfrm>
            <a:off x="498348" y="4594860"/>
            <a:ext cx="100584" cy="100584"/>
          </a:xfrm>
          <a:prstGeom prst="ellipse">
            <a:avLst/>
          </a:prstGeom>
          <a:solidFill>
            <a:srgbClr val="FAF6E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73114" y="4594860"/>
            <a:ext cx="100584" cy="100584"/>
          </a:xfrm>
          <a:prstGeom prst="ellipse">
            <a:avLst/>
          </a:prstGeom>
          <a:solidFill>
            <a:srgbClr val="FAF6E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647879" y="4594860"/>
            <a:ext cx="100584" cy="100584"/>
          </a:xfrm>
          <a:prstGeom prst="ellipse">
            <a:avLst/>
          </a:prstGeom>
          <a:solidFill>
            <a:srgbClr val="FAF6E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222645" y="4594860"/>
            <a:ext cx="100584" cy="100584"/>
          </a:xfrm>
          <a:prstGeom prst="ellipse">
            <a:avLst/>
          </a:prstGeom>
          <a:solidFill>
            <a:srgbClr val="FAF6E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2797411" y="4594860"/>
            <a:ext cx="100584" cy="100584"/>
          </a:xfrm>
          <a:prstGeom prst="ellipse">
            <a:avLst/>
          </a:prstGeom>
          <a:solidFill>
            <a:srgbClr val="FAF6E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3372177" y="4594860"/>
            <a:ext cx="100584" cy="100584"/>
          </a:xfrm>
          <a:prstGeom prst="ellipse">
            <a:avLst/>
          </a:prstGeom>
          <a:solidFill>
            <a:srgbClr val="FAF6E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946942" y="4594860"/>
            <a:ext cx="100584" cy="100584"/>
          </a:xfrm>
          <a:prstGeom prst="ellipse">
            <a:avLst/>
          </a:prstGeom>
          <a:solidFill>
            <a:srgbClr val="FAF6E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480560" y="4553712"/>
            <a:ext cx="182880" cy="182880"/>
          </a:xfrm>
          <a:prstGeom prst="ellipse">
            <a:avLst/>
          </a:prstGeom>
          <a:solidFill>
            <a:srgbClr val="0E5E6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096474" y="4594860"/>
            <a:ext cx="100584" cy="100584"/>
          </a:xfrm>
          <a:prstGeom prst="ellipse">
            <a:avLst/>
          </a:prstGeom>
          <a:solidFill>
            <a:srgbClr val="FAF6E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5671239" y="4594860"/>
            <a:ext cx="100584" cy="100584"/>
          </a:xfrm>
          <a:prstGeom prst="ellipse">
            <a:avLst/>
          </a:prstGeom>
          <a:solidFill>
            <a:srgbClr val="FAF6E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246005" y="4594860"/>
            <a:ext cx="100584" cy="100584"/>
          </a:xfrm>
          <a:prstGeom prst="ellipse">
            <a:avLst/>
          </a:prstGeom>
          <a:solidFill>
            <a:srgbClr val="FAF6E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20771" y="4594860"/>
            <a:ext cx="100584" cy="100584"/>
          </a:xfrm>
          <a:prstGeom prst="ellipse">
            <a:avLst/>
          </a:prstGeom>
          <a:solidFill>
            <a:srgbClr val="FAF6EF"/>
          </a:solidFill>
          <a:ln w="15875">
            <a:solidFill>
              <a:srgbClr val="C58B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395537" y="4594860"/>
            <a:ext cx="100584" cy="100584"/>
          </a:xfrm>
          <a:prstGeom prst="ellipse">
            <a:avLst/>
          </a:prstGeom>
          <a:solidFill>
            <a:srgbClr val="FAF6EF"/>
          </a:solidFill>
          <a:ln w="15875">
            <a:solidFill>
              <a:srgbClr val="C58B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970302" y="4594860"/>
            <a:ext cx="100584" cy="100584"/>
          </a:xfrm>
          <a:prstGeom prst="ellipse">
            <a:avLst/>
          </a:prstGeom>
          <a:solidFill>
            <a:srgbClr val="FAF6EF"/>
          </a:solidFill>
          <a:ln w="15875">
            <a:solidFill>
              <a:srgbClr val="C58B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8545068" y="4594860"/>
            <a:ext cx="100584" cy="100584"/>
          </a:xfrm>
          <a:prstGeom prst="ellipse">
            <a:avLst/>
          </a:prstGeom>
          <a:solidFill>
            <a:srgbClr val="FAF6EF"/>
          </a:solidFill>
          <a:ln w="15875">
            <a:solidFill>
              <a:srgbClr val="C58B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371600" y="502920"/>
            <a:ext cx="7223760" cy="496824"/>
          </a:xfrm>
          <a:prstGeom prst="rect">
            <a:avLst/>
          </a:prstGeom>
          <a:noFill/>
        </p:spPr>
        <p:txBody>
          <a:bodyPr wrap="square" anchor="t" lIns="45720" rIns="45720" tIns="27432" bIns="27432">
            <a:noAutofit/>
          </a:bodyPr>
          <a:lstStyle/>
          <a:p>
            <a:pPr algn="l">
              <a:lnSpc>
                <a:spcPct val="95000"/>
              </a:lnSpc>
              <a:spcBef>
                <a:spcPts val="0"/>
              </a:spcBef>
              <a:spcAft>
                <a:spcPts val="0"/>
              </a:spcAft>
            </a:pPr>
            <a:r>
              <a:rPr sz="2800" b="1" i="0">
                <a:solidFill>
                  <a:srgbClr val="1F2A37"/>
                </a:solidFill>
                <a:latin typeface="Georgia"/>
              </a:rPr>
              <a:t>MVP architecture</a:t>
            </a:r>
          </a:p>
        </p:txBody>
      </p:sp>
      <p:sp>
        <p:nvSpPr>
          <p:cNvPr id="24" name="Rectangle 23"/>
          <p:cNvSpPr/>
          <p:nvPr/>
        </p:nvSpPr>
        <p:spPr>
          <a:xfrm>
            <a:off x="1371600" y="1024128"/>
            <a:ext cx="4572000" cy="694944"/>
          </a:xfrm>
          <a:prstGeom prst="rect">
            <a:avLst/>
          </a:prstGeom>
          <a:solidFill>
            <a:srgbClr val="1F2A37"/>
          </a:solidFill>
          <a:ln w="12700">
            <a:solidFill>
              <a:srgbClr val="1F2A3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27432" bIns="27432">
            <a:noAutofit/>
          </a:bodyPr>
          <a:lstStyle/>
          <a:p>
            <a:pPr algn="ctr">
              <a:spcBef>
                <a:spcPts val="0"/>
              </a:spcBef>
              <a:spcAft>
                <a:spcPts val="0"/>
              </a:spcAft>
            </a:pPr>
            <a:r>
              <a:rPr sz="1400" b="1" i="0">
                <a:solidFill>
                  <a:srgbClr val="FAF6EF"/>
                </a:solidFill>
                <a:latin typeface="Calibri"/>
              </a:rPr>
              <a:t>Ops console</a:t>
            </a:r>
          </a:p>
          <a:p>
            <a:pPr algn="ctr">
              <a:spcBef>
                <a:spcPts val="0"/>
              </a:spcBef>
              <a:spcAft>
                <a:spcPts val="0"/>
              </a:spcAft>
            </a:pPr>
            <a:r>
              <a:rPr sz="1400" b="0" i="0">
                <a:solidFill>
                  <a:srgbClr val="FAF6EF"/>
                </a:solidFill>
                <a:latin typeface="Calibri"/>
              </a:rPr>
              <a:t>recommendation, evidence, audit</a:t>
            </a:r>
          </a:p>
        </p:txBody>
      </p:sp>
      <p:sp>
        <p:nvSpPr>
          <p:cNvPr id="25" name="Rectangle 24"/>
          <p:cNvSpPr/>
          <p:nvPr/>
        </p:nvSpPr>
        <p:spPr>
          <a:xfrm>
            <a:off x="1371600" y="1920240"/>
            <a:ext cx="2194560" cy="694944"/>
          </a:xfrm>
          <a:prstGeom prst="rect">
            <a:avLst/>
          </a:prstGeom>
          <a:solidFill>
            <a:srgbClr val="C58B4B"/>
          </a:solidFill>
          <a:ln w="12700">
            <a:solidFill>
              <a:srgbClr val="1F2A3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27432" bIns="27432">
            <a:noAutofit/>
          </a:bodyPr>
          <a:lstStyle/>
          <a:p>
            <a:pPr algn="ctr">
              <a:spcBef>
                <a:spcPts val="0"/>
              </a:spcBef>
              <a:spcAft>
                <a:spcPts val="0"/>
              </a:spcAft>
            </a:pPr>
            <a:r>
              <a:rPr sz="1400" b="1" i="0">
                <a:solidFill>
                  <a:srgbClr val="1F2A37"/>
                </a:solidFill>
                <a:latin typeface="Calibri"/>
              </a:rPr>
              <a:t>Policy engine</a:t>
            </a:r>
          </a:p>
          <a:p>
            <a:pPr algn="ctr">
              <a:spcBef>
                <a:spcPts val="0"/>
              </a:spcBef>
              <a:spcAft>
                <a:spcPts val="0"/>
              </a:spcAft>
            </a:pPr>
            <a:r>
              <a:rPr sz="1400" b="0" i="0">
                <a:solidFill>
                  <a:srgbClr val="1F2A37"/>
                </a:solidFill>
                <a:latin typeface="Calibri"/>
              </a:rPr>
              <a:t>versioned, deterministic</a:t>
            </a:r>
          </a:p>
        </p:txBody>
      </p:sp>
      <p:sp>
        <p:nvSpPr>
          <p:cNvPr id="26" name="Rectangle 25"/>
          <p:cNvSpPr/>
          <p:nvPr/>
        </p:nvSpPr>
        <p:spPr>
          <a:xfrm>
            <a:off x="3749040" y="1920240"/>
            <a:ext cx="2194560" cy="694944"/>
          </a:xfrm>
          <a:prstGeom prst="rect">
            <a:avLst/>
          </a:prstGeom>
          <a:solidFill>
            <a:srgbClr val="0E5E6F"/>
          </a:solidFill>
          <a:ln w="12700">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27432" bIns="27432">
            <a:noAutofit/>
          </a:bodyPr>
          <a:lstStyle/>
          <a:p>
            <a:pPr algn="ctr">
              <a:spcBef>
                <a:spcPts val="0"/>
              </a:spcBef>
              <a:spcAft>
                <a:spcPts val="0"/>
              </a:spcAft>
            </a:pPr>
            <a:r>
              <a:rPr sz="1400" b="1" i="0">
                <a:solidFill>
                  <a:srgbClr val="FAF6EF"/>
                </a:solidFill>
                <a:latin typeface="Calibri"/>
              </a:rPr>
              <a:t>Agent (LLM: next step)</a:t>
            </a:r>
          </a:p>
          <a:p>
            <a:pPr algn="ctr">
              <a:spcBef>
                <a:spcPts val="0"/>
              </a:spcBef>
              <a:spcAft>
                <a:spcPts val="0"/>
              </a:spcAft>
            </a:pPr>
            <a:r>
              <a:rPr sz="1400" b="0" i="0">
                <a:solidFill>
                  <a:srgbClr val="FAF6EF"/>
                </a:solidFill>
                <a:latin typeface="Calibri"/>
              </a:rPr>
              <a:t>reads allowed sources; outputs 6 fields</a:t>
            </a:r>
          </a:p>
        </p:txBody>
      </p:sp>
      <p:sp>
        <p:nvSpPr>
          <p:cNvPr id="27" name="Rectangle 26"/>
          <p:cNvSpPr/>
          <p:nvPr/>
        </p:nvSpPr>
        <p:spPr>
          <a:xfrm>
            <a:off x="1371600" y="2816352"/>
            <a:ext cx="4572000" cy="694944"/>
          </a:xfrm>
          <a:prstGeom prst="rect">
            <a:avLst/>
          </a:prstGeom>
          <a:solidFill>
            <a:srgbClr val="FFFDF8"/>
          </a:solidFill>
          <a:ln w="12700">
            <a:solidFill>
              <a:srgbClr val="1F2A3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27432" bIns="27432">
            <a:noAutofit/>
          </a:bodyPr>
          <a:lstStyle/>
          <a:p>
            <a:pPr algn="ctr">
              <a:spcBef>
                <a:spcPts val="0"/>
              </a:spcBef>
              <a:spcAft>
                <a:spcPts val="0"/>
              </a:spcAft>
            </a:pPr>
            <a:r>
              <a:rPr sz="1400" b="1" i="0">
                <a:solidFill>
                  <a:srgbClr val="1F2A37"/>
                </a:solidFill>
                <a:latin typeface="Calibri"/>
              </a:rPr>
              <a:t>Backend</a:t>
            </a:r>
          </a:p>
          <a:p>
            <a:pPr algn="ctr">
              <a:spcBef>
                <a:spcPts val="0"/>
              </a:spcBef>
              <a:spcAft>
                <a:spcPts val="0"/>
              </a:spcAft>
            </a:pPr>
            <a:r>
              <a:rPr sz="1400" b="0" i="0">
                <a:solidFill>
                  <a:srgbClr val="1F2A37"/>
                </a:solidFill>
                <a:latin typeface="Calibri"/>
              </a:rPr>
              <a:t>state, contact gate, question budget, writes</a:t>
            </a:r>
          </a:p>
        </p:txBody>
      </p:sp>
      <p:sp>
        <p:nvSpPr>
          <p:cNvPr id="28" name="Rectangle 27"/>
          <p:cNvSpPr/>
          <p:nvPr/>
        </p:nvSpPr>
        <p:spPr>
          <a:xfrm>
            <a:off x="1371600" y="3712464"/>
            <a:ext cx="4572000" cy="694944"/>
          </a:xfrm>
          <a:prstGeom prst="rect">
            <a:avLst/>
          </a:prstGeom>
          <a:solidFill>
            <a:srgbClr val="FFFDF8"/>
          </a:solidFill>
          <a:ln w="12700">
            <a:solidFill>
              <a:srgbClr val="1F2A3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27432" bIns="27432">
            <a:noAutofit/>
          </a:bodyPr>
          <a:lstStyle/>
          <a:p>
            <a:pPr algn="ctr">
              <a:spcBef>
                <a:spcPts val="0"/>
              </a:spcBef>
              <a:spcAft>
                <a:spcPts val="0"/>
              </a:spcAft>
            </a:pPr>
            <a:r>
              <a:rPr sz="1400" b="1" i="0">
                <a:solidFill>
                  <a:srgbClr val="1F2A37"/>
                </a:solidFill>
                <a:latin typeface="Calibri"/>
              </a:rPr>
              <a:t>Data layer</a:t>
            </a:r>
          </a:p>
          <a:p>
            <a:pPr algn="ctr">
              <a:spcBef>
                <a:spcPts val="0"/>
              </a:spcBef>
              <a:spcAft>
                <a:spcPts val="0"/>
              </a:spcAft>
            </a:pPr>
            <a:r>
              <a:rPr sz="1400" b="0" i="0">
                <a:solidFill>
                  <a:srgbClr val="1F2A37"/>
                </a:solidFill>
                <a:latin typeface="Calibri"/>
              </a:rPr>
              <a:t>9-table model: buyers, orders, delivery events, rescue cases, interactions</a:t>
            </a:r>
          </a:p>
        </p:txBody>
      </p:sp>
      <p:cxnSp>
        <p:nvCxnSpPr>
          <p:cNvPr id="29" name="Connector 28"/>
          <p:cNvCxnSpPr>
            <a:stCxn id="28" idx="0"/>
            <a:endCxn id="27" idx="2"/>
          </p:cNvCxnSpPr>
          <p:nvPr/>
        </p:nvCxnSpPr>
        <p:spPr>
          <a:xfrm flipH="1" flipV="1">
            <a:off x="3657600" y="3511296"/>
            <a:ext cx="0" cy="201168"/>
          </a:xfrm>
          <a:prstGeom prst="line">
            <a:avLst/>
          </a:prstGeom>
          <a:ln w="22225">
            <a:solidFill>
              <a:srgbClr val="0E5E6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a:endCxn id="25" idx="2"/>
          </p:cNvCxnSpPr>
          <p:nvPr/>
        </p:nvCxnSpPr>
        <p:spPr>
          <a:xfrm flipV="1">
            <a:off x="2468880" y="2615184"/>
            <a:ext cx="0" cy="201168"/>
          </a:xfrm>
          <a:prstGeom prst="line">
            <a:avLst/>
          </a:prstGeom>
          <a:ln w="22225">
            <a:solidFill>
              <a:srgbClr val="1F2A3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a:endCxn id="26" idx="2"/>
          </p:cNvCxnSpPr>
          <p:nvPr/>
        </p:nvCxnSpPr>
        <p:spPr>
          <a:xfrm flipV="1">
            <a:off x="4846320" y="2615184"/>
            <a:ext cx="0" cy="201168"/>
          </a:xfrm>
          <a:prstGeom prst="line">
            <a:avLst/>
          </a:prstGeom>
          <a:ln w="22225">
            <a:solidFill>
              <a:srgbClr val="1F2A3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2468880" y="1719072"/>
            <a:ext cx="0" cy="201168"/>
          </a:xfrm>
          <a:prstGeom prst="line">
            <a:avLst/>
          </a:prstGeom>
          <a:ln w="22225">
            <a:solidFill>
              <a:srgbClr val="1F2A3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Rectangle 32"/>
          <p:cNvSpPr/>
          <p:nvPr/>
        </p:nvSpPr>
        <p:spPr>
          <a:xfrm>
            <a:off x="6263640" y="1024128"/>
            <a:ext cx="2331720" cy="3291840"/>
          </a:xfrm>
          <a:prstGeom prst="rect">
            <a:avLst/>
          </a:prstGeom>
          <a:solidFill>
            <a:srgbClr val="E9DFC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82880" bIns="182880">
            <a:noAutofit/>
          </a:bodyPr>
          <a:lstStyle/>
          <a:p>
            <a:pPr algn="l">
              <a:spcBef>
                <a:spcPts val="0"/>
              </a:spcBef>
              <a:spcAft>
                <a:spcPts val="400"/>
              </a:spcAft>
            </a:pPr>
            <a:r>
              <a:rPr sz="1800" b="1" i="0">
                <a:solidFill>
                  <a:srgbClr val="1F2A37"/>
                </a:solidFill>
                <a:latin typeface="Georgia"/>
              </a:rPr>
              <a:t>Today: local React app</a:t>
            </a:r>
          </a:p>
          <a:p>
            <a:pPr algn="l">
              <a:spcBef>
                <a:spcPts val="0"/>
              </a:spcBef>
              <a:spcAft>
                <a:spcPts val="1400"/>
              </a:spcAft>
            </a:pPr>
            <a:r>
              <a:rPr sz="1400" b="0" i="0">
                <a:solidFill>
                  <a:srgbClr val="1F2A37"/>
                </a:solidFill>
                <a:latin typeface="Calibri"/>
              </a:rPr>
              <a:t>fixtures, rule-based assessor</a:t>
            </a:r>
          </a:p>
          <a:p>
            <a:pPr algn="l">
              <a:spcBef>
                <a:spcPts val="0"/>
              </a:spcBef>
              <a:spcAft>
                <a:spcPts val="0"/>
              </a:spcAft>
            </a:pPr>
            <a:r>
              <a:rPr sz="1400" b="0" i="0">
                <a:solidFill>
                  <a:srgbClr val="1F2A37"/>
                </a:solidFill>
                <a:latin typeface="Calibri"/>
              </a:rPr>
              <a:t>Golden test cases are kept out of the assessor's input.</a:t>
            </a:r>
          </a:p>
        </p:txBody>
      </p:sp>
      <p:sp>
        <p:nvSpPr>
          <p:cNvPr id="34" name="Rectangle 33"/>
          <p:cNvSpPr/>
          <p:nvPr/>
        </p:nvSpPr>
        <p:spPr>
          <a:xfrm>
            <a:off x="6263640" y="1024128"/>
            <a:ext cx="2331720" cy="73152"/>
          </a:xfrm>
          <a:prstGeom prst="rect">
            <a:avLst/>
          </a:prstGeom>
          <a:solidFill>
            <a:srgbClr val="0E5E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AF6EF"/>
        </a:solidFill>
        <a:effectLst/>
      </p:bgPr>
    </p:bg>
    <p:spTree>
      <p:nvGrpSpPr>
        <p:cNvPr id="1" name=""/>
        <p:cNvGrpSpPr/>
        <p:nvPr/>
      </p:nvGrpSpPr>
      <p:grpSpPr/>
      <p:sp>
        <p:nvSpPr>
          <p:cNvPr id="2" name="TextBox 1"/>
          <p:cNvSpPr txBox="1"/>
          <p:nvPr/>
        </p:nvSpPr>
        <p:spPr>
          <a:xfrm>
            <a:off x="512064" y="256032"/>
            <a:ext cx="731520" cy="731520"/>
          </a:xfrm>
          <a:prstGeom prst="rect">
            <a:avLst/>
          </a:prstGeom>
          <a:noFill/>
        </p:spPr>
        <p:txBody>
          <a:bodyPr wrap="square" anchor="t" lIns="45720" rIns="45720" tIns="27432" bIns="27432">
            <a:noAutofit/>
          </a:bodyPr>
          <a:lstStyle/>
          <a:p>
            <a:pPr algn="l">
              <a:spcBef>
                <a:spcPts val="0"/>
              </a:spcBef>
              <a:spcAft>
                <a:spcPts val="0"/>
              </a:spcAft>
            </a:pPr>
            <a:r>
              <a:rPr sz="4400" b="1" i="0">
                <a:solidFill>
                  <a:srgbClr val="0E5E6F"/>
                </a:solidFill>
                <a:latin typeface="Georgia"/>
              </a:rPr>
              <a:t>8</a:t>
            </a:r>
          </a:p>
        </p:txBody>
      </p:sp>
      <p:cxnSp>
        <p:nvCxnSpPr>
          <p:cNvPr id="3" name="Connector 2"/>
          <p:cNvCxnSpPr/>
          <p:nvPr/>
        </p:nvCxnSpPr>
        <p:spPr>
          <a:xfrm>
            <a:off x="621792" y="1051560"/>
            <a:ext cx="0" cy="3337560"/>
          </a:xfrm>
          <a:prstGeom prst="line">
            <a:avLst/>
          </a:prstGeom>
          <a:ln w="12700">
            <a:solidFill>
              <a:srgbClr val="C58B4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371600" y="274320"/>
            <a:ext cx="7223760" cy="219456"/>
          </a:xfrm>
          <a:prstGeom prst="rect">
            <a:avLst/>
          </a:prstGeom>
          <a:noFill/>
        </p:spPr>
        <p:txBody>
          <a:bodyPr wrap="square" anchor="t" lIns="45720" rIns="45720" tIns="27432" bIns="27432">
            <a:noAutofit/>
          </a:bodyPr>
          <a:lstStyle/>
          <a:p>
            <a:pPr algn="l">
              <a:spcBef>
                <a:spcPts val="0"/>
              </a:spcBef>
              <a:spcAft>
                <a:spcPts val="0"/>
              </a:spcAft>
            </a:pPr>
            <a:r>
              <a:rPr sz="1100" b="1" i="0">
                <a:solidFill>
                  <a:srgbClr val="0E5E6F"/>
                </a:solidFill>
                <a:latin typeface="Calibri"/>
              </a:rPr>
              <a:t>USE OF CODEX</a:t>
            </a:r>
          </a:p>
        </p:txBody>
      </p:sp>
      <p:sp>
        <p:nvSpPr>
          <p:cNvPr id="5" name="TextBox 4"/>
          <p:cNvSpPr txBox="1"/>
          <p:nvPr/>
        </p:nvSpPr>
        <p:spPr>
          <a:xfrm>
            <a:off x="548640" y="4818888"/>
            <a:ext cx="5486400" cy="219456"/>
          </a:xfrm>
          <a:prstGeom prst="rect">
            <a:avLst/>
          </a:prstGeom>
          <a:noFill/>
        </p:spPr>
        <p:txBody>
          <a:bodyPr wrap="square" anchor="t" lIns="45720" rIns="45720" tIns="27432" bIns="27432">
            <a:noAutofit/>
          </a:bodyPr>
          <a:lstStyle/>
          <a:p>
            <a:pPr algn="l">
              <a:spcBef>
                <a:spcPts val="0"/>
              </a:spcBef>
              <a:spcAft>
                <a:spcPts val="0"/>
              </a:spcAft>
            </a:pPr>
            <a:r>
              <a:rPr sz="1100" b="0" i="0">
                <a:solidFill>
                  <a:srgbClr val="5B6270"/>
                </a:solidFill>
                <a:latin typeface="Calibri"/>
              </a:rPr>
              <a:t>Order Rescue | synthetic data only | local MVP</a:t>
            </a:r>
          </a:p>
        </p:txBody>
      </p:sp>
      <p:sp>
        <p:nvSpPr>
          <p:cNvPr id="6" name="TextBox 5"/>
          <p:cNvSpPr txBox="1"/>
          <p:nvPr/>
        </p:nvSpPr>
        <p:spPr>
          <a:xfrm>
            <a:off x="7680960" y="4818888"/>
            <a:ext cx="914400" cy="219456"/>
          </a:xfrm>
          <a:prstGeom prst="rect">
            <a:avLst/>
          </a:prstGeom>
          <a:noFill/>
        </p:spPr>
        <p:txBody>
          <a:bodyPr wrap="square" anchor="t" lIns="45720" rIns="45720" tIns="27432" bIns="27432">
            <a:noAutofit/>
          </a:bodyPr>
          <a:lstStyle/>
          <a:p>
            <a:pPr algn="r">
              <a:spcBef>
                <a:spcPts val="0"/>
              </a:spcBef>
              <a:spcAft>
                <a:spcPts val="0"/>
              </a:spcAft>
            </a:pPr>
            <a:r>
              <a:rPr sz="1100" b="0" i="0">
                <a:solidFill>
                  <a:srgbClr val="5B6270"/>
                </a:solidFill>
                <a:latin typeface="Calibri"/>
              </a:rPr>
              <a:t>9 / 15</a:t>
            </a:r>
          </a:p>
        </p:txBody>
      </p:sp>
      <p:cxnSp>
        <p:nvCxnSpPr>
          <p:cNvPr id="7" name="Connector 6"/>
          <p:cNvCxnSpPr/>
          <p:nvPr/>
        </p:nvCxnSpPr>
        <p:spPr>
          <a:xfrm>
            <a:off x="548640" y="4645152"/>
            <a:ext cx="8046720" cy="0"/>
          </a:xfrm>
          <a:prstGeom prst="line">
            <a:avLst/>
          </a:prstGeom>
          <a:ln w="12700">
            <a:solidFill>
              <a:srgbClr val="C58B4B"/>
            </a:solidFill>
          </a:ln>
        </p:spPr>
        <p:style>
          <a:lnRef idx="2">
            <a:schemeClr val="accent1"/>
          </a:lnRef>
          <a:fillRef idx="0">
            <a:schemeClr val="accent1"/>
          </a:fillRef>
          <a:effectRef idx="1">
            <a:schemeClr val="accent1"/>
          </a:effectRef>
          <a:fontRef idx="minor">
            <a:schemeClr val="tx1"/>
          </a:fontRef>
        </p:style>
      </p:cxnSp>
      <p:sp>
        <p:nvSpPr>
          <p:cNvPr id="8" name="Oval 7"/>
          <p:cNvSpPr/>
          <p:nvPr/>
        </p:nvSpPr>
        <p:spPr>
          <a:xfrm>
            <a:off x="498348" y="4594860"/>
            <a:ext cx="100584" cy="100584"/>
          </a:xfrm>
          <a:prstGeom prst="ellipse">
            <a:avLst/>
          </a:prstGeom>
          <a:solidFill>
            <a:srgbClr val="FAF6E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73114" y="4594860"/>
            <a:ext cx="100584" cy="100584"/>
          </a:xfrm>
          <a:prstGeom prst="ellipse">
            <a:avLst/>
          </a:prstGeom>
          <a:solidFill>
            <a:srgbClr val="FAF6E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647879" y="4594860"/>
            <a:ext cx="100584" cy="100584"/>
          </a:xfrm>
          <a:prstGeom prst="ellipse">
            <a:avLst/>
          </a:prstGeom>
          <a:solidFill>
            <a:srgbClr val="FAF6E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222645" y="4594860"/>
            <a:ext cx="100584" cy="100584"/>
          </a:xfrm>
          <a:prstGeom prst="ellipse">
            <a:avLst/>
          </a:prstGeom>
          <a:solidFill>
            <a:srgbClr val="FAF6E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2797411" y="4594860"/>
            <a:ext cx="100584" cy="100584"/>
          </a:xfrm>
          <a:prstGeom prst="ellipse">
            <a:avLst/>
          </a:prstGeom>
          <a:solidFill>
            <a:srgbClr val="FAF6E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3372177" y="4594860"/>
            <a:ext cx="100584" cy="100584"/>
          </a:xfrm>
          <a:prstGeom prst="ellipse">
            <a:avLst/>
          </a:prstGeom>
          <a:solidFill>
            <a:srgbClr val="FAF6E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946942" y="4594860"/>
            <a:ext cx="100584" cy="100584"/>
          </a:xfrm>
          <a:prstGeom prst="ellipse">
            <a:avLst/>
          </a:prstGeom>
          <a:solidFill>
            <a:srgbClr val="FAF6E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521708" y="4594860"/>
            <a:ext cx="100584" cy="100584"/>
          </a:xfrm>
          <a:prstGeom prst="ellipse">
            <a:avLst/>
          </a:prstGeom>
          <a:solidFill>
            <a:srgbClr val="FAF6E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055326" y="4553712"/>
            <a:ext cx="182880" cy="182880"/>
          </a:xfrm>
          <a:prstGeom prst="ellipse">
            <a:avLst/>
          </a:prstGeom>
          <a:solidFill>
            <a:srgbClr val="0E5E6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5671239" y="4594860"/>
            <a:ext cx="100584" cy="100584"/>
          </a:xfrm>
          <a:prstGeom prst="ellipse">
            <a:avLst/>
          </a:prstGeom>
          <a:solidFill>
            <a:srgbClr val="FAF6E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246005" y="4594860"/>
            <a:ext cx="100584" cy="100584"/>
          </a:xfrm>
          <a:prstGeom prst="ellipse">
            <a:avLst/>
          </a:prstGeom>
          <a:solidFill>
            <a:srgbClr val="FAF6E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20771" y="4594860"/>
            <a:ext cx="100584" cy="100584"/>
          </a:xfrm>
          <a:prstGeom prst="ellipse">
            <a:avLst/>
          </a:prstGeom>
          <a:solidFill>
            <a:srgbClr val="FAF6EF"/>
          </a:solidFill>
          <a:ln w="15875">
            <a:solidFill>
              <a:srgbClr val="C58B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395537" y="4594860"/>
            <a:ext cx="100584" cy="100584"/>
          </a:xfrm>
          <a:prstGeom prst="ellipse">
            <a:avLst/>
          </a:prstGeom>
          <a:solidFill>
            <a:srgbClr val="FAF6EF"/>
          </a:solidFill>
          <a:ln w="15875">
            <a:solidFill>
              <a:srgbClr val="C58B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970302" y="4594860"/>
            <a:ext cx="100584" cy="100584"/>
          </a:xfrm>
          <a:prstGeom prst="ellipse">
            <a:avLst/>
          </a:prstGeom>
          <a:solidFill>
            <a:srgbClr val="FAF6EF"/>
          </a:solidFill>
          <a:ln w="15875">
            <a:solidFill>
              <a:srgbClr val="C58B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8545068" y="4594860"/>
            <a:ext cx="100584" cy="100584"/>
          </a:xfrm>
          <a:prstGeom prst="ellipse">
            <a:avLst/>
          </a:prstGeom>
          <a:solidFill>
            <a:srgbClr val="FAF6EF"/>
          </a:solidFill>
          <a:ln w="15875">
            <a:solidFill>
              <a:srgbClr val="C58B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371600" y="502920"/>
            <a:ext cx="7223760" cy="496824"/>
          </a:xfrm>
          <a:prstGeom prst="rect">
            <a:avLst/>
          </a:prstGeom>
          <a:noFill/>
        </p:spPr>
        <p:txBody>
          <a:bodyPr wrap="square" anchor="t" lIns="45720" rIns="45720" tIns="27432" bIns="27432">
            <a:noAutofit/>
          </a:bodyPr>
          <a:lstStyle/>
          <a:p>
            <a:pPr algn="l">
              <a:lnSpc>
                <a:spcPct val="95000"/>
              </a:lnSpc>
              <a:spcBef>
                <a:spcPts val="0"/>
              </a:spcBef>
              <a:spcAft>
                <a:spcPts val="0"/>
              </a:spcAft>
            </a:pPr>
            <a:r>
              <a:rPr sz="2800" b="1" i="0">
                <a:solidFill>
                  <a:srgbClr val="1F2A37"/>
                </a:solidFill>
                <a:latin typeface="Georgia"/>
              </a:rPr>
              <a:t>How we used Codex</a:t>
            </a:r>
          </a:p>
        </p:txBody>
      </p:sp>
      <p:cxnSp>
        <p:nvCxnSpPr>
          <p:cNvPr id="24" name="Connector 23"/>
          <p:cNvCxnSpPr/>
          <p:nvPr/>
        </p:nvCxnSpPr>
        <p:spPr>
          <a:xfrm>
            <a:off x="1371600" y="1097280"/>
            <a:ext cx="7223760" cy="0"/>
          </a:xfrm>
          <a:prstGeom prst="line">
            <a:avLst/>
          </a:prstGeom>
          <a:ln w="9525">
            <a:solidFill>
              <a:srgbClr val="C58B4B"/>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1371600" y="1133856"/>
            <a:ext cx="1554480" cy="585216"/>
          </a:xfrm>
          <a:prstGeom prst="rect">
            <a:avLst/>
          </a:prstGeom>
          <a:noFill/>
        </p:spPr>
        <p:txBody>
          <a:bodyPr wrap="square" anchor="ctr" lIns="45720" rIns="45720" tIns="27432" bIns="27432">
            <a:noAutofit/>
          </a:bodyPr>
          <a:lstStyle/>
          <a:p>
            <a:pPr algn="l">
              <a:spcBef>
                <a:spcPts val="0"/>
              </a:spcBef>
              <a:spcAft>
                <a:spcPts val="0"/>
              </a:spcAft>
            </a:pPr>
            <a:r>
              <a:rPr sz="2000" b="1" i="0">
                <a:solidFill>
                  <a:srgbClr val="0E5E6F"/>
                </a:solidFill>
                <a:latin typeface="Georgia"/>
              </a:rPr>
              <a:t>App</a:t>
            </a:r>
          </a:p>
        </p:txBody>
      </p:sp>
      <p:sp>
        <p:nvSpPr>
          <p:cNvPr id="26" name="TextBox 25"/>
          <p:cNvSpPr txBox="1"/>
          <p:nvPr/>
        </p:nvSpPr>
        <p:spPr>
          <a:xfrm>
            <a:off x="3017520" y="1133856"/>
            <a:ext cx="5577840" cy="585216"/>
          </a:xfrm>
          <a:prstGeom prst="rect">
            <a:avLst/>
          </a:prstGeom>
          <a:noFill/>
        </p:spPr>
        <p:txBody>
          <a:bodyPr wrap="square" anchor="ctr" lIns="45720" rIns="45720" tIns="27432" bIns="27432">
            <a:noAutofit/>
          </a:bodyPr>
          <a:lstStyle/>
          <a:p>
            <a:pPr algn="l">
              <a:spcBef>
                <a:spcPts val="0"/>
              </a:spcBef>
              <a:spcAft>
                <a:spcPts val="0"/>
              </a:spcAft>
            </a:pPr>
            <a:r>
              <a:rPr sz="1600" b="0" i="0">
                <a:solidFill>
                  <a:srgbClr val="1F2A37"/>
                </a:solidFill>
                <a:latin typeface="Calibri"/>
              </a:rPr>
              <a:t>We used Codex to build the local demo app: React + Vite + TypeScript UI, assessor, policy gate and audit trail.</a:t>
            </a:r>
          </a:p>
        </p:txBody>
      </p:sp>
      <p:cxnSp>
        <p:nvCxnSpPr>
          <p:cNvPr id="27" name="Connector 26"/>
          <p:cNvCxnSpPr/>
          <p:nvPr/>
        </p:nvCxnSpPr>
        <p:spPr>
          <a:xfrm>
            <a:off x="1371600" y="1755648"/>
            <a:ext cx="7223760" cy="0"/>
          </a:xfrm>
          <a:prstGeom prst="line">
            <a:avLst/>
          </a:prstGeom>
          <a:ln w="9525">
            <a:solidFill>
              <a:srgbClr val="C58B4B"/>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1371600" y="1792224"/>
            <a:ext cx="1554480" cy="585216"/>
          </a:xfrm>
          <a:prstGeom prst="rect">
            <a:avLst/>
          </a:prstGeom>
          <a:noFill/>
        </p:spPr>
        <p:txBody>
          <a:bodyPr wrap="square" anchor="ctr" lIns="45720" rIns="45720" tIns="27432" bIns="27432">
            <a:noAutofit/>
          </a:bodyPr>
          <a:lstStyle/>
          <a:p>
            <a:pPr algn="l">
              <a:spcBef>
                <a:spcPts val="0"/>
              </a:spcBef>
              <a:spcAft>
                <a:spcPts val="0"/>
              </a:spcAft>
            </a:pPr>
            <a:r>
              <a:rPr sz="2000" b="1" i="0">
                <a:solidFill>
                  <a:srgbClr val="0E5E6F"/>
                </a:solidFill>
                <a:latin typeface="Georgia"/>
              </a:rPr>
              <a:t>23 tests</a:t>
            </a:r>
          </a:p>
        </p:txBody>
      </p:sp>
      <p:sp>
        <p:nvSpPr>
          <p:cNvPr id="29" name="TextBox 28"/>
          <p:cNvSpPr txBox="1"/>
          <p:nvPr/>
        </p:nvSpPr>
        <p:spPr>
          <a:xfrm>
            <a:off x="3017520" y="1792224"/>
            <a:ext cx="5577840" cy="585216"/>
          </a:xfrm>
          <a:prstGeom prst="rect">
            <a:avLst/>
          </a:prstGeom>
          <a:noFill/>
        </p:spPr>
        <p:txBody>
          <a:bodyPr wrap="square" anchor="ctr" lIns="45720" rIns="45720" tIns="27432" bIns="27432">
            <a:noAutofit/>
          </a:bodyPr>
          <a:lstStyle/>
          <a:p>
            <a:pPr algn="l">
              <a:spcBef>
                <a:spcPts val="0"/>
              </a:spcBef>
              <a:spcAft>
                <a:spcPts val="0"/>
              </a:spcAft>
            </a:pPr>
            <a:r>
              <a:rPr sz="1600" b="0" i="0">
                <a:solidFill>
                  <a:srgbClr val="1F2A37"/>
                </a:solidFill>
                <a:latin typeface="Calibri"/>
              </a:rPr>
              <a:t>Vitest: 23 tests in 6 files pass (npm run test:unit, run 29 Oct).</a:t>
            </a:r>
          </a:p>
        </p:txBody>
      </p:sp>
      <p:cxnSp>
        <p:nvCxnSpPr>
          <p:cNvPr id="30" name="Connector 29"/>
          <p:cNvCxnSpPr/>
          <p:nvPr/>
        </p:nvCxnSpPr>
        <p:spPr>
          <a:xfrm>
            <a:off x="1371600" y="2414016"/>
            <a:ext cx="7223760" cy="0"/>
          </a:xfrm>
          <a:prstGeom prst="line">
            <a:avLst/>
          </a:prstGeom>
          <a:ln w="9525">
            <a:solidFill>
              <a:srgbClr val="C58B4B"/>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1371600" y="2450592"/>
            <a:ext cx="1554480" cy="585216"/>
          </a:xfrm>
          <a:prstGeom prst="rect">
            <a:avLst/>
          </a:prstGeom>
          <a:noFill/>
        </p:spPr>
        <p:txBody>
          <a:bodyPr wrap="square" anchor="ctr" lIns="45720" rIns="45720" tIns="27432" bIns="27432">
            <a:noAutofit/>
          </a:bodyPr>
          <a:lstStyle/>
          <a:p>
            <a:pPr algn="l">
              <a:spcBef>
                <a:spcPts val="0"/>
              </a:spcBef>
              <a:spcAft>
                <a:spcPts val="0"/>
              </a:spcAft>
            </a:pPr>
            <a:r>
              <a:rPr sz="2000" b="1" i="0">
                <a:solidFill>
                  <a:srgbClr val="0E5E6F"/>
                </a:solidFill>
                <a:latin typeface="Georgia"/>
              </a:rPr>
              <a:t>1 spec</a:t>
            </a:r>
          </a:p>
        </p:txBody>
      </p:sp>
      <p:sp>
        <p:nvSpPr>
          <p:cNvPr id="32" name="TextBox 31"/>
          <p:cNvSpPr txBox="1"/>
          <p:nvPr/>
        </p:nvSpPr>
        <p:spPr>
          <a:xfrm>
            <a:off x="3017520" y="2450592"/>
            <a:ext cx="5577840" cy="585216"/>
          </a:xfrm>
          <a:prstGeom prst="rect">
            <a:avLst/>
          </a:prstGeom>
          <a:noFill/>
        </p:spPr>
        <p:txBody>
          <a:bodyPr wrap="square" anchor="ctr" lIns="45720" rIns="45720" tIns="27432" bIns="27432">
            <a:noAutofit/>
          </a:bodyPr>
          <a:lstStyle/>
          <a:p>
            <a:pPr algn="l">
              <a:spcBef>
                <a:spcPts val="0"/>
              </a:spcBef>
              <a:spcAft>
                <a:spcPts val="0"/>
              </a:spcAft>
            </a:pPr>
            <a:r>
              <a:rPr sz="1600" b="0" i="0">
                <a:solidFill>
                  <a:srgbClr val="1F2A37"/>
                </a:solidFill>
                <a:latin typeface="Calibri"/>
              </a:rPr>
              <a:t>Playwright spec for the demo flow in e2e/.</a:t>
            </a:r>
          </a:p>
        </p:txBody>
      </p:sp>
      <p:cxnSp>
        <p:nvCxnSpPr>
          <p:cNvPr id="33" name="Connector 32"/>
          <p:cNvCxnSpPr/>
          <p:nvPr/>
        </p:nvCxnSpPr>
        <p:spPr>
          <a:xfrm>
            <a:off x="1371600" y="3072384"/>
            <a:ext cx="7223760" cy="0"/>
          </a:xfrm>
          <a:prstGeom prst="line">
            <a:avLst/>
          </a:prstGeom>
          <a:ln w="9525">
            <a:solidFill>
              <a:srgbClr val="C58B4B"/>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1371600" y="3108960"/>
            <a:ext cx="1554480" cy="585216"/>
          </a:xfrm>
          <a:prstGeom prst="rect">
            <a:avLst/>
          </a:prstGeom>
          <a:noFill/>
        </p:spPr>
        <p:txBody>
          <a:bodyPr wrap="square" anchor="ctr" lIns="45720" rIns="45720" tIns="27432" bIns="27432">
            <a:noAutofit/>
          </a:bodyPr>
          <a:lstStyle/>
          <a:p>
            <a:pPr algn="l">
              <a:spcBef>
                <a:spcPts val="0"/>
              </a:spcBef>
              <a:spcAft>
                <a:spcPts val="0"/>
              </a:spcAft>
            </a:pPr>
            <a:r>
              <a:rPr sz="2000" b="1" i="0">
                <a:solidFill>
                  <a:srgbClr val="0E5E6F"/>
                </a:solidFill>
                <a:latin typeface="Georgia"/>
              </a:rPr>
              <a:t>30 cases</a:t>
            </a:r>
          </a:p>
        </p:txBody>
      </p:sp>
      <p:sp>
        <p:nvSpPr>
          <p:cNvPr id="35" name="TextBox 34"/>
          <p:cNvSpPr txBox="1"/>
          <p:nvPr/>
        </p:nvSpPr>
        <p:spPr>
          <a:xfrm>
            <a:off x="3017520" y="3108960"/>
            <a:ext cx="5577840" cy="585216"/>
          </a:xfrm>
          <a:prstGeom prst="rect">
            <a:avLst/>
          </a:prstGeom>
          <a:noFill/>
        </p:spPr>
        <p:txBody>
          <a:bodyPr wrap="square" anchor="ctr" lIns="45720" rIns="45720" tIns="27432" bIns="27432">
            <a:noAutofit/>
          </a:bodyPr>
          <a:lstStyle/>
          <a:p>
            <a:pPr algn="l">
              <a:spcBef>
                <a:spcPts val="0"/>
              </a:spcBef>
              <a:spcAft>
                <a:spcPts val="0"/>
              </a:spcAft>
            </a:pPr>
            <a:r>
              <a:rPr sz="1600" b="0" i="0">
                <a:solidFill>
                  <a:srgbClr val="1F2A37"/>
                </a:solidFill>
                <a:latin typeface="Calibri"/>
              </a:rPr>
              <a:t>Data model v2.2, business rules and the 30 synthetic test cases were prepared with Codex.</a:t>
            </a:r>
          </a:p>
        </p:txBody>
      </p:sp>
      <p:cxnSp>
        <p:nvCxnSpPr>
          <p:cNvPr id="36" name="Connector 35"/>
          <p:cNvCxnSpPr/>
          <p:nvPr/>
        </p:nvCxnSpPr>
        <p:spPr>
          <a:xfrm>
            <a:off x="1371600" y="3730752"/>
            <a:ext cx="7223760" cy="0"/>
          </a:xfrm>
          <a:prstGeom prst="line">
            <a:avLst/>
          </a:prstGeom>
          <a:ln w="9525">
            <a:solidFill>
              <a:srgbClr val="C58B4B"/>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1371600" y="3767328"/>
            <a:ext cx="1554480" cy="585216"/>
          </a:xfrm>
          <a:prstGeom prst="rect">
            <a:avLst/>
          </a:prstGeom>
          <a:noFill/>
        </p:spPr>
        <p:txBody>
          <a:bodyPr wrap="square" anchor="ctr" lIns="45720" rIns="45720" tIns="27432" bIns="27432">
            <a:noAutofit/>
          </a:bodyPr>
          <a:lstStyle/>
          <a:p>
            <a:pPr algn="l">
              <a:spcBef>
                <a:spcPts val="0"/>
              </a:spcBef>
              <a:spcAft>
                <a:spcPts val="0"/>
              </a:spcAft>
            </a:pPr>
            <a:r>
              <a:rPr sz="2000" b="1" i="0">
                <a:solidFill>
                  <a:srgbClr val="B83A26"/>
                </a:solidFill>
                <a:latin typeface="Georgia"/>
              </a:rPr>
              <a:t>Next</a:t>
            </a:r>
          </a:p>
        </p:txBody>
      </p:sp>
      <p:sp>
        <p:nvSpPr>
          <p:cNvPr id="38" name="TextBox 37"/>
          <p:cNvSpPr txBox="1"/>
          <p:nvPr/>
        </p:nvSpPr>
        <p:spPr>
          <a:xfrm>
            <a:off x="3017520" y="3767328"/>
            <a:ext cx="5577840" cy="585216"/>
          </a:xfrm>
          <a:prstGeom prst="rect">
            <a:avLst/>
          </a:prstGeom>
          <a:noFill/>
        </p:spPr>
        <p:txBody>
          <a:bodyPr wrap="square" anchor="ctr" lIns="45720" rIns="45720" tIns="27432" bIns="27432">
            <a:noAutofit/>
          </a:bodyPr>
          <a:lstStyle/>
          <a:p>
            <a:pPr algn="l">
              <a:spcBef>
                <a:spcPts val="0"/>
              </a:spcBef>
              <a:spcAft>
                <a:spcPts val="0"/>
              </a:spcAft>
            </a:pPr>
            <a:r>
              <a:rPr sz="1600" b="0" i="0">
                <a:solidFill>
                  <a:srgbClr val="1F2A37"/>
                </a:solidFill>
                <a:latin typeface="Calibri"/>
              </a:rPr>
              <a:t>The LLM agent is the next step; today a rule-based assessor stands in.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AF6EF"/>
        </a:solidFill>
        <a:effectLst/>
      </p:bgPr>
    </p:bg>
    <p:spTree>
      <p:nvGrpSpPr>
        <p:cNvPr id="1" name=""/>
        <p:cNvGrpSpPr/>
        <p:nvPr/>
      </p:nvGrpSpPr>
      <p:grpSpPr/>
      <p:sp>
        <p:nvSpPr>
          <p:cNvPr id="2" name="TextBox 1"/>
          <p:cNvSpPr txBox="1"/>
          <p:nvPr/>
        </p:nvSpPr>
        <p:spPr>
          <a:xfrm>
            <a:off x="512064" y="256032"/>
            <a:ext cx="731520" cy="731520"/>
          </a:xfrm>
          <a:prstGeom prst="rect">
            <a:avLst/>
          </a:prstGeom>
          <a:noFill/>
        </p:spPr>
        <p:txBody>
          <a:bodyPr wrap="square" anchor="t" lIns="45720" rIns="45720" tIns="27432" bIns="27432">
            <a:noAutofit/>
          </a:bodyPr>
          <a:lstStyle/>
          <a:p>
            <a:pPr algn="l">
              <a:spcBef>
                <a:spcPts val="0"/>
              </a:spcBef>
              <a:spcAft>
                <a:spcPts val="0"/>
              </a:spcAft>
            </a:pPr>
            <a:r>
              <a:rPr sz="4400" b="1" i="0">
                <a:solidFill>
                  <a:srgbClr val="0E5E6F"/>
                </a:solidFill>
                <a:latin typeface="Georgia"/>
              </a:rPr>
              <a:t>9</a:t>
            </a:r>
          </a:p>
        </p:txBody>
      </p:sp>
      <p:cxnSp>
        <p:nvCxnSpPr>
          <p:cNvPr id="3" name="Connector 2"/>
          <p:cNvCxnSpPr/>
          <p:nvPr/>
        </p:nvCxnSpPr>
        <p:spPr>
          <a:xfrm>
            <a:off x="621792" y="1051560"/>
            <a:ext cx="0" cy="3337560"/>
          </a:xfrm>
          <a:prstGeom prst="line">
            <a:avLst/>
          </a:prstGeom>
          <a:ln w="12700">
            <a:solidFill>
              <a:srgbClr val="C58B4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371600" y="274320"/>
            <a:ext cx="7223760" cy="219456"/>
          </a:xfrm>
          <a:prstGeom prst="rect">
            <a:avLst/>
          </a:prstGeom>
          <a:noFill/>
        </p:spPr>
        <p:txBody>
          <a:bodyPr wrap="square" anchor="t" lIns="45720" rIns="45720" tIns="27432" bIns="27432">
            <a:noAutofit/>
          </a:bodyPr>
          <a:lstStyle/>
          <a:p>
            <a:pPr algn="l">
              <a:spcBef>
                <a:spcPts val="0"/>
              </a:spcBef>
              <a:spcAft>
                <a:spcPts val="0"/>
              </a:spcAft>
            </a:pPr>
            <a:r>
              <a:rPr sz="1100" b="1" i="0">
                <a:solidFill>
                  <a:srgbClr val="0E5E6F"/>
                </a:solidFill>
                <a:latin typeface="Calibri"/>
              </a:rPr>
              <a:t>DEMO</a:t>
            </a:r>
          </a:p>
        </p:txBody>
      </p:sp>
      <p:sp>
        <p:nvSpPr>
          <p:cNvPr id="5" name="TextBox 4"/>
          <p:cNvSpPr txBox="1"/>
          <p:nvPr/>
        </p:nvSpPr>
        <p:spPr>
          <a:xfrm>
            <a:off x="548640" y="4818888"/>
            <a:ext cx="5486400" cy="219456"/>
          </a:xfrm>
          <a:prstGeom prst="rect">
            <a:avLst/>
          </a:prstGeom>
          <a:noFill/>
        </p:spPr>
        <p:txBody>
          <a:bodyPr wrap="square" anchor="t" lIns="45720" rIns="45720" tIns="27432" bIns="27432">
            <a:noAutofit/>
          </a:bodyPr>
          <a:lstStyle/>
          <a:p>
            <a:pPr algn="l">
              <a:spcBef>
                <a:spcPts val="0"/>
              </a:spcBef>
              <a:spcAft>
                <a:spcPts val="0"/>
              </a:spcAft>
            </a:pPr>
            <a:r>
              <a:rPr sz="1100" b="0" i="0">
                <a:solidFill>
                  <a:srgbClr val="5B6270"/>
                </a:solidFill>
                <a:latin typeface="Calibri"/>
              </a:rPr>
              <a:t>Order Rescue | synthetic data only | local MVP</a:t>
            </a:r>
          </a:p>
        </p:txBody>
      </p:sp>
      <p:sp>
        <p:nvSpPr>
          <p:cNvPr id="6" name="TextBox 5"/>
          <p:cNvSpPr txBox="1"/>
          <p:nvPr/>
        </p:nvSpPr>
        <p:spPr>
          <a:xfrm>
            <a:off x="7680960" y="4818888"/>
            <a:ext cx="914400" cy="219456"/>
          </a:xfrm>
          <a:prstGeom prst="rect">
            <a:avLst/>
          </a:prstGeom>
          <a:noFill/>
        </p:spPr>
        <p:txBody>
          <a:bodyPr wrap="square" anchor="t" lIns="45720" rIns="45720" tIns="27432" bIns="27432">
            <a:noAutofit/>
          </a:bodyPr>
          <a:lstStyle/>
          <a:p>
            <a:pPr algn="r">
              <a:spcBef>
                <a:spcPts val="0"/>
              </a:spcBef>
              <a:spcAft>
                <a:spcPts val="0"/>
              </a:spcAft>
            </a:pPr>
            <a:r>
              <a:rPr sz="1100" b="0" i="0">
                <a:solidFill>
                  <a:srgbClr val="5B6270"/>
                </a:solidFill>
                <a:latin typeface="Calibri"/>
              </a:rPr>
              <a:t>10 / 15</a:t>
            </a:r>
          </a:p>
        </p:txBody>
      </p:sp>
      <p:cxnSp>
        <p:nvCxnSpPr>
          <p:cNvPr id="7" name="Connector 6"/>
          <p:cNvCxnSpPr/>
          <p:nvPr/>
        </p:nvCxnSpPr>
        <p:spPr>
          <a:xfrm>
            <a:off x="548640" y="4645152"/>
            <a:ext cx="8046720" cy="0"/>
          </a:xfrm>
          <a:prstGeom prst="line">
            <a:avLst/>
          </a:prstGeom>
          <a:ln w="12700">
            <a:solidFill>
              <a:srgbClr val="C58B4B"/>
            </a:solidFill>
          </a:ln>
        </p:spPr>
        <p:style>
          <a:lnRef idx="2">
            <a:schemeClr val="accent1"/>
          </a:lnRef>
          <a:fillRef idx="0">
            <a:schemeClr val="accent1"/>
          </a:fillRef>
          <a:effectRef idx="1">
            <a:schemeClr val="accent1"/>
          </a:effectRef>
          <a:fontRef idx="minor">
            <a:schemeClr val="tx1"/>
          </a:fontRef>
        </p:style>
      </p:cxnSp>
      <p:sp>
        <p:nvSpPr>
          <p:cNvPr id="8" name="Oval 7"/>
          <p:cNvSpPr/>
          <p:nvPr/>
        </p:nvSpPr>
        <p:spPr>
          <a:xfrm>
            <a:off x="498348" y="4594860"/>
            <a:ext cx="100584" cy="100584"/>
          </a:xfrm>
          <a:prstGeom prst="ellipse">
            <a:avLst/>
          </a:prstGeom>
          <a:solidFill>
            <a:srgbClr val="FAF6E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73114" y="4594860"/>
            <a:ext cx="100584" cy="100584"/>
          </a:xfrm>
          <a:prstGeom prst="ellipse">
            <a:avLst/>
          </a:prstGeom>
          <a:solidFill>
            <a:srgbClr val="FAF6E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647879" y="4594860"/>
            <a:ext cx="100584" cy="100584"/>
          </a:xfrm>
          <a:prstGeom prst="ellipse">
            <a:avLst/>
          </a:prstGeom>
          <a:solidFill>
            <a:srgbClr val="FAF6E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222645" y="4594860"/>
            <a:ext cx="100584" cy="100584"/>
          </a:xfrm>
          <a:prstGeom prst="ellipse">
            <a:avLst/>
          </a:prstGeom>
          <a:solidFill>
            <a:srgbClr val="FAF6E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2797411" y="4594860"/>
            <a:ext cx="100584" cy="100584"/>
          </a:xfrm>
          <a:prstGeom prst="ellipse">
            <a:avLst/>
          </a:prstGeom>
          <a:solidFill>
            <a:srgbClr val="FAF6E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3372177" y="4594860"/>
            <a:ext cx="100584" cy="100584"/>
          </a:xfrm>
          <a:prstGeom prst="ellipse">
            <a:avLst/>
          </a:prstGeom>
          <a:solidFill>
            <a:srgbClr val="FAF6E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946942" y="4594860"/>
            <a:ext cx="100584" cy="100584"/>
          </a:xfrm>
          <a:prstGeom prst="ellipse">
            <a:avLst/>
          </a:prstGeom>
          <a:solidFill>
            <a:srgbClr val="FAF6E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521708" y="4594860"/>
            <a:ext cx="100584" cy="100584"/>
          </a:xfrm>
          <a:prstGeom prst="ellipse">
            <a:avLst/>
          </a:prstGeom>
          <a:solidFill>
            <a:srgbClr val="FAF6E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096474" y="4594860"/>
            <a:ext cx="100584" cy="100584"/>
          </a:xfrm>
          <a:prstGeom prst="ellipse">
            <a:avLst/>
          </a:prstGeom>
          <a:solidFill>
            <a:srgbClr val="FAF6E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5630091" y="4553712"/>
            <a:ext cx="182880" cy="182880"/>
          </a:xfrm>
          <a:prstGeom prst="ellipse">
            <a:avLst/>
          </a:prstGeom>
          <a:solidFill>
            <a:srgbClr val="0E5E6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246005" y="4594860"/>
            <a:ext cx="100584" cy="100584"/>
          </a:xfrm>
          <a:prstGeom prst="ellipse">
            <a:avLst/>
          </a:prstGeom>
          <a:solidFill>
            <a:srgbClr val="FAF6E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20771" y="4594860"/>
            <a:ext cx="100584" cy="100584"/>
          </a:xfrm>
          <a:prstGeom prst="ellipse">
            <a:avLst/>
          </a:prstGeom>
          <a:solidFill>
            <a:srgbClr val="FAF6EF"/>
          </a:solidFill>
          <a:ln w="15875">
            <a:solidFill>
              <a:srgbClr val="C58B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395537" y="4594860"/>
            <a:ext cx="100584" cy="100584"/>
          </a:xfrm>
          <a:prstGeom prst="ellipse">
            <a:avLst/>
          </a:prstGeom>
          <a:solidFill>
            <a:srgbClr val="FAF6EF"/>
          </a:solidFill>
          <a:ln w="15875">
            <a:solidFill>
              <a:srgbClr val="C58B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970302" y="4594860"/>
            <a:ext cx="100584" cy="100584"/>
          </a:xfrm>
          <a:prstGeom prst="ellipse">
            <a:avLst/>
          </a:prstGeom>
          <a:solidFill>
            <a:srgbClr val="FAF6EF"/>
          </a:solidFill>
          <a:ln w="15875">
            <a:solidFill>
              <a:srgbClr val="C58B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8545068" y="4594860"/>
            <a:ext cx="100584" cy="100584"/>
          </a:xfrm>
          <a:prstGeom prst="ellipse">
            <a:avLst/>
          </a:prstGeom>
          <a:solidFill>
            <a:srgbClr val="FAF6EF"/>
          </a:solidFill>
          <a:ln w="15875">
            <a:solidFill>
              <a:srgbClr val="C58B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371600" y="502920"/>
            <a:ext cx="7223760" cy="496824"/>
          </a:xfrm>
          <a:prstGeom prst="rect">
            <a:avLst/>
          </a:prstGeom>
          <a:noFill/>
        </p:spPr>
        <p:txBody>
          <a:bodyPr wrap="square" anchor="t" lIns="45720" rIns="45720" tIns="27432" bIns="27432">
            <a:noAutofit/>
          </a:bodyPr>
          <a:lstStyle/>
          <a:p>
            <a:pPr algn="l">
              <a:lnSpc>
                <a:spcPct val="95000"/>
              </a:lnSpc>
              <a:spcBef>
                <a:spcPts val="0"/>
              </a:spcBef>
              <a:spcAft>
                <a:spcPts val="0"/>
              </a:spcAft>
            </a:pPr>
            <a:r>
              <a:rPr sz="2800" b="1" i="0">
                <a:solidFill>
                  <a:srgbClr val="1F2A37"/>
                </a:solidFill>
                <a:latin typeface="Georgia"/>
              </a:rPr>
              <a:t>Demo flow: verified vs simulated</a:t>
            </a:r>
          </a:p>
        </p:txBody>
      </p:sp>
      <p:sp>
        <p:nvSpPr>
          <p:cNvPr id="24" name="Rectangle 23"/>
          <p:cNvSpPr/>
          <p:nvPr/>
        </p:nvSpPr>
        <p:spPr>
          <a:xfrm>
            <a:off x="1371600" y="1143000"/>
            <a:ext cx="2286000" cy="1371600"/>
          </a:xfrm>
          <a:prstGeom prst="rect">
            <a:avLst/>
          </a:prstGeom>
          <a:solidFill>
            <a:srgbClr val="0E5E6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46304" bIns="146304">
            <a:noAutofit/>
          </a:bodyPr>
          <a:lstStyle/>
          <a:p>
            <a:pPr algn="l">
              <a:spcBef>
                <a:spcPts val="0"/>
              </a:spcBef>
              <a:spcAft>
                <a:spcPts val="600"/>
              </a:spcAft>
            </a:pPr>
            <a:r>
              <a:rPr sz="1400" b="1" i="0">
                <a:solidFill>
                  <a:srgbClr val="FAF6EF"/>
                </a:solidFill>
                <a:latin typeface="Calibri"/>
              </a:rPr>
              <a:t>REAL - LOCAL</a:t>
            </a:r>
          </a:p>
          <a:p>
            <a:pPr algn="l">
              <a:spcBef>
                <a:spcPts val="0"/>
              </a:spcBef>
              <a:spcAft>
                <a:spcPts val="0"/>
              </a:spcAft>
            </a:pPr>
            <a:r>
              <a:rPr sz="1600" b="0" i="0">
                <a:solidFill>
                  <a:srgbClr val="FAF6EF"/>
                </a:solidFill>
                <a:latin typeface="Calibri"/>
              </a:rPr>
              <a:t>UI, assessor, policy gate, audit, tests</a:t>
            </a:r>
          </a:p>
        </p:txBody>
      </p:sp>
      <p:sp>
        <p:nvSpPr>
          <p:cNvPr id="25" name="Rectangle 24"/>
          <p:cNvSpPr/>
          <p:nvPr/>
        </p:nvSpPr>
        <p:spPr>
          <a:xfrm>
            <a:off x="3840480" y="1143000"/>
            <a:ext cx="2286000" cy="1371600"/>
          </a:xfrm>
          <a:prstGeom prst="rect">
            <a:avLst/>
          </a:prstGeom>
          <a:solidFill>
            <a:srgbClr val="E9DFCF"/>
          </a:solidFill>
          <a:ln w="25400">
            <a:solidFill>
              <a:srgbClr val="A9733A"/>
            </a:solidFill>
            <a:prstDash val="dash"/>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46304" bIns="146304">
            <a:noAutofit/>
          </a:bodyPr>
          <a:lstStyle/>
          <a:p>
            <a:pPr algn="l">
              <a:spcBef>
                <a:spcPts val="0"/>
              </a:spcBef>
              <a:spcAft>
                <a:spcPts val="600"/>
              </a:spcAft>
            </a:pPr>
            <a:r>
              <a:rPr sz="1400" b="1" i="0">
                <a:solidFill>
                  <a:srgbClr val="1F2A37"/>
                </a:solidFill>
                <a:latin typeface="Calibri"/>
              </a:rPr>
              <a:t>SIMULATED</a:t>
            </a:r>
          </a:p>
          <a:p>
            <a:pPr algn="l">
              <a:spcBef>
                <a:spcPts val="0"/>
              </a:spcBef>
              <a:spcAft>
                <a:spcPts val="0"/>
              </a:spcAft>
            </a:pPr>
            <a:r>
              <a:rPr sz="1600" b="0" i="0">
                <a:solidFill>
                  <a:srgbClr val="1F2A37"/>
                </a:solidFill>
                <a:latin typeface="Calibri"/>
              </a:rPr>
              <a:t>Orders, events, notes, buyer replies</a:t>
            </a:r>
          </a:p>
        </p:txBody>
      </p:sp>
      <p:sp>
        <p:nvSpPr>
          <p:cNvPr id="26" name="Rectangle 25"/>
          <p:cNvSpPr/>
          <p:nvPr/>
        </p:nvSpPr>
        <p:spPr>
          <a:xfrm>
            <a:off x="6309360" y="1143000"/>
            <a:ext cx="2286000" cy="1371600"/>
          </a:xfrm>
          <a:prstGeom prst="rect">
            <a:avLst/>
          </a:prstGeom>
          <a:noFill/>
          <a:ln w="25400">
            <a:solidFill>
              <a:srgbClr val="5B6270"/>
            </a:solidFill>
            <a:prstDash val="sysDash"/>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46304" bIns="146304">
            <a:noAutofit/>
          </a:bodyPr>
          <a:lstStyle/>
          <a:p>
            <a:pPr algn="l">
              <a:spcBef>
                <a:spcPts val="0"/>
              </a:spcBef>
              <a:spcAft>
                <a:spcPts val="600"/>
              </a:spcAft>
            </a:pPr>
            <a:r>
              <a:rPr sz="1400" b="1" i="0">
                <a:solidFill>
                  <a:srgbClr val="1F2A37"/>
                </a:solidFill>
                <a:latin typeface="Calibri"/>
              </a:rPr>
              <a:t>FUTURE / UNVERIFIED</a:t>
            </a:r>
          </a:p>
          <a:p>
            <a:pPr algn="l">
              <a:spcBef>
                <a:spcPts val="0"/>
              </a:spcBef>
              <a:spcAft>
                <a:spcPts val="0"/>
              </a:spcAft>
            </a:pPr>
            <a:r>
              <a:rPr sz="1600" b="0" i="0">
                <a:solidFill>
                  <a:srgbClr val="1F2A37"/>
                </a:solidFill>
                <a:latin typeface="Calibri"/>
              </a:rPr>
              <a:t>Shopee/SPX data, messaging, dispatch</a:t>
            </a:r>
          </a:p>
        </p:txBody>
      </p:sp>
      <p:sp>
        <p:nvSpPr>
          <p:cNvPr id="27" name="Oval 26"/>
          <p:cNvSpPr/>
          <p:nvPr/>
        </p:nvSpPr>
        <p:spPr>
          <a:xfrm>
            <a:off x="1554480" y="3017520"/>
            <a:ext cx="365760" cy="365760"/>
          </a:xfrm>
          <a:prstGeom prst="ellipse">
            <a:avLst/>
          </a:prstGeom>
          <a:solidFill>
            <a:srgbClr val="0E5E6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spcBef>
                <a:spcPts val="0"/>
              </a:spcBef>
              <a:spcAft>
                <a:spcPts val="0"/>
              </a:spcAft>
            </a:pPr>
            <a:r>
              <a:rPr sz="1400" b="1" i="0">
                <a:solidFill>
                  <a:srgbClr val="FAF6EF"/>
                </a:solidFill>
                <a:latin typeface="Georgia"/>
              </a:rPr>
              <a:t>1</a:t>
            </a:r>
          </a:p>
        </p:txBody>
      </p:sp>
      <p:sp>
        <p:nvSpPr>
          <p:cNvPr id="28" name="TextBox 27"/>
          <p:cNvSpPr txBox="1"/>
          <p:nvPr/>
        </p:nvSpPr>
        <p:spPr>
          <a:xfrm>
            <a:off x="1371600" y="3474720"/>
            <a:ext cx="1645920" cy="914400"/>
          </a:xfrm>
          <a:prstGeom prst="rect">
            <a:avLst/>
          </a:prstGeom>
          <a:noFill/>
        </p:spPr>
        <p:txBody>
          <a:bodyPr wrap="square" anchor="t" lIns="45720" rIns="45720" tIns="27432" bIns="27432">
            <a:noAutofit/>
          </a:bodyPr>
          <a:lstStyle/>
          <a:p>
            <a:pPr algn="l">
              <a:spcBef>
                <a:spcPts val="0"/>
              </a:spcBef>
              <a:spcAft>
                <a:spcPts val="0"/>
              </a:spcAft>
            </a:pPr>
            <a:r>
              <a:rPr sz="1400" b="0" i="0">
                <a:solidFill>
                  <a:srgbClr val="1F2A37"/>
                </a:solidFill>
                <a:latin typeface="Calibri"/>
              </a:rPr>
              <a:t>Pick a case: raw status plus courier note.</a:t>
            </a:r>
          </a:p>
        </p:txBody>
      </p:sp>
      <p:sp>
        <p:nvSpPr>
          <p:cNvPr id="29" name="Oval 28"/>
          <p:cNvSpPr/>
          <p:nvPr/>
        </p:nvSpPr>
        <p:spPr>
          <a:xfrm>
            <a:off x="3383280" y="3017520"/>
            <a:ext cx="365760" cy="365760"/>
          </a:xfrm>
          <a:prstGeom prst="ellipse">
            <a:avLst/>
          </a:prstGeom>
          <a:solidFill>
            <a:srgbClr val="0E5E6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spcBef>
                <a:spcPts val="0"/>
              </a:spcBef>
              <a:spcAft>
                <a:spcPts val="0"/>
              </a:spcAft>
            </a:pPr>
            <a:r>
              <a:rPr sz="1400" b="1" i="0">
                <a:solidFill>
                  <a:srgbClr val="FAF6EF"/>
                </a:solidFill>
                <a:latin typeface="Georgia"/>
              </a:rPr>
              <a:t>2</a:t>
            </a:r>
          </a:p>
        </p:txBody>
      </p:sp>
      <p:sp>
        <p:nvSpPr>
          <p:cNvPr id="30" name="TextBox 29"/>
          <p:cNvSpPr txBox="1"/>
          <p:nvPr/>
        </p:nvSpPr>
        <p:spPr>
          <a:xfrm>
            <a:off x="3200400" y="3474720"/>
            <a:ext cx="1645920" cy="914400"/>
          </a:xfrm>
          <a:prstGeom prst="rect">
            <a:avLst/>
          </a:prstGeom>
          <a:noFill/>
        </p:spPr>
        <p:txBody>
          <a:bodyPr wrap="square" anchor="t" lIns="45720" rIns="45720" tIns="27432" bIns="27432">
            <a:noAutofit/>
          </a:bodyPr>
          <a:lstStyle/>
          <a:p>
            <a:pPr algn="l">
              <a:spcBef>
                <a:spcPts val="0"/>
              </a:spcBef>
              <a:spcAft>
                <a:spcPts val="0"/>
              </a:spcAft>
            </a:pPr>
            <a:r>
              <a:rPr sz="1400" b="0" i="0">
                <a:solidFill>
                  <a:srgbClr val="1F2A37"/>
                </a:solidFill>
                <a:latin typeface="Calibri"/>
              </a:rPr>
              <a:t>See evidence, hypothesis, missing info.</a:t>
            </a:r>
          </a:p>
        </p:txBody>
      </p:sp>
      <p:sp>
        <p:nvSpPr>
          <p:cNvPr id="31" name="Oval 30"/>
          <p:cNvSpPr/>
          <p:nvPr/>
        </p:nvSpPr>
        <p:spPr>
          <a:xfrm>
            <a:off x="5212080" y="3017520"/>
            <a:ext cx="365760" cy="365760"/>
          </a:xfrm>
          <a:prstGeom prst="ellipse">
            <a:avLst/>
          </a:prstGeom>
          <a:solidFill>
            <a:srgbClr val="0E5E6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spcBef>
                <a:spcPts val="0"/>
              </a:spcBef>
              <a:spcAft>
                <a:spcPts val="0"/>
              </a:spcAft>
            </a:pPr>
            <a:r>
              <a:rPr sz="1400" b="1" i="0">
                <a:solidFill>
                  <a:srgbClr val="FAF6EF"/>
                </a:solidFill>
                <a:latin typeface="Georgia"/>
              </a:rPr>
              <a:t>3</a:t>
            </a:r>
          </a:p>
        </p:txBody>
      </p:sp>
      <p:sp>
        <p:nvSpPr>
          <p:cNvPr id="32" name="TextBox 31"/>
          <p:cNvSpPr txBox="1"/>
          <p:nvPr/>
        </p:nvSpPr>
        <p:spPr>
          <a:xfrm>
            <a:off x="5029200" y="3474720"/>
            <a:ext cx="1645920" cy="914400"/>
          </a:xfrm>
          <a:prstGeom prst="rect">
            <a:avLst/>
          </a:prstGeom>
          <a:noFill/>
        </p:spPr>
        <p:txBody>
          <a:bodyPr wrap="square" anchor="t" lIns="45720" rIns="45720" tIns="27432" bIns="27432">
            <a:noAutofit/>
          </a:bodyPr>
          <a:lstStyle/>
          <a:p>
            <a:pPr algn="l">
              <a:spcBef>
                <a:spcPts val="0"/>
              </a:spcBef>
              <a:spcAft>
                <a:spcPts val="0"/>
              </a:spcAft>
            </a:pPr>
            <a:r>
              <a:rPr sz="1400" b="0" i="0">
                <a:solidFill>
                  <a:srgbClr val="1F2A37"/>
                </a:solidFill>
                <a:latin typeface="Calibri"/>
              </a:rPr>
              <a:t>Apply buyer reply; watch reassessment.</a:t>
            </a:r>
          </a:p>
        </p:txBody>
      </p:sp>
      <p:sp>
        <p:nvSpPr>
          <p:cNvPr id="33" name="Oval 32"/>
          <p:cNvSpPr/>
          <p:nvPr/>
        </p:nvSpPr>
        <p:spPr>
          <a:xfrm>
            <a:off x="7040880" y="3017520"/>
            <a:ext cx="365760" cy="365760"/>
          </a:xfrm>
          <a:prstGeom prst="ellipse">
            <a:avLst/>
          </a:prstGeom>
          <a:solidFill>
            <a:srgbClr val="0E5E6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spcBef>
                <a:spcPts val="0"/>
              </a:spcBef>
              <a:spcAft>
                <a:spcPts val="0"/>
              </a:spcAft>
            </a:pPr>
            <a:r>
              <a:rPr sz="1400" b="1" i="0">
                <a:solidFill>
                  <a:srgbClr val="FAF6EF"/>
                </a:solidFill>
                <a:latin typeface="Georgia"/>
              </a:rPr>
              <a:t>4</a:t>
            </a:r>
          </a:p>
        </p:txBody>
      </p:sp>
      <p:sp>
        <p:nvSpPr>
          <p:cNvPr id="34" name="TextBox 33"/>
          <p:cNvSpPr txBox="1"/>
          <p:nvPr/>
        </p:nvSpPr>
        <p:spPr>
          <a:xfrm>
            <a:off x="6858000" y="3474720"/>
            <a:ext cx="1645920" cy="914400"/>
          </a:xfrm>
          <a:prstGeom prst="rect">
            <a:avLst/>
          </a:prstGeom>
          <a:noFill/>
        </p:spPr>
        <p:txBody>
          <a:bodyPr wrap="square" anchor="t" lIns="45720" rIns="45720" tIns="27432" bIns="27432">
            <a:noAutofit/>
          </a:bodyPr>
          <a:lstStyle/>
          <a:p>
            <a:pPr algn="l">
              <a:spcBef>
                <a:spcPts val="0"/>
              </a:spcBef>
              <a:spcAft>
                <a:spcPts val="0"/>
              </a:spcAft>
            </a:pPr>
            <a:r>
              <a:rPr sz="1400" b="0" i="0">
                <a:solidFill>
                  <a:srgbClr val="1F2A37"/>
                </a:solidFill>
                <a:latin typeface="Calibri"/>
              </a:rPr>
              <a:t>Try a blocked request: policy refuses.</a:t>
            </a:r>
          </a:p>
        </p:txBody>
      </p:sp>
      <p:cxnSp>
        <p:nvCxnSpPr>
          <p:cNvPr id="35" name="Connector 34"/>
          <p:cNvCxnSpPr/>
          <p:nvPr/>
        </p:nvCxnSpPr>
        <p:spPr>
          <a:xfrm>
            <a:off x="1920240" y="3200400"/>
            <a:ext cx="1463040" cy="0"/>
          </a:xfrm>
          <a:prstGeom prst="line">
            <a:avLst/>
          </a:prstGeom>
          <a:ln w="22225">
            <a:solidFill>
              <a:srgbClr val="0E5E6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3749040" y="3200400"/>
            <a:ext cx="1463040" cy="0"/>
          </a:xfrm>
          <a:prstGeom prst="line">
            <a:avLst/>
          </a:prstGeom>
          <a:ln w="22225">
            <a:solidFill>
              <a:srgbClr val="0E5E6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5577840" y="3200400"/>
            <a:ext cx="1463040" cy="0"/>
          </a:xfrm>
          <a:prstGeom prst="line">
            <a:avLst/>
          </a:prstGeom>
          <a:ln w="22225">
            <a:solidFill>
              <a:srgbClr val="0E5E6F"/>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AF6EF"/>
        </a:solidFill>
        <a:effectLst/>
      </p:bgPr>
    </p:bg>
    <p:spTree>
      <p:nvGrpSpPr>
        <p:cNvPr id="1" name=""/>
        <p:cNvGrpSpPr/>
        <p:nvPr/>
      </p:nvGrpSpPr>
      <p:grpSpPr/>
      <p:sp>
        <p:nvSpPr>
          <p:cNvPr id="2" name="TextBox 1"/>
          <p:cNvSpPr txBox="1"/>
          <p:nvPr/>
        </p:nvSpPr>
        <p:spPr>
          <a:xfrm>
            <a:off x="512064" y="256032"/>
            <a:ext cx="731520" cy="731520"/>
          </a:xfrm>
          <a:prstGeom prst="rect">
            <a:avLst/>
          </a:prstGeom>
          <a:noFill/>
        </p:spPr>
        <p:txBody>
          <a:bodyPr wrap="square" anchor="t" lIns="45720" rIns="45720" tIns="27432" bIns="27432">
            <a:noAutofit/>
          </a:bodyPr>
          <a:lstStyle/>
          <a:p>
            <a:pPr algn="l">
              <a:spcBef>
                <a:spcPts val="0"/>
              </a:spcBef>
              <a:spcAft>
                <a:spcPts val="0"/>
              </a:spcAft>
            </a:pPr>
            <a:r>
              <a:rPr sz="4400" b="1" i="0">
                <a:solidFill>
                  <a:srgbClr val="0E5E6F"/>
                </a:solidFill>
                <a:latin typeface="Georgia"/>
              </a:rPr>
              <a:t>7</a:t>
            </a:r>
          </a:p>
        </p:txBody>
      </p:sp>
      <p:cxnSp>
        <p:nvCxnSpPr>
          <p:cNvPr id="3" name="Connector 2"/>
          <p:cNvCxnSpPr/>
          <p:nvPr/>
        </p:nvCxnSpPr>
        <p:spPr>
          <a:xfrm>
            <a:off x="621792" y="1051560"/>
            <a:ext cx="0" cy="3337560"/>
          </a:xfrm>
          <a:prstGeom prst="line">
            <a:avLst/>
          </a:prstGeom>
          <a:ln w="12700">
            <a:solidFill>
              <a:srgbClr val="C58B4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371600" y="274320"/>
            <a:ext cx="7223760" cy="219456"/>
          </a:xfrm>
          <a:prstGeom prst="rect">
            <a:avLst/>
          </a:prstGeom>
          <a:noFill/>
        </p:spPr>
        <p:txBody>
          <a:bodyPr wrap="square" anchor="t" lIns="45720" rIns="45720" tIns="27432" bIns="27432">
            <a:noAutofit/>
          </a:bodyPr>
          <a:lstStyle/>
          <a:p>
            <a:pPr algn="l">
              <a:spcBef>
                <a:spcPts val="0"/>
              </a:spcBef>
              <a:spcAft>
                <a:spcPts val="0"/>
              </a:spcAft>
            </a:pPr>
            <a:r>
              <a:rPr sz="1100" b="1" i="0">
                <a:solidFill>
                  <a:srgbClr val="0E5E6F"/>
                </a:solidFill>
                <a:latin typeface="Calibri"/>
              </a:rPr>
              <a:t>IMPACT (HYPOTHESES TO VALIDATE)</a:t>
            </a:r>
          </a:p>
        </p:txBody>
      </p:sp>
      <p:sp>
        <p:nvSpPr>
          <p:cNvPr id="5" name="TextBox 4"/>
          <p:cNvSpPr txBox="1"/>
          <p:nvPr/>
        </p:nvSpPr>
        <p:spPr>
          <a:xfrm>
            <a:off x="548640" y="4818888"/>
            <a:ext cx="5486400" cy="219456"/>
          </a:xfrm>
          <a:prstGeom prst="rect">
            <a:avLst/>
          </a:prstGeom>
          <a:noFill/>
        </p:spPr>
        <p:txBody>
          <a:bodyPr wrap="square" anchor="t" lIns="45720" rIns="45720" tIns="27432" bIns="27432">
            <a:noAutofit/>
          </a:bodyPr>
          <a:lstStyle/>
          <a:p>
            <a:pPr algn="l">
              <a:spcBef>
                <a:spcPts val="0"/>
              </a:spcBef>
              <a:spcAft>
                <a:spcPts val="0"/>
              </a:spcAft>
            </a:pPr>
            <a:r>
              <a:rPr sz="1100" b="0" i="0">
                <a:solidFill>
                  <a:srgbClr val="5B6270"/>
                </a:solidFill>
                <a:latin typeface="Calibri"/>
              </a:rPr>
              <a:t>Order Rescue | synthetic data only | local MVP</a:t>
            </a:r>
          </a:p>
        </p:txBody>
      </p:sp>
      <p:sp>
        <p:nvSpPr>
          <p:cNvPr id="6" name="TextBox 5"/>
          <p:cNvSpPr txBox="1"/>
          <p:nvPr/>
        </p:nvSpPr>
        <p:spPr>
          <a:xfrm>
            <a:off x="7680960" y="4818888"/>
            <a:ext cx="914400" cy="219456"/>
          </a:xfrm>
          <a:prstGeom prst="rect">
            <a:avLst/>
          </a:prstGeom>
          <a:noFill/>
        </p:spPr>
        <p:txBody>
          <a:bodyPr wrap="square" anchor="t" lIns="45720" rIns="45720" tIns="27432" bIns="27432">
            <a:noAutofit/>
          </a:bodyPr>
          <a:lstStyle/>
          <a:p>
            <a:pPr algn="r">
              <a:spcBef>
                <a:spcPts val="0"/>
              </a:spcBef>
              <a:spcAft>
                <a:spcPts val="0"/>
              </a:spcAft>
            </a:pPr>
            <a:r>
              <a:rPr sz="1100" b="0" i="0">
                <a:solidFill>
                  <a:srgbClr val="5B6270"/>
                </a:solidFill>
                <a:latin typeface="Calibri"/>
              </a:rPr>
              <a:t>11 / 15</a:t>
            </a:r>
          </a:p>
        </p:txBody>
      </p:sp>
      <p:cxnSp>
        <p:nvCxnSpPr>
          <p:cNvPr id="7" name="Connector 6"/>
          <p:cNvCxnSpPr/>
          <p:nvPr/>
        </p:nvCxnSpPr>
        <p:spPr>
          <a:xfrm>
            <a:off x="548640" y="4645152"/>
            <a:ext cx="8046720" cy="0"/>
          </a:xfrm>
          <a:prstGeom prst="line">
            <a:avLst/>
          </a:prstGeom>
          <a:ln w="12700">
            <a:solidFill>
              <a:srgbClr val="C58B4B"/>
            </a:solidFill>
          </a:ln>
        </p:spPr>
        <p:style>
          <a:lnRef idx="2">
            <a:schemeClr val="accent1"/>
          </a:lnRef>
          <a:fillRef idx="0">
            <a:schemeClr val="accent1"/>
          </a:fillRef>
          <a:effectRef idx="1">
            <a:schemeClr val="accent1"/>
          </a:effectRef>
          <a:fontRef idx="minor">
            <a:schemeClr val="tx1"/>
          </a:fontRef>
        </p:style>
      </p:cxnSp>
      <p:sp>
        <p:nvSpPr>
          <p:cNvPr id="8" name="Oval 7"/>
          <p:cNvSpPr/>
          <p:nvPr/>
        </p:nvSpPr>
        <p:spPr>
          <a:xfrm>
            <a:off x="498348" y="4594860"/>
            <a:ext cx="100584" cy="100584"/>
          </a:xfrm>
          <a:prstGeom prst="ellipse">
            <a:avLst/>
          </a:prstGeom>
          <a:solidFill>
            <a:srgbClr val="FAF6E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73114" y="4594860"/>
            <a:ext cx="100584" cy="100584"/>
          </a:xfrm>
          <a:prstGeom prst="ellipse">
            <a:avLst/>
          </a:prstGeom>
          <a:solidFill>
            <a:srgbClr val="FAF6E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647879" y="4594860"/>
            <a:ext cx="100584" cy="100584"/>
          </a:xfrm>
          <a:prstGeom prst="ellipse">
            <a:avLst/>
          </a:prstGeom>
          <a:solidFill>
            <a:srgbClr val="FAF6E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222645" y="4594860"/>
            <a:ext cx="100584" cy="100584"/>
          </a:xfrm>
          <a:prstGeom prst="ellipse">
            <a:avLst/>
          </a:prstGeom>
          <a:solidFill>
            <a:srgbClr val="FAF6E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2797411" y="4594860"/>
            <a:ext cx="100584" cy="100584"/>
          </a:xfrm>
          <a:prstGeom prst="ellipse">
            <a:avLst/>
          </a:prstGeom>
          <a:solidFill>
            <a:srgbClr val="FAF6E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3372177" y="4594860"/>
            <a:ext cx="100584" cy="100584"/>
          </a:xfrm>
          <a:prstGeom prst="ellipse">
            <a:avLst/>
          </a:prstGeom>
          <a:solidFill>
            <a:srgbClr val="FAF6E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946942" y="4594860"/>
            <a:ext cx="100584" cy="100584"/>
          </a:xfrm>
          <a:prstGeom prst="ellipse">
            <a:avLst/>
          </a:prstGeom>
          <a:solidFill>
            <a:srgbClr val="FAF6E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521708" y="4594860"/>
            <a:ext cx="100584" cy="100584"/>
          </a:xfrm>
          <a:prstGeom prst="ellipse">
            <a:avLst/>
          </a:prstGeom>
          <a:solidFill>
            <a:srgbClr val="FAF6E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096474" y="4594860"/>
            <a:ext cx="100584" cy="100584"/>
          </a:xfrm>
          <a:prstGeom prst="ellipse">
            <a:avLst/>
          </a:prstGeom>
          <a:solidFill>
            <a:srgbClr val="FAF6E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5671239" y="4594860"/>
            <a:ext cx="100584" cy="100584"/>
          </a:xfrm>
          <a:prstGeom prst="ellipse">
            <a:avLst/>
          </a:prstGeom>
          <a:solidFill>
            <a:srgbClr val="FAF6E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204857" y="4553712"/>
            <a:ext cx="182880" cy="182880"/>
          </a:xfrm>
          <a:prstGeom prst="ellipse">
            <a:avLst/>
          </a:prstGeom>
          <a:solidFill>
            <a:srgbClr val="0E5E6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20771" y="4594860"/>
            <a:ext cx="100584" cy="100584"/>
          </a:xfrm>
          <a:prstGeom prst="ellipse">
            <a:avLst/>
          </a:prstGeom>
          <a:solidFill>
            <a:srgbClr val="FAF6EF"/>
          </a:solidFill>
          <a:ln w="15875">
            <a:solidFill>
              <a:srgbClr val="C58B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395537" y="4594860"/>
            <a:ext cx="100584" cy="100584"/>
          </a:xfrm>
          <a:prstGeom prst="ellipse">
            <a:avLst/>
          </a:prstGeom>
          <a:solidFill>
            <a:srgbClr val="FAF6EF"/>
          </a:solidFill>
          <a:ln w="15875">
            <a:solidFill>
              <a:srgbClr val="C58B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970302" y="4594860"/>
            <a:ext cx="100584" cy="100584"/>
          </a:xfrm>
          <a:prstGeom prst="ellipse">
            <a:avLst/>
          </a:prstGeom>
          <a:solidFill>
            <a:srgbClr val="FAF6EF"/>
          </a:solidFill>
          <a:ln w="15875">
            <a:solidFill>
              <a:srgbClr val="C58B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8545068" y="4594860"/>
            <a:ext cx="100584" cy="100584"/>
          </a:xfrm>
          <a:prstGeom prst="ellipse">
            <a:avLst/>
          </a:prstGeom>
          <a:solidFill>
            <a:srgbClr val="FAF6EF"/>
          </a:solidFill>
          <a:ln w="15875">
            <a:solidFill>
              <a:srgbClr val="C58B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371600" y="502920"/>
            <a:ext cx="7223760" cy="902208"/>
          </a:xfrm>
          <a:prstGeom prst="rect">
            <a:avLst/>
          </a:prstGeom>
          <a:noFill/>
        </p:spPr>
        <p:txBody>
          <a:bodyPr wrap="square" anchor="t" lIns="45720" rIns="45720" tIns="27432" bIns="27432">
            <a:noAutofit/>
          </a:bodyPr>
          <a:lstStyle/>
          <a:p>
            <a:pPr algn="l">
              <a:lnSpc>
                <a:spcPct val="95000"/>
              </a:lnSpc>
              <a:spcBef>
                <a:spcPts val="0"/>
              </a:spcBef>
              <a:spcAft>
                <a:spcPts val="0"/>
              </a:spcAft>
            </a:pPr>
            <a:r>
              <a:rPr sz="2800" b="1" i="0">
                <a:solidFill>
                  <a:srgbClr val="1F2A37"/>
                </a:solidFill>
                <a:latin typeface="Georgia"/>
              </a:rPr>
              <a:t>Where AI could create value in operations</a:t>
            </a:r>
          </a:p>
        </p:txBody>
      </p:sp>
      <p:cxnSp>
        <p:nvCxnSpPr>
          <p:cNvPr id="24" name="Connector 23"/>
          <p:cNvCxnSpPr/>
          <p:nvPr/>
        </p:nvCxnSpPr>
        <p:spPr>
          <a:xfrm>
            <a:off x="1371600" y="1444752"/>
            <a:ext cx="7223760" cy="0"/>
          </a:xfrm>
          <a:prstGeom prst="line">
            <a:avLst/>
          </a:prstGeom>
          <a:ln w="9525">
            <a:solidFill>
              <a:srgbClr val="C58B4B"/>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1371600" y="1472184"/>
            <a:ext cx="1188720" cy="713232"/>
          </a:xfrm>
          <a:prstGeom prst="rect">
            <a:avLst/>
          </a:prstGeom>
          <a:noFill/>
        </p:spPr>
        <p:txBody>
          <a:bodyPr wrap="square" anchor="ctr" lIns="45720" rIns="45720" tIns="27432" bIns="27432">
            <a:noAutofit/>
          </a:bodyPr>
          <a:lstStyle/>
          <a:p>
            <a:pPr algn="l">
              <a:spcBef>
                <a:spcPts val="0"/>
              </a:spcBef>
              <a:spcAft>
                <a:spcPts val="0"/>
              </a:spcAft>
            </a:pPr>
            <a:r>
              <a:rPr sz="2800" b="1" i="0">
                <a:solidFill>
                  <a:srgbClr val="0E5E6F"/>
                </a:solidFill>
                <a:latin typeface="Georgia"/>
              </a:rPr>
              <a:t>9/30</a:t>
            </a:r>
          </a:p>
        </p:txBody>
      </p:sp>
      <p:sp>
        <p:nvSpPr>
          <p:cNvPr id="26" name="TextBox 25"/>
          <p:cNvSpPr txBox="1"/>
          <p:nvPr/>
        </p:nvSpPr>
        <p:spPr>
          <a:xfrm>
            <a:off x="2606040" y="1472184"/>
            <a:ext cx="5989320" cy="713232"/>
          </a:xfrm>
          <a:prstGeom prst="rect">
            <a:avLst/>
          </a:prstGeom>
          <a:noFill/>
        </p:spPr>
        <p:txBody>
          <a:bodyPr wrap="square" anchor="ctr" lIns="45720" rIns="45720" tIns="27432" bIns="27432">
            <a:noAutofit/>
          </a:bodyPr>
          <a:lstStyle/>
          <a:p>
            <a:pPr algn="l">
              <a:spcBef>
                <a:spcPts val="0"/>
              </a:spcBef>
              <a:spcAft>
                <a:spcPts val="0"/>
              </a:spcAft>
            </a:pPr>
            <a:r>
              <a:rPr sz="1600" b="1" i="0">
                <a:solidFill>
                  <a:srgbClr val="1F2A37"/>
                </a:solidFill>
                <a:latin typeface="Georgia"/>
              </a:rPr>
              <a:t>Fewer wasted re-attempts</a:t>
            </a:r>
          </a:p>
          <a:p>
            <a:pPr algn="l">
              <a:spcBef>
                <a:spcPts val="0"/>
              </a:spcBef>
              <a:spcAft>
                <a:spcPts val="0"/>
              </a:spcAft>
            </a:pPr>
            <a:r>
              <a:rPr sz="1400" b="0" i="0">
                <a:solidFill>
                  <a:srgbClr val="1F2A37"/>
                </a:solidFill>
                <a:latin typeface="Calibri"/>
              </a:rPr>
              <a:t>9 of 30 test cases change hypothesis after the reply, e.g. DEMO-002</a:t>
            </a:r>
          </a:p>
        </p:txBody>
      </p:sp>
      <p:cxnSp>
        <p:nvCxnSpPr>
          <p:cNvPr id="27" name="Connector 26"/>
          <p:cNvCxnSpPr/>
          <p:nvPr/>
        </p:nvCxnSpPr>
        <p:spPr>
          <a:xfrm>
            <a:off x="1371600" y="2212848"/>
            <a:ext cx="7223760" cy="0"/>
          </a:xfrm>
          <a:prstGeom prst="line">
            <a:avLst/>
          </a:prstGeom>
          <a:ln w="9525">
            <a:solidFill>
              <a:srgbClr val="C58B4B"/>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1371600" y="2240280"/>
            <a:ext cx="1188720" cy="530352"/>
          </a:xfrm>
          <a:prstGeom prst="rect">
            <a:avLst/>
          </a:prstGeom>
          <a:noFill/>
        </p:spPr>
        <p:txBody>
          <a:bodyPr wrap="square" anchor="ctr" lIns="45720" rIns="45720" tIns="27432" bIns="27432">
            <a:noAutofit/>
          </a:bodyPr>
          <a:lstStyle/>
          <a:p>
            <a:pPr algn="l">
              <a:spcBef>
                <a:spcPts val="0"/>
              </a:spcBef>
              <a:spcAft>
                <a:spcPts val="0"/>
              </a:spcAft>
            </a:pPr>
            <a:r>
              <a:rPr sz="2800" b="1" i="0">
                <a:solidFill>
                  <a:srgbClr val="0E5E6F"/>
                </a:solidFill>
                <a:latin typeface="Georgia"/>
              </a:rPr>
              <a:t>30</a:t>
            </a:r>
          </a:p>
        </p:txBody>
      </p:sp>
      <p:sp>
        <p:nvSpPr>
          <p:cNvPr id="29" name="TextBox 28"/>
          <p:cNvSpPr txBox="1"/>
          <p:nvPr/>
        </p:nvSpPr>
        <p:spPr>
          <a:xfrm>
            <a:off x="2606040" y="2240280"/>
            <a:ext cx="5989320" cy="530352"/>
          </a:xfrm>
          <a:prstGeom prst="rect">
            <a:avLst/>
          </a:prstGeom>
          <a:noFill/>
        </p:spPr>
        <p:txBody>
          <a:bodyPr wrap="square" anchor="ctr" lIns="45720" rIns="45720" tIns="27432" bIns="27432">
            <a:noAutofit/>
          </a:bodyPr>
          <a:lstStyle/>
          <a:p>
            <a:pPr algn="l">
              <a:spcBef>
                <a:spcPts val="0"/>
              </a:spcBef>
              <a:spcAft>
                <a:spcPts val="0"/>
              </a:spcAft>
            </a:pPr>
            <a:r>
              <a:rPr sz="1600" b="1" i="0">
                <a:solidFill>
                  <a:srgbClr val="1F2A37"/>
                </a:solidFill>
                <a:latin typeface="Georgia"/>
              </a:rPr>
              <a:t>Faster Ops triage</a:t>
            </a:r>
          </a:p>
          <a:p>
            <a:pPr algn="l">
              <a:spcBef>
                <a:spcPts val="0"/>
              </a:spcBef>
              <a:spcAft>
                <a:spcPts val="0"/>
              </a:spcAft>
            </a:pPr>
            <a:r>
              <a:rPr sz="1400" b="0" i="0">
                <a:solidFill>
                  <a:srgbClr val="1F2A37"/>
                </a:solidFill>
                <a:latin typeface="Calibri"/>
              </a:rPr>
              <a:t>Evidence pre-assembled for all 30 cases</a:t>
            </a:r>
          </a:p>
        </p:txBody>
      </p:sp>
      <p:cxnSp>
        <p:nvCxnSpPr>
          <p:cNvPr id="30" name="Connector 29"/>
          <p:cNvCxnSpPr/>
          <p:nvPr/>
        </p:nvCxnSpPr>
        <p:spPr>
          <a:xfrm>
            <a:off x="1371600" y="2798064"/>
            <a:ext cx="7223760" cy="0"/>
          </a:xfrm>
          <a:prstGeom prst="line">
            <a:avLst/>
          </a:prstGeom>
          <a:ln w="9525">
            <a:solidFill>
              <a:srgbClr val="C58B4B"/>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1371600" y="2825496"/>
            <a:ext cx="1188720" cy="530352"/>
          </a:xfrm>
          <a:prstGeom prst="rect">
            <a:avLst/>
          </a:prstGeom>
          <a:noFill/>
        </p:spPr>
        <p:txBody>
          <a:bodyPr wrap="square" anchor="ctr" lIns="45720" rIns="45720" tIns="27432" bIns="27432">
            <a:noAutofit/>
          </a:bodyPr>
          <a:lstStyle/>
          <a:p>
            <a:pPr algn="l">
              <a:spcBef>
                <a:spcPts val="0"/>
              </a:spcBef>
              <a:spcAft>
                <a:spcPts val="0"/>
              </a:spcAft>
            </a:pPr>
            <a:r>
              <a:rPr sz="2800" b="1" i="0">
                <a:solidFill>
                  <a:srgbClr val="0E5E6F"/>
                </a:solidFill>
                <a:latin typeface="Georgia"/>
              </a:rPr>
              <a:t>6</a:t>
            </a:r>
          </a:p>
        </p:txBody>
      </p:sp>
      <p:sp>
        <p:nvSpPr>
          <p:cNvPr id="32" name="TextBox 31"/>
          <p:cNvSpPr txBox="1"/>
          <p:nvPr/>
        </p:nvSpPr>
        <p:spPr>
          <a:xfrm>
            <a:off x="2606040" y="2825496"/>
            <a:ext cx="5989320" cy="530352"/>
          </a:xfrm>
          <a:prstGeom prst="rect">
            <a:avLst/>
          </a:prstGeom>
          <a:noFill/>
        </p:spPr>
        <p:txBody>
          <a:bodyPr wrap="square" anchor="ctr" lIns="45720" rIns="45720" tIns="27432" bIns="27432">
            <a:noAutofit/>
          </a:bodyPr>
          <a:lstStyle/>
          <a:p>
            <a:pPr algn="l">
              <a:spcBef>
                <a:spcPts val="0"/>
              </a:spcBef>
              <a:spcAft>
                <a:spcPts val="0"/>
              </a:spcAft>
            </a:pPr>
            <a:r>
              <a:rPr sz="1600" b="1" i="0">
                <a:solidFill>
                  <a:srgbClr val="1F2A37"/>
                </a:solidFill>
                <a:latin typeface="Georgia"/>
              </a:rPr>
              <a:t>Explainable decisions</a:t>
            </a:r>
          </a:p>
          <a:p>
            <a:pPr algn="l">
              <a:spcBef>
                <a:spcPts val="0"/>
              </a:spcBef>
              <a:spcAft>
                <a:spcPts val="0"/>
              </a:spcAft>
            </a:pPr>
            <a:r>
              <a:rPr sz="1400" b="0" i="0">
                <a:solidFill>
                  <a:srgbClr val="1F2A37"/>
                </a:solidFill>
                <a:latin typeface="Calibri"/>
              </a:rPr>
              <a:t>Six traceable fields per case</a:t>
            </a:r>
          </a:p>
        </p:txBody>
      </p:sp>
      <p:cxnSp>
        <p:nvCxnSpPr>
          <p:cNvPr id="33" name="Connector 32"/>
          <p:cNvCxnSpPr/>
          <p:nvPr/>
        </p:nvCxnSpPr>
        <p:spPr>
          <a:xfrm>
            <a:off x="1371600" y="3383280"/>
            <a:ext cx="7223760" cy="0"/>
          </a:xfrm>
          <a:prstGeom prst="line">
            <a:avLst/>
          </a:prstGeom>
          <a:ln w="9525">
            <a:solidFill>
              <a:srgbClr val="C58B4B"/>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1371600" y="3410712"/>
            <a:ext cx="1188720" cy="530352"/>
          </a:xfrm>
          <a:prstGeom prst="rect">
            <a:avLst/>
          </a:prstGeom>
          <a:noFill/>
        </p:spPr>
        <p:txBody>
          <a:bodyPr wrap="square" anchor="ctr" lIns="45720" rIns="45720" tIns="27432" bIns="27432">
            <a:noAutofit/>
          </a:bodyPr>
          <a:lstStyle/>
          <a:p>
            <a:pPr algn="l">
              <a:spcBef>
                <a:spcPts val="0"/>
              </a:spcBef>
              <a:spcAft>
                <a:spcPts val="0"/>
              </a:spcAft>
            </a:pPr>
            <a:r>
              <a:rPr sz="2800" b="1" i="0">
                <a:solidFill>
                  <a:srgbClr val="0E5E6F"/>
                </a:solidFill>
                <a:latin typeface="Georgia"/>
              </a:rPr>
              <a:t>1</a:t>
            </a:r>
          </a:p>
        </p:txBody>
      </p:sp>
      <p:sp>
        <p:nvSpPr>
          <p:cNvPr id="35" name="TextBox 34"/>
          <p:cNvSpPr txBox="1"/>
          <p:nvPr/>
        </p:nvSpPr>
        <p:spPr>
          <a:xfrm>
            <a:off x="2606040" y="3410712"/>
            <a:ext cx="5989320" cy="530352"/>
          </a:xfrm>
          <a:prstGeom prst="rect">
            <a:avLst/>
          </a:prstGeom>
          <a:noFill/>
        </p:spPr>
        <p:txBody>
          <a:bodyPr wrap="square" anchor="ctr" lIns="45720" rIns="45720" tIns="27432" bIns="27432">
            <a:noAutofit/>
          </a:bodyPr>
          <a:lstStyle/>
          <a:p>
            <a:pPr algn="l">
              <a:spcBef>
                <a:spcPts val="0"/>
              </a:spcBef>
              <a:spcAft>
                <a:spcPts val="0"/>
              </a:spcAft>
            </a:pPr>
            <a:r>
              <a:rPr sz="1600" b="1" i="0">
                <a:solidFill>
                  <a:srgbClr val="1F2A37"/>
                </a:solidFill>
                <a:latin typeface="Georgia"/>
              </a:rPr>
              <a:t>Better buyer experience</a:t>
            </a:r>
          </a:p>
          <a:p>
            <a:pPr algn="l">
              <a:spcBef>
                <a:spcPts val="0"/>
              </a:spcBef>
              <a:spcAft>
                <a:spcPts val="0"/>
              </a:spcAft>
            </a:pPr>
            <a:r>
              <a:rPr sz="1400" b="0" i="0">
                <a:solidFill>
                  <a:srgbClr val="1F2A37"/>
                </a:solidFill>
                <a:latin typeface="Calibri"/>
              </a:rPr>
              <a:t>One question; 6 no-reply paths handled</a:t>
            </a:r>
          </a:p>
        </p:txBody>
      </p:sp>
      <p:sp>
        <p:nvSpPr>
          <p:cNvPr id="36" name="TextBox 35"/>
          <p:cNvSpPr txBox="1"/>
          <p:nvPr/>
        </p:nvSpPr>
        <p:spPr>
          <a:xfrm>
            <a:off x="1371600" y="4041648"/>
            <a:ext cx="7223760" cy="475488"/>
          </a:xfrm>
          <a:prstGeom prst="rect">
            <a:avLst/>
          </a:prstGeom>
          <a:noFill/>
        </p:spPr>
        <p:txBody>
          <a:bodyPr wrap="square" anchor="t" lIns="45720" rIns="45720" tIns="27432" bIns="27432">
            <a:noAutofit/>
          </a:bodyPr>
          <a:lstStyle/>
          <a:p>
            <a:pPr algn="l">
              <a:spcBef>
                <a:spcPts val="0"/>
              </a:spcBef>
              <a:spcAft>
                <a:spcPts val="0"/>
              </a:spcAft>
            </a:pPr>
            <a:r>
              <a:rPr sz="1400" b="0" i="0">
                <a:solidFill>
                  <a:srgbClr val="5B6270"/>
                </a:solidFill>
                <a:latin typeface="Calibri"/>
              </a:rPr>
              <a:t>Case counts come from the 30 synthetic test cases. No impact numbers claimed; all four are hypotheses.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AF6EF"/>
        </a:solidFill>
        <a:effectLst/>
      </p:bgPr>
    </p:bg>
    <p:spTree>
      <p:nvGrpSpPr>
        <p:cNvPr id="1" name=""/>
        <p:cNvGrpSpPr/>
        <p:nvPr/>
      </p:nvGrpSpPr>
      <p:grpSpPr/>
      <p:sp>
        <p:nvSpPr>
          <p:cNvPr id="2" name="TextBox 1"/>
          <p:cNvSpPr txBox="1"/>
          <p:nvPr/>
        </p:nvSpPr>
        <p:spPr>
          <a:xfrm>
            <a:off x="512064" y="256032"/>
            <a:ext cx="731520" cy="731520"/>
          </a:xfrm>
          <a:prstGeom prst="rect">
            <a:avLst/>
          </a:prstGeom>
          <a:noFill/>
        </p:spPr>
        <p:txBody>
          <a:bodyPr wrap="square" anchor="t" lIns="45720" rIns="45720" tIns="27432" bIns="27432">
            <a:noAutofit/>
          </a:bodyPr>
          <a:lstStyle/>
          <a:p>
            <a:pPr algn="l">
              <a:spcBef>
                <a:spcPts val="0"/>
              </a:spcBef>
              <a:spcAft>
                <a:spcPts val="0"/>
              </a:spcAft>
            </a:pPr>
            <a:r>
              <a:rPr sz="4400" b="1" i="0">
                <a:solidFill>
                  <a:srgbClr val="0E5E6F"/>
                </a:solidFill>
                <a:latin typeface="Georgia"/>
              </a:rPr>
              <a:t>B</a:t>
            </a:r>
          </a:p>
        </p:txBody>
      </p:sp>
      <p:cxnSp>
        <p:nvCxnSpPr>
          <p:cNvPr id="3" name="Connector 2"/>
          <p:cNvCxnSpPr/>
          <p:nvPr/>
        </p:nvCxnSpPr>
        <p:spPr>
          <a:xfrm>
            <a:off x="621792" y="1051560"/>
            <a:ext cx="0" cy="3337560"/>
          </a:xfrm>
          <a:prstGeom prst="line">
            <a:avLst/>
          </a:prstGeom>
          <a:ln w="12700">
            <a:solidFill>
              <a:srgbClr val="C58B4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371600" y="274320"/>
            <a:ext cx="7223760" cy="219456"/>
          </a:xfrm>
          <a:prstGeom prst="rect">
            <a:avLst/>
          </a:prstGeom>
          <a:noFill/>
        </p:spPr>
        <p:txBody>
          <a:bodyPr wrap="square" anchor="t" lIns="45720" rIns="45720" tIns="27432" bIns="27432">
            <a:noAutofit/>
          </a:bodyPr>
          <a:lstStyle/>
          <a:p>
            <a:pPr algn="l">
              <a:spcBef>
                <a:spcPts val="0"/>
              </a:spcBef>
              <a:spcAft>
                <a:spcPts val="0"/>
              </a:spcAft>
            </a:pPr>
            <a:r>
              <a:rPr sz="1100" b="1" i="0">
                <a:solidFill>
                  <a:srgbClr val="0E5E6F"/>
                </a:solidFill>
                <a:latin typeface="Calibri"/>
              </a:rPr>
              <a:t>BACKUP | WHO IS HURT</a:t>
            </a:r>
          </a:p>
        </p:txBody>
      </p:sp>
      <p:sp>
        <p:nvSpPr>
          <p:cNvPr id="5" name="TextBox 4"/>
          <p:cNvSpPr txBox="1"/>
          <p:nvPr/>
        </p:nvSpPr>
        <p:spPr>
          <a:xfrm>
            <a:off x="548640" y="4818888"/>
            <a:ext cx="5486400" cy="219456"/>
          </a:xfrm>
          <a:prstGeom prst="rect">
            <a:avLst/>
          </a:prstGeom>
          <a:noFill/>
        </p:spPr>
        <p:txBody>
          <a:bodyPr wrap="square" anchor="t" lIns="45720" rIns="45720" tIns="27432" bIns="27432">
            <a:noAutofit/>
          </a:bodyPr>
          <a:lstStyle/>
          <a:p>
            <a:pPr algn="l">
              <a:spcBef>
                <a:spcPts val="0"/>
              </a:spcBef>
              <a:spcAft>
                <a:spcPts val="0"/>
              </a:spcAft>
            </a:pPr>
            <a:r>
              <a:rPr sz="1100" b="0" i="0">
                <a:solidFill>
                  <a:srgbClr val="5B6270"/>
                </a:solidFill>
                <a:latin typeface="Calibri"/>
              </a:rPr>
              <a:t>Order Rescue | synthetic data only | local MVP</a:t>
            </a:r>
          </a:p>
        </p:txBody>
      </p:sp>
      <p:sp>
        <p:nvSpPr>
          <p:cNvPr id="6" name="TextBox 5"/>
          <p:cNvSpPr txBox="1"/>
          <p:nvPr/>
        </p:nvSpPr>
        <p:spPr>
          <a:xfrm>
            <a:off x="7680960" y="4818888"/>
            <a:ext cx="914400" cy="219456"/>
          </a:xfrm>
          <a:prstGeom prst="rect">
            <a:avLst/>
          </a:prstGeom>
          <a:noFill/>
        </p:spPr>
        <p:txBody>
          <a:bodyPr wrap="square" anchor="t" lIns="45720" rIns="45720" tIns="27432" bIns="27432">
            <a:noAutofit/>
          </a:bodyPr>
          <a:lstStyle/>
          <a:p>
            <a:pPr algn="r">
              <a:spcBef>
                <a:spcPts val="0"/>
              </a:spcBef>
              <a:spcAft>
                <a:spcPts val="0"/>
              </a:spcAft>
            </a:pPr>
            <a:r>
              <a:rPr sz="1100" b="0" i="0">
                <a:solidFill>
                  <a:srgbClr val="5B6270"/>
                </a:solidFill>
                <a:latin typeface="Calibri"/>
              </a:rPr>
              <a:t>12 / 15</a:t>
            </a:r>
          </a:p>
        </p:txBody>
      </p:sp>
      <p:cxnSp>
        <p:nvCxnSpPr>
          <p:cNvPr id="7" name="Connector 6"/>
          <p:cNvCxnSpPr/>
          <p:nvPr/>
        </p:nvCxnSpPr>
        <p:spPr>
          <a:xfrm>
            <a:off x="548640" y="4645152"/>
            <a:ext cx="8046720" cy="0"/>
          </a:xfrm>
          <a:prstGeom prst="line">
            <a:avLst/>
          </a:prstGeom>
          <a:ln w="12700">
            <a:solidFill>
              <a:srgbClr val="C58B4B"/>
            </a:solidFill>
          </a:ln>
        </p:spPr>
        <p:style>
          <a:lnRef idx="2">
            <a:schemeClr val="accent1"/>
          </a:lnRef>
          <a:fillRef idx="0">
            <a:schemeClr val="accent1"/>
          </a:fillRef>
          <a:effectRef idx="1">
            <a:schemeClr val="accent1"/>
          </a:effectRef>
          <a:fontRef idx="minor">
            <a:schemeClr val="tx1"/>
          </a:fontRef>
        </p:style>
      </p:cxnSp>
      <p:sp>
        <p:nvSpPr>
          <p:cNvPr id="8" name="Oval 7"/>
          <p:cNvSpPr/>
          <p:nvPr/>
        </p:nvSpPr>
        <p:spPr>
          <a:xfrm>
            <a:off x="498348" y="4594860"/>
            <a:ext cx="100584" cy="100584"/>
          </a:xfrm>
          <a:prstGeom prst="ellipse">
            <a:avLst/>
          </a:prstGeom>
          <a:solidFill>
            <a:srgbClr val="FAF6E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73114" y="4594860"/>
            <a:ext cx="100584" cy="100584"/>
          </a:xfrm>
          <a:prstGeom prst="ellipse">
            <a:avLst/>
          </a:prstGeom>
          <a:solidFill>
            <a:srgbClr val="FAF6E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647879" y="4594860"/>
            <a:ext cx="100584" cy="100584"/>
          </a:xfrm>
          <a:prstGeom prst="ellipse">
            <a:avLst/>
          </a:prstGeom>
          <a:solidFill>
            <a:srgbClr val="FAF6E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222645" y="4594860"/>
            <a:ext cx="100584" cy="100584"/>
          </a:xfrm>
          <a:prstGeom prst="ellipse">
            <a:avLst/>
          </a:prstGeom>
          <a:solidFill>
            <a:srgbClr val="FAF6E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2797411" y="4594860"/>
            <a:ext cx="100584" cy="100584"/>
          </a:xfrm>
          <a:prstGeom prst="ellipse">
            <a:avLst/>
          </a:prstGeom>
          <a:solidFill>
            <a:srgbClr val="FAF6E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3372177" y="4594860"/>
            <a:ext cx="100584" cy="100584"/>
          </a:xfrm>
          <a:prstGeom prst="ellipse">
            <a:avLst/>
          </a:prstGeom>
          <a:solidFill>
            <a:srgbClr val="FAF6E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946942" y="4594860"/>
            <a:ext cx="100584" cy="100584"/>
          </a:xfrm>
          <a:prstGeom prst="ellipse">
            <a:avLst/>
          </a:prstGeom>
          <a:solidFill>
            <a:srgbClr val="FAF6E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521708" y="4594860"/>
            <a:ext cx="100584" cy="100584"/>
          </a:xfrm>
          <a:prstGeom prst="ellipse">
            <a:avLst/>
          </a:prstGeom>
          <a:solidFill>
            <a:srgbClr val="FAF6E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096474" y="4594860"/>
            <a:ext cx="100584" cy="100584"/>
          </a:xfrm>
          <a:prstGeom prst="ellipse">
            <a:avLst/>
          </a:prstGeom>
          <a:solidFill>
            <a:srgbClr val="FAF6E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5671239" y="4594860"/>
            <a:ext cx="100584" cy="100584"/>
          </a:xfrm>
          <a:prstGeom prst="ellipse">
            <a:avLst/>
          </a:prstGeom>
          <a:solidFill>
            <a:srgbClr val="FAF6E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246005" y="4594860"/>
            <a:ext cx="100584" cy="100584"/>
          </a:xfrm>
          <a:prstGeom prst="ellipse">
            <a:avLst/>
          </a:prstGeom>
          <a:solidFill>
            <a:srgbClr val="FAF6E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779623" y="4553712"/>
            <a:ext cx="182880" cy="182880"/>
          </a:xfrm>
          <a:prstGeom prst="ellipse">
            <a:avLst/>
          </a:prstGeom>
          <a:solidFill>
            <a:srgbClr val="0E5E6F"/>
          </a:solidFill>
          <a:ln w="15875">
            <a:solidFill>
              <a:srgbClr val="C58B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395537" y="4594860"/>
            <a:ext cx="100584" cy="100584"/>
          </a:xfrm>
          <a:prstGeom prst="ellipse">
            <a:avLst/>
          </a:prstGeom>
          <a:solidFill>
            <a:srgbClr val="FAF6EF"/>
          </a:solidFill>
          <a:ln w="15875">
            <a:solidFill>
              <a:srgbClr val="C58B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970302" y="4594860"/>
            <a:ext cx="100584" cy="100584"/>
          </a:xfrm>
          <a:prstGeom prst="ellipse">
            <a:avLst/>
          </a:prstGeom>
          <a:solidFill>
            <a:srgbClr val="FAF6EF"/>
          </a:solidFill>
          <a:ln w="15875">
            <a:solidFill>
              <a:srgbClr val="C58B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8545068" y="4594860"/>
            <a:ext cx="100584" cy="100584"/>
          </a:xfrm>
          <a:prstGeom prst="ellipse">
            <a:avLst/>
          </a:prstGeom>
          <a:solidFill>
            <a:srgbClr val="FAF6EF"/>
          </a:solidFill>
          <a:ln w="15875">
            <a:solidFill>
              <a:srgbClr val="C58B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371600" y="502920"/>
            <a:ext cx="7223760" cy="902208"/>
          </a:xfrm>
          <a:prstGeom prst="rect">
            <a:avLst/>
          </a:prstGeom>
          <a:noFill/>
        </p:spPr>
        <p:txBody>
          <a:bodyPr wrap="square" anchor="t" lIns="45720" rIns="45720" tIns="27432" bIns="27432">
            <a:noAutofit/>
          </a:bodyPr>
          <a:lstStyle/>
          <a:p>
            <a:pPr algn="l">
              <a:lnSpc>
                <a:spcPct val="95000"/>
              </a:lnSpc>
              <a:spcBef>
                <a:spcPts val="0"/>
              </a:spcBef>
              <a:spcAft>
                <a:spcPts val="0"/>
              </a:spcAft>
            </a:pPr>
            <a:r>
              <a:rPr sz="2800" b="1" i="0">
                <a:solidFill>
                  <a:srgbClr val="1F2A37"/>
                </a:solidFill>
                <a:latin typeface="Georgia"/>
              </a:rPr>
              <a:t>Why rescue is hard, and who is hurt</a:t>
            </a:r>
          </a:p>
        </p:txBody>
      </p:sp>
      <p:sp>
        <p:nvSpPr>
          <p:cNvPr id="24" name="Oval 23"/>
          <p:cNvSpPr/>
          <p:nvPr/>
        </p:nvSpPr>
        <p:spPr>
          <a:xfrm>
            <a:off x="1417320" y="1463040"/>
            <a:ext cx="502920" cy="502920"/>
          </a:xfrm>
          <a:prstGeom prst="ellipse">
            <a:avLst/>
          </a:prstGeom>
          <a:solidFill>
            <a:srgbClr val="0E5E6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spcBef>
                <a:spcPts val="0"/>
              </a:spcBef>
              <a:spcAft>
                <a:spcPts val="0"/>
              </a:spcAft>
            </a:pPr>
            <a:r>
              <a:rPr sz="2000" b="1" i="0">
                <a:solidFill>
                  <a:srgbClr val="FAF6EF"/>
                </a:solidFill>
                <a:latin typeface="Georgia"/>
              </a:rPr>
              <a:t>B</a:t>
            </a:r>
          </a:p>
        </p:txBody>
      </p:sp>
      <p:sp>
        <p:nvSpPr>
          <p:cNvPr id="25" name="TextBox 24"/>
          <p:cNvSpPr txBox="1"/>
          <p:nvPr/>
        </p:nvSpPr>
        <p:spPr>
          <a:xfrm>
            <a:off x="1371600" y="2011680"/>
            <a:ext cx="1691640" cy="1005840"/>
          </a:xfrm>
          <a:prstGeom prst="rect">
            <a:avLst/>
          </a:prstGeom>
          <a:noFill/>
        </p:spPr>
        <p:txBody>
          <a:bodyPr wrap="square" anchor="t" lIns="45720" rIns="45720" tIns="27432" bIns="27432">
            <a:noAutofit/>
          </a:bodyPr>
          <a:lstStyle/>
          <a:p>
            <a:pPr algn="l">
              <a:spcBef>
                <a:spcPts val="0"/>
              </a:spcBef>
              <a:spcAft>
                <a:spcPts val="200"/>
              </a:spcAft>
            </a:pPr>
            <a:r>
              <a:rPr sz="1600" b="1" i="0">
                <a:solidFill>
                  <a:srgbClr val="1F2A37"/>
                </a:solidFill>
                <a:latin typeface="Georgia"/>
              </a:rPr>
              <a:t>Buyers</a:t>
            </a:r>
          </a:p>
          <a:p>
            <a:pPr algn="l">
              <a:spcBef>
                <a:spcPts val="0"/>
              </a:spcBef>
              <a:spcAft>
                <a:spcPts val="0"/>
              </a:spcAft>
            </a:pPr>
            <a:r>
              <a:rPr sz="1400" b="0" i="0">
                <a:solidFill>
                  <a:srgbClr val="1F2A37"/>
                </a:solidFill>
                <a:latin typeface="Calibri"/>
              </a:rPr>
              <a:t>Wait, get re-contacted blindly</a:t>
            </a:r>
          </a:p>
        </p:txBody>
      </p:sp>
      <p:sp>
        <p:nvSpPr>
          <p:cNvPr id="26" name="Oval 25"/>
          <p:cNvSpPr/>
          <p:nvPr/>
        </p:nvSpPr>
        <p:spPr>
          <a:xfrm>
            <a:off x="3264408" y="1463040"/>
            <a:ext cx="502920" cy="502920"/>
          </a:xfrm>
          <a:prstGeom prst="ellipse">
            <a:avLst/>
          </a:prstGeom>
          <a:solidFill>
            <a:srgbClr val="B83A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spcBef>
                <a:spcPts val="0"/>
              </a:spcBef>
              <a:spcAft>
                <a:spcPts val="0"/>
              </a:spcAft>
            </a:pPr>
            <a:r>
              <a:rPr sz="2000" b="1" i="0">
                <a:solidFill>
                  <a:srgbClr val="FAF6EF"/>
                </a:solidFill>
                <a:latin typeface="Georgia"/>
              </a:rPr>
              <a:t>C</a:t>
            </a:r>
          </a:p>
        </p:txBody>
      </p:sp>
      <p:sp>
        <p:nvSpPr>
          <p:cNvPr id="27" name="TextBox 26"/>
          <p:cNvSpPr txBox="1"/>
          <p:nvPr/>
        </p:nvSpPr>
        <p:spPr>
          <a:xfrm>
            <a:off x="3218688" y="2011680"/>
            <a:ext cx="1691640" cy="1005840"/>
          </a:xfrm>
          <a:prstGeom prst="rect">
            <a:avLst/>
          </a:prstGeom>
          <a:noFill/>
        </p:spPr>
        <p:txBody>
          <a:bodyPr wrap="square" anchor="t" lIns="45720" rIns="45720" tIns="27432" bIns="27432">
            <a:noAutofit/>
          </a:bodyPr>
          <a:lstStyle/>
          <a:p>
            <a:pPr algn="l">
              <a:spcBef>
                <a:spcPts val="0"/>
              </a:spcBef>
              <a:spcAft>
                <a:spcPts val="200"/>
              </a:spcAft>
            </a:pPr>
            <a:r>
              <a:rPr sz="1600" b="1" i="0">
                <a:solidFill>
                  <a:srgbClr val="1F2A37"/>
                </a:solidFill>
                <a:latin typeface="Georgia"/>
              </a:rPr>
              <a:t>Couriers</a:t>
            </a:r>
          </a:p>
          <a:p>
            <a:pPr algn="l">
              <a:spcBef>
                <a:spcPts val="0"/>
              </a:spcBef>
              <a:spcAft>
                <a:spcPts val="0"/>
              </a:spcAft>
            </a:pPr>
            <a:r>
              <a:rPr sz="1400" b="0" i="0">
                <a:solidFill>
                  <a:srgbClr val="1F2A37"/>
                </a:solidFill>
                <a:latin typeface="Calibri"/>
              </a:rPr>
              <a:t>Spend limited attempts</a:t>
            </a:r>
          </a:p>
        </p:txBody>
      </p:sp>
      <p:sp>
        <p:nvSpPr>
          <p:cNvPr id="28" name="Oval 27"/>
          <p:cNvSpPr/>
          <p:nvPr/>
        </p:nvSpPr>
        <p:spPr>
          <a:xfrm>
            <a:off x="5111496" y="1463040"/>
            <a:ext cx="502920" cy="502920"/>
          </a:xfrm>
          <a:prstGeom prst="ellipse">
            <a:avLst/>
          </a:prstGeom>
          <a:solidFill>
            <a:srgbClr val="1F2A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spcBef>
                <a:spcPts val="0"/>
              </a:spcBef>
              <a:spcAft>
                <a:spcPts val="0"/>
              </a:spcAft>
            </a:pPr>
            <a:r>
              <a:rPr sz="2000" b="1" i="0">
                <a:solidFill>
                  <a:srgbClr val="FAF6EF"/>
                </a:solidFill>
                <a:latin typeface="Georgia"/>
              </a:rPr>
              <a:t>O</a:t>
            </a:r>
          </a:p>
        </p:txBody>
      </p:sp>
      <p:sp>
        <p:nvSpPr>
          <p:cNvPr id="29" name="TextBox 28"/>
          <p:cNvSpPr txBox="1"/>
          <p:nvPr/>
        </p:nvSpPr>
        <p:spPr>
          <a:xfrm>
            <a:off x="5065776" y="2011680"/>
            <a:ext cx="1691640" cy="1005840"/>
          </a:xfrm>
          <a:prstGeom prst="rect">
            <a:avLst/>
          </a:prstGeom>
          <a:noFill/>
        </p:spPr>
        <p:txBody>
          <a:bodyPr wrap="square" anchor="t" lIns="45720" rIns="45720" tIns="27432" bIns="27432">
            <a:noAutofit/>
          </a:bodyPr>
          <a:lstStyle/>
          <a:p>
            <a:pPr algn="l">
              <a:spcBef>
                <a:spcPts val="0"/>
              </a:spcBef>
              <a:spcAft>
                <a:spcPts val="200"/>
              </a:spcAft>
            </a:pPr>
            <a:r>
              <a:rPr sz="1600" b="1" i="0">
                <a:solidFill>
                  <a:srgbClr val="1F2A37"/>
                </a:solidFill>
                <a:latin typeface="Georgia"/>
              </a:rPr>
              <a:t>Ops</a:t>
            </a:r>
          </a:p>
          <a:p>
            <a:pPr algn="l">
              <a:spcBef>
                <a:spcPts val="0"/>
              </a:spcBef>
              <a:spcAft>
                <a:spcPts val="0"/>
              </a:spcAft>
            </a:pPr>
            <a:r>
              <a:rPr sz="1400" b="0" i="0">
                <a:solidFill>
                  <a:srgbClr val="1F2A37"/>
                </a:solidFill>
                <a:latin typeface="Calibri"/>
              </a:rPr>
              <a:t>Triage case by case</a:t>
            </a:r>
          </a:p>
        </p:txBody>
      </p:sp>
      <p:sp>
        <p:nvSpPr>
          <p:cNvPr id="30" name="Oval 29"/>
          <p:cNvSpPr/>
          <p:nvPr/>
        </p:nvSpPr>
        <p:spPr>
          <a:xfrm>
            <a:off x="6958584" y="1463040"/>
            <a:ext cx="502920" cy="502920"/>
          </a:xfrm>
          <a:prstGeom prst="ellipse">
            <a:avLst/>
          </a:prstGeom>
          <a:solidFill>
            <a:srgbClr val="5B627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spcBef>
                <a:spcPts val="0"/>
              </a:spcBef>
              <a:spcAft>
                <a:spcPts val="0"/>
              </a:spcAft>
            </a:pPr>
            <a:r>
              <a:rPr sz="2000" b="1" i="0">
                <a:solidFill>
                  <a:srgbClr val="FAF6EF"/>
                </a:solidFill>
                <a:latin typeface="Georgia"/>
              </a:rPr>
              <a:t>S</a:t>
            </a:r>
          </a:p>
        </p:txBody>
      </p:sp>
      <p:sp>
        <p:nvSpPr>
          <p:cNvPr id="31" name="TextBox 30"/>
          <p:cNvSpPr txBox="1"/>
          <p:nvPr/>
        </p:nvSpPr>
        <p:spPr>
          <a:xfrm>
            <a:off x="6912864" y="2011680"/>
            <a:ext cx="1691640" cy="1005840"/>
          </a:xfrm>
          <a:prstGeom prst="rect">
            <a:avLst/>
          </a:prstGeom>
          <a:noFill/>
        </p:spPr>
        <p:txBody>
          <a:bodyPr wrap="square" anchor="t" lIns="45720" rIns="45720" tIns="27432" bIns="27432">
            <a:noAutofit/>
          </a:bodyPr>
          <a:lstStyle/>
          <a:p>
            <a:pPr algn="l">
              <a:spcBef>
                <a:spcPts val="0"/>
              </a:spcBef>
              <a:spcAft>
                <a:spcPts val="200"/>
              </a:spcAft>
            </a:pPr>
            <a:r>
              <a:rPr sz="1600" b="1" i="0">
                <a:solidFill>
                  <a:srgbClr val="1F2A37"/>
                </a:solidFill>
                <a:latin typeface="Georgia"/>
              </a:rPr>
              <a:t>Sellers</a:t>
            </a:r>
          </a:p>
          <a:p>
            <a:pPr algn="l">
              <a:spcBef>
                <a:spcPts val="0"/>
              </a:spcBef>
              <a:spcAft>
                <a:spcPts val="0"/>
              </a:spcAft>
            </a:pPr>
            <a:r>
              <a:rPr sz="1400" b="0" i="0">
                <a:solidFill>
                  <a:srgbClr val="1F2A37"/>
                </a:solidFill>
                <a:latin typeface="Calibri"/>
              </a:rPr>
              <a:t>Risk returns and lost sales</a:t>
            </a:r>
          </a:p>
        </p:txBody>
      </p:sp>
      <p:cxnSp>
        <p:nvCxnSpPr>
          <p:cNvPr id="32" name="Connector 31"/>
          <p:cNvCxnSpPr/>
          <p:nvPr/>
        </p:nvCxnSpPr>
        <p:spPr>
          <a:xfrm>
            <a:off x="1371600" y="3200400"/>
            <a:ext cx="7223760" cy="0"/>
          </a:xfrm>
          <a:prstGeom prst="line">
            <a:avLst/>
          </a:prstGeom>
          <a:ln w="9525">
            <a:solidFill>
              <a:srgbClr val="C58B4B"/>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1371600" y="3236976"/>
            <a:ext cx="7223760" cy="347472"/>
          </a:xfrm>
          <a:prstGeom prst="rect">
            <a:avLst/>
          </a:prstGeom>
          <a:noFill/>
        </p:spPr>
        <p:txBody>
          <a:bodyPr wrap="square" anchor="ctr" lIns="45720" rIns="45720" tIns="27432" bIns="27432">
            <a:noAutofit/>
          </a:bodyPr>
          <a:lstStyle/>
          <a:p>
            <a:pPr algn="l">
              <a:spcBef>
                <a:spcPts val="0"/>
              </a:spcBef>
              <a:spcAft>
                <a:spcPts val="0"/>
              </a:spcAft>
            </a:pPr>
            <a:r>
              <a:rPr sz="1600" b="0" i="0">
                <a:solidFill>
                  <a:srgbClr val="1F2A37"/>
                </a:solidFill>
                <a:latin typeface="Calibri"/>
              </a:rPr>
              <a:t>One status maps to many possible causes.</a:t>
            </a:r>
          </a:p>
        </p:txBody>
      </p:sp>
      <p:cxnSp>
        <p:nvCxnSpPr>
          <p:cNvPr id="34" name="Connector 33"/>
          <p:cNvCxnSpPr/>
          <p:nvPr/>
        </p:nvCxnSpPr>
        <p:spPr>
          <a:xfrm>
            <a:off x="1371600" y="3621024"/>
            <a:ext cx="7223760" cy="0"/>
          </a:xfrm>
          <a:prstGeom prst="line">
            <a:avLst/>
          </a:prstGeom>
          <a:ln w="9525">
            <a:solidFill>
              <a:srgbClr val="C58B4B"/>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1371600" y="3657600"/>
            <a:ext cx="7223760" cy="347472"/>
          </a:xfrm>
          <a:prstGeom prst="rect">
            <a:avLst/>
          </a:prstGeom>
          <a:noFill/>
        </p:spPr>
        <p:txBody>
          <a:bodyPr wrap="square" anchor="ctr" lIns="45720" rIns="45720" tIns="27432" bIns="27432">
            <a:noAutofit/>
          </a:bodyPr>
          <a:lstStyle/>
          <a:p>
            <a:pPr algn="l">
              <a:spcBef>
                <a:spcPts val="0"/>
              </a:spcBef>
              <a:spcAft>
                <a:spcPts val="0"/>
              </a:spcAft>
            </a:pPr>
            <a:r>
              <a:rPr sz="1600" b="0" i="0">
                <a:solidFill>
                  <a:srgbClr val="1F2A37"/>
                </a:solidFill>
                <a:latin typeface="Calibri"/>
              </a:rPr>
              <a:t>Only the buyer can resolve some unknowns.</a:t>
            </a:r>
          </a:p>
        </p:txBody>
      </p:sp>
      <p:cxnSp>
        <p:nvCxnSpPr>
          <p:cNvPr id="36" name="Connector 35"/>
          <p:cNvCxnSpPr/>
          <p:nvPr/>
        </p:nvCxnSpPr>
        <p:spPr>
          <a:xfrm>
            <a:off x="1371600" y="4041648"/>
            <a:ext cx="7223760" cy="0"/>
          </a:xfrm>
          <a:prstGeom prst="line">
            <a:avLst/>
          </a:prstGeom>
          <a:ln w="9525">
            <a:solidFill>
              <a:srgbClr val="C58B4B"/>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1371600" y="4078224"/>
            <a:ext cx="7223760" cy="347472"/>
          </a:xfrm>
          <a:prstGeom prst="rect">
            <a:avLst/>
          </a:prstGeom>
          <a:noFill/>
        </p:spPr>
        <p:txBody>
          <a:bodyPr wrap="square" anchor="ctr" lIns="45720" rIns="45720" tIns="27432" bIns="27432">
            <a:noAutofit/>
          </a:bodyPr>
          <a:lstStyle/>
          <a:p>
            <a:pPr algn="l">
              <a:spcBef>
                <a:spcPts val="0"/>
              </a:spcBef>
              <a:spcAft>
                <a:spcPts val="0"/>
              </a:spcAft>
            </a:pPr>
            <a:r>
              <a:rPr sz="1600" b="0" i="0">
                <a:solidFill>
                  <a:srgbClr val="1F2A37"/>
                </a:solidFill>
                <a:latin typeface="Calibri"/>
              </a:rPr>
              <a:t>Attempts are limited; silence must not be read as refusal.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AF6EF"/>
        </a:solidFill>
        <a:effectLst/>
      </p:bgPr>
    </p:bg>
    <p:spTree>
      <p:nvGrpSpPr>
        <p:cNvPr id="1" name=""/>
        <p:cNvGrpSpPr/>
        <p:nvPr/>
      </p:nvGrpSpPr>
      <p:grpSpPr/>
      <p:sp>
        <p:nvSpPr>
          <p:cNvPr id="2" name="TextBox 1"/>
          <p:cNvSpPr txBox="1"/>
          <p:nvPr/>
        </p:nvSpPr>
        <p:spPr>
          <a:xfrm>
            <a:off x="512064" y="256032"/>
            <a:ext cx="731520" cy="731520"/>
          </a:xfrm>
          <a:prstGeom prst="rect">
            <a:avLst/>
          </a:prstGeom>
          <a:noFill/>
        </p:spPr>
        <p:txBody>
          <a:bodyPr wrap="square" anchor="t" lIns="45720" rIns="45720" tIns="27432" bIns="27432">
            <a:noAutofit/>
          </a:bodyPr>
          <a:lstStyle/>
          <a:p>
            <a:pPr algn="l">
              <a:spcBef>
                <a:spcPts val="0"/>
              </a:spcBef>
              <a:spcAft>
                <a:spcPts val="0"/>
              </a:spcAft>
            </a:pPr>
            <a:r>
              <a:rPr sz="4400" b="1" i="0">
                <a:solidFill>
                  <a:srgbClr val="0E5E6F"/>
                </a:solidFill>
                <a:latin typeface="Georgia"/>
              </a:rPr>
              <a:t>B</a:t>
            </a:r>
          </a:p>
        </p:txBody>
      </p:sp>
      <p:cxnSp>
        <p:nvCxnSpPr>
          <p:cNvPr id="3" name="Connector 2"/>
          <p:cNvCxnSpPr/>
          <p:nvPr/>
        </p:nvCxnSpPr>
        <p:spPr>
          <a:xfrm>
            <a:off x="621792" y="1051560"/>
            <a:ext cx="0" cy="3337560"/>
          </a:xfrm>
          <a:prstGeom prst="line">
            <a:avLst/>
          </a:prstGeom>
          <a:ln w="12700">
            <a:solidFill>
              <a:srgbClr val="C58B4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371600" y="274320"/>
            <a:ext cx="7223760" cy="219456"/>
          </a:xfrm>
          <a:prstGeom prst="rect">
            <a:avLst/>
          </a:prstGeom>
          <a:noFill/>
        </p:spPr>
        <p:txBody>
          <a:bodyPr wrap="square" anchor="t" lIns="45720" rIns="45720" tIns="27432" bIns="27432">
            <a:noAutofit/>
          </a:bodyPr>
          <a:lstStyle/>
          <a:p>
            <a:pPr algn="l">
              <a:spcBef>
                <a:spcPts val="0"/>
              </a:spcBef>
              <a:spcAft>
                <a:spcPts val="0"/>
              </a:spcAft>
            </a:pPr>
            <a:r>
              <a:rPr sz="1100" b="1" i="0">
                <a:solidFill>
                  <a:srgbClr val="0E5E6F"/>
                </a:solidFill>
                <a:latin typeface="Calibri"/>
              </a:rPr>
              <a:t>BACKUP | SCALE</a:t>
            </a:r>
          </a:p>
        </p:txBody>
      </p:sp>
      <p:sp>
        <p:nvSpPr>
          <p:cNvPr id="5" name="TextBox 4"/>
          <p:cNvSpPr txBox="1"/>
          <p:nvPr/>
        </p:nvSpPr>
        <p:spPr>
          <a:xfrm>
            <a:off x="548640" y="4818888"/>
            <a:ext cx="5486400" cy="219456"/>
          </a:xfrm>
          <a:prstGeom prst="rect">
            <a:avLst/>
          </a:prstGeom>
          <a:noFill/>
        </p:spPr>
        <p:txBody>
          <a:bodyPr wrap="square" anchor="t" lIns="45720" rIns="45720" tIns="27432" bIns="27432">
            <a:noAutofit/>
          </a:bodyPr>
          <a:lstStyle/>
          <a:p>
            <a:pPr algn="l">
              <a:spcBef>
                <a:spcPts val="0"/>
              </a:spcBef>
              <a:spcAft>
                <a:spcPts val="0"/>
              </a:spcAft>
            </a:pPr>
            <a:r>
              <a:rPr sz="1100" b="0" i="0">
                <a:solidFill>
                  <a:srgbClr val="5B6270"/>
                </a:solidFill>
                <a:latin typeface="Calibri"/>
              </a:rPr>
              <a:t>Order Rescue | synthetic data only | local MVP</a:t>
            </a:r>
          </a:p>
        </p:txBody>
      </p:sp>
      <p:sp>
        <p:nvSpPr>
          <p:cNvPr id="6" name="TextBox 5"/>
          <p:cNvSpPr txBox="1"/>
          <p:nvPr/>
        </p:nvSpPr>
        <p:spPr>
          <a:xfrm>
            <a:off x="7680960" y="4818888"/>
            <a:ext cx="914400" cy="219456"/>
          </a:xfrm>
          <a:prstGeom prst="rect">
            <a:avLst/>
          </a:prstGeom>
          <a:noFill/>
        </p:spPr>
        <p:txBody>
          <a:bodyPr wrap="square" anchor="t" lIns="45720" rIns="45720" tIns="27432" bIns="27432">
            <a:noAutofit/>
          </a:bodyPr>
          <a:lstStyle/>
          <a:p>
            <a:pPr algn="r">
              <a:spcBef>
                <a:spcPts val="0"/>
              </a:spcBef>
              <a:spcAft>
                <a:spcPts val="0"/>
              </a:spcAft>
            </a:pPr>
            <a:r>
              <a:rPr sz="1100" b="0" i="0">
                <a:solidFill>
                  <a:srgbClr val="5B6270"/>
                </a:solidFill>
                <a:latin typeface="Calibri"/>
              </a:rPr>
              <a:t>13 / 15</a:t>
            </a:r>
          </a:p>
        </p:txBody>
      </p:sp>
      <p:cxnSp>
        <p:nvCxnSpPr>
          <p:cNvPr id="7" name="Connector 6"/>
          <p:cNvCxnSpPr/>
          <p:nvPr/>
        </p:nvCxnSpPr>
        <p:spPr>
          <a:xfrm>
            <a:off x="548640" y="4645152"/>
            <a:ext cx="8046720" cy="0"/>
          </a:xfrm>
          <a:prstGeom prst="line">
            <a:avLst/>
          </a:prstGeom>
          <a:ln w="12700">
            <a:solidFill>
              <a:srgbClr val="C58B4B"/>
            </a:solidFill>
          </a:ln>
        </p:spPr>
        <p:style>
          <a:lnRef idx="2">
            <a:schemeClr val="accent1"/>
          </a:lnRef>
          <a:fillRef idx="0">
            <a:schemeClr val="accent1"/>
          </a:fillRef>
          <a:effectRef idx="1">
            <a:schemeClr val="accent1"/>
          </a:effectRef>
          <a:fontRef idx="minor">
            <a:schemeClr val="tx1"/>
          </a:fontRef>
        </p:style>
      </p:cxnSp>
      <p:sp>
        <p:nvSpPr>
          <p:cNvPr id="8" name="Oval 7"/>
          <p:cNvSpPr/>
          <p:nvPr/>
        </p:nvSpPr>
        <p:spPr>
          <a:xfrm>
            <a:off x="498348" y="4594860"/>
            <a:ext cx="100584" cy="100584"/>
          </a:xfrm>
          <a:prstGeom prst="ellipse">
            <a:avLst/>
          </a:prstGeom>
          <a:solidFill>
            <a:srgbClr val="FAF6E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73114" y="4594860"/>
            <a:ext cx="100584" cy="100584"/>
          </a:xfrm>
          <a:prstGeom prst="ellipse">
            <a:avLst/>
          </a:prstGeom>
          <a:solidFill>
            <a:srgbClr val="FAF6E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647879" y="4594860"/>
            <a:ext cx="100584" cy="100584"/>
          </a:xfrm>
          <a:prstGeom prst="ellipse">
            <a:avLst/>
          </a:prstGeom>
          <a:solidFill>
            <a:srgbClr val="FAF6E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222645" y="4594860"/>
            <a:ext cx="100584" cy="100584"/>
          </a:xfrm>
          <a:prstGeom prst="ellipse">
            <a:avLst/>
          </a:prstGeom>
          <a:solidFill>
            <a:srgbClr val="FAF6E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2797411" y="4594860"/>
            <a:ext cx="100584" cy="100584"/>
          </a:xfrm>
          <a:prstGeom prst="ellipse">
            <a:avLst/>
          </a:prstGeom>
          <a:solidFill>
            <a:srgbClr val="FAF6E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3372177" y="4594860"/>
            <a:ext cx="100584" cy="100584"/>
          </a:xfrm>
          <a:prstGeom prst="ellipse">
            <a:avLst/>
          </a:prstGeom>
          <a:solidFill>
            <a:srgbClr val="FAF6E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946942" y="4594860"/>
            <a:ext cx="100584" cy="100584"/>
          </a:xfrm>
          <a:prstGeom prst="ellipse">
            <a:avLst/>
          </a:prstGeom>
          <a:solidFill>
            <a:srgbClr val="FAF6E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521708" y="4594860"/>
            <a:ext cx="100584" cy="100584"/>
          </a:xfrm>
          <a:prstGeom prst="ellipse">
            <a:avLst/>
          </a:prstGeom>
          <a:solidFill>
            <a:srgbClr val="FAF6E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096474" y="4594860"/>
            <a:ext cx="100584" cy="100584"/>
          </a:xfrm>
          <a:prstGeom prst="ellipse">
            <a:avLst/>
          </a:prstGeom>
          <a:solidFill>
            <a:srgbClr val="FAF6E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5671239" y="4594860"/>
            <a:ext cx="100584" cy="100584"/>
          </a:xfrm>
          <a:prstGeom prst="ellipse">
            <a:avLst/>
          </a:prstGeom>
          <a:solidFill>
            <a:srgbClr val="FAF6E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246005" y="4594860"/>
            <a:ext cx="100584" cy="100584"/>
          </a:xfrm>
          <a:prstGeom prst="ellipse">
            <a:avLst/>
          </a:prstGeom>
          <a:solidFill>
            <a:srgbClr val="FAF6E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20771" y="4594860"/>
            <a:ext cx="100584" cy="100584"/>
          </a:xfrm>
          <a:prstGeom prst="ellipse">
            <a:avLst/>
          </a:prstGeom>
          <a:solidFill>
            <a:srgbClr val="FAF6EF"/>
          </a:solidFill>
          <a:ln w="15875">
            <a:solidFill>
              <a:srgbClr val="C58B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354389" y="4553712"/>
            <a:ext cx="182880" cy="182880"/>
          </a:xfrm>
          <a:prstGeom prst="ellipse">
            <a:avLst/>
          </a:prstGeom>
          <a:solidFill>
            <a:srgbClr val="0E5E6F"/>
          </a:solidFill>
          <a:ln w="15875">
            <a:solidFill>
              <a:srgbClr val="C58B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970302" y="4594860"/>
            <a:ext cx="100584" cy="100584"/>
          </a:xfrm>
          <a:prstGeom prst="ellipse">
            <a:avLst/>
          </a:prstGeom>
          <a:solidFill>
            <a:srgbClr val="FAF6EF"/>
          </a:solidFill>
          <a:ln w="15875">
            <a:solidFill>
              <a:srgbClr val="C58B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8545068" y="4594860"/>
            <a:ext cx="100584" cy="100584"/>
          </a:xfrm>
          <a:prstGeom prst="ellipse">
            <a:avLst/>
          </a:prstGeom>
          <a:solidFill>
            <a:srgbClr val="FAF6EF"/>
          </a:solidFill>
          <a:ln w="15875">
            <a:solidFill>
              <a:srgbClr val="C58B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371600" y="502920"/>
            <a:ext cx="7223760" cy="496824"/>
          </a:xfrm>
          <a:prstGeom prst="rect">
            <a:avLst/>
          </a:prstGeom>
          <a:noFill/>
        </p:spPr>
        <p:txBody>
          <a:bodyPr wrap="square" anchor="t" lIns="45720" rIns="45720" tIns="27432" bIns="27432">
            <a:noAutofit/>
          </a:bodyPr>
          <a:lstStyle/>
          <a:p>
            <a:pPr algn="l">
              <a:lnSpc>
                <a:spcPct val="95000"/>
              </a:lnSpc>
              <a:spcBef>
                <a:spcPts val="0"/>
              </a:spcBef>
              <a:spcAft>
                <a:spcPts val="0"/>
              </a:spcAft>
            </a:pPr>
            <a:r>
              <a:rPr sz="2800" b="1" i="0">
                <a:solidFill>
                  <a:srgbClr val="1F2A37"/>
                </a:solidFill>
                <a:latin typeface="Georgia"/>
              </a:rPr>
              <a:t>How it scales</a:t>
            </a:r>
          </a:p>
        </p:txBody>
      </p:sp>
      <p:sp>
        <p:nvSpPr>
          <p:cNvPr id="24" name="TextBox 23"/>
          <p:cNvSpPr txBox="1"/>
          <p:nvPr/>
        </p:nvSpPr>
        <p:spPr>
          <a:xfrm>
            <a:off x="1371600" y="1234440"/>
            <a:ext cx="1371600" cy="365760"/>
          </a:xfrm>
          <a:prstGeom prst="rect">
            <a:avLst/>
          </a:prstGeom>
          <a:noFill/>
        </p:spPr>
        <p:txBody>
          <a:bodyPr wrap="square" anchor="t" lIns="45720" rIns="45720" tIns="27432" bIns="27432">
            <a:noAutofit/>
          </a:bodyPr>
          <a:lstStyle/>
          <a:p>
            <a:pPr algn="l">
              <a:spcBef>
                <a:spcPts val="0"/>
              </a:spcBef>
              <a:spcAft>
                <a:spcPts val="0"/>
              </a:spcAft>
            </a:pPr>
            <a:r>
              <a:rPr sz="2000" b="1" i="0">
                <a:solidFill>
                  <a:srgbClr val="B83A26"/>
                </a:solidFill>
                <a:latin typeface="Georgia"/>
              </a:rPr>
              <a:t>Now</a:t>
            </a:r>
          </a:p>
        </p:txBody>
      </p:sp>
      <p:sp>
        <p:nvSpPr>
          <p:cNvPr id="25" name="Oval 24"/>
          <p:cNvSpPr/>
          <p:nvPr/>
        </p:nvSpPr>
        <p:spPr>
          <a:xfrm>
            <a:off x="1417320" y="1737360"/>
            <a:ext cx="310896" cy="310896"/>
          </a:xfrm>
          <a:prstGeom prst="ellipse">
            <a:avLst/>
          </a:prstGeom>
          <a:solidFill>
            <a:srgbClr val="D64933"/>
          </a:solidFill>
          <a:ln w="25400">
            <a:solidFill>
              <a:srgbClr val="D649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371600" y="2194560"/>
            <a:ext cx="1371600" cy="1188720"/>
          </a:xfrm>
          <a:prstGeom prst="rect">
            <a:avLst/>
          </a:prstGeom>
          <a:noFill/>
        </p:spPr>
        <p:txBody>
          <a:bodyPr wrap="square" anchor="t" lIns="45720" rIns="45720" tIns="27432" bIns="27432">
            <a:noAutofit/>
          </a:bodyPr>
          <a:lstStyle/>
          <a:p>
            <a:pPr algn="l">
              <a:spcBef>
                <a:spcPts val="0"/>
              </a:spcBef>
              <a:spcAft>
                <a:spcPts val="0"/>
              </a:spcAft>
            </a:pPr>
            <a:r>
              <a:rPr sz="1400" b="0" i="0">
                <a:solidFill>
                  <a:srgbClr val="1F2A37"/>
                </a:solidFill>
                <a:latin typeface="Calibri"/>
              </a:rPr>
              <a:t>Local MVP, fixtures</a:t>
            </a:r>
          </a:p>
        </p:txBody>
      </p:sp>
      <p:sp>
        <p:nvSpPr>
          <p:cNvPr id="27" name="TextBox 26"/>
          <p:cNvSpPr txBox="1"/>
          <p:nvPr/>
        </p:nvSpPr>
        <p:spPr>
          <a:xfrm>
            <a:off x="2834640" y="1234440"/>
            <a:ext cx="1371600" cy="365760"/>
          </a:xfrm>
          <a:prstGeom prst="rect">
            <a:avLst/>
          </a:prstGeom>
          <a:noFill/>
        </p:spPr>
        <p:txBody>
          <a:bodyPr wrap="square" anchor="t" lIns="45720" rIns="45720" tIns="27432" bIns="27432">
            <a:noAutofit/>
          </a:bodyPr>
          <a:lstStyle/>
          <a:p>
            <a:pPr algn="l">
              <a:spcBef>
                <a:spcPts val="0"/>
              </a:spcBef>
              <a:spcAft>
                <a:spcPts val="0"/>
              </a:spcAft>
            </a:pPr>
            <a:r>
              <a:rPr sz="2000" b="1" i="0">
                <a:solidFill>
                  <a:srgbClr val="0E5E6F"/>
                </a:solidFill>
                <a:latin typeface="Georgia"/>
              </a:rPr>
              <a:t>Next</a:t>
            </a:r>
          </a:p>
        </p:txBody>
      </p:sp>
      <p:sp>
        <p:nvSpPr>
          <p:cNvPr id="28" name="Oval 27"/>
          <p:cNvSpPr/>
          <p:nvPr/>
        </p:nvSpPr>
        <p:spPr>
          <a:xfrm>
            <a:off x="2880360" y="1737360"/>
            <a:ext cx="310896" cy="310896"/>
          </a:xfrm>
          <a:prstGeom prst="ellipse">
            <a:avLst/>
          </a:prstGeom>
          <a:solidFill>
            <a:srgbClr val="FAF6EF"/>
          </a:solidFill>
          <a:ln w="25400">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834640" y="2194560"/>
            <a:ext cx="1371600" cy="1188720"/>
          </a:xfrm>
          <a:prstGeom prst="rect">
            <a:avLst/>
          </a:prstGeom>
          <a:noFill/>
        </p:spPr>
        <p:txBody>
          <a:bodyPr wrap="square" anchor="t" lIns="45720" rIns="45720" tIns="27432" bIns="27432">
            <a:noAutofit/>
          </a:bodyPr>
          <a:lstStyle/>
          <a:p>
            <a:pPr algn="l">
              <a:spcBef>
                <a:spcPts val="0"/>
              </a:spcBef>
              <a:spcAft>
                <a:spcPts val="0"/>
              </a:spcAft>
            </a:pPr>
            <a:r>
              <a:rPr sz="1400" b="0" i="0">
                <a:solidFill>
                  <a:srgbClr val="1F2A37"/>
                </a:solidFill>
                <a:latin typeface="Calibri"/>
              </a:rPr>
              <a:t>Real carrier data feeds</a:t>
            </a:r>
          </a:p>
        </p:txBody>
      </p:sp>
      <p:sp>
        <p:nvSpPr>
          <p:cNvPr id="30" name="TextBox 29"/>
          <p:cNvSpPr txBox="1"/>
          <p:nvPr/>
        </p:nvSpPr>
        <p:spPr>
          <a:xfrm>
            <a:off x="4297680" y="1234440"/>
            <a:ext cx="1371600" cy="365760"/>
          </a:xfrm>
          <a:prstGeom prst="rect">
            <a:avLst/>
          </a:prstGeom>
          <a:noFill/>
        </p:spPr>
        <p:txBody>
          <a:bodyPr wrap="square" anchor="t" lIns="45720" rIns="45720" tIns="27432" bIns="27432">
            <a:noAutofit/>
          </a:bodyPr>
          <a:lstStyle/>
          <a:p>
            <a:pPr algn="l">
              <a:spcBef>
                <a:spcPts val="0"/>
              </a:spcBef>
              <a:spcAft>
                <a:spcPts val="0"/>
              </a:spcAft>
            </a:pPr>
            <a:r>
              <a:rPr sz="2000" b="1" i="0">
                <a:solidFill>
                  <a:srgbClr val="0E5E6F"/>
                </a:solidFill>
                <a:latin typeface="Georgia"/>
              </a:rPr>
              <a:t>Then</a:t>
            </a:r>
          </a:p>
        </p:txBody>
      </p:sp>
      <p:sp>
        <p:nvSpPr>
          <p:cNvPr id="31" name="Oval 30"/>
          <p:cNvSpPr/>
          <p:nvPr/>
        </p:nvSpPr>
        <p:spPr>
          <a:xfrm>
            <a:off x="4343400" y="1737360"/>
            <a:ext cx="310896" cy="310896"/>
          </a:xfrm>
          <a:prstGeom prst="ellipse">
            <a:avLst/>
          </a:prstGeom>
          <a:solidFill>
            <a:srgbClr val="FAF6EF"/>
          </a:solidFill>
          <a:ln w="25400">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297680" y="2194560"/>
            <a:ext cx="1371600" cy="1188720"/>
          </a:xfrm>
          <a:prstGeom prst="rect">
            <a:avLst/>
          </a:prstGeom>
          <a:noFill/>
        </p:spPr>
        <p:txBody>
          <a:bodyPr wrap="square" anchor="t" lIns="45720" rIns="45720" tIns="27432" bIns="27432">
            <a:noAutofit/>
          </a:bodyPr>
          <a:lstStyle/>
          <a:p>
            <a:pPr algn="l">
              <a:spcBef>
                <a:spcPts val="0"/>
              </a:spcBef>
              <a:spcAft>
                <a:spcPts val="0"/>
              </a:spcAft>
            </a:pPr>
            <a:r>
              <a:rPr sz="1400" b="0" i="0">
                <a:solidFill>
                  <a:srgbClr val="1F2A37"/>
                </a:solidFill>
                <a:latin typeface="Calibri"/>
              </a:rPr>
              <a:t>Case queue, async agent runs</a:t>
            </a:r>
          </a:p>
        </p:txBody>
      </p:sp>
      <p:sp>
        <p:nvSpPr>
          <p:cNvPr id="33" name="TextBox 32"/>
          <p:cNvSpPr txBox="1"/>
          <p:nvPr/>
        </p:nvSpPr>
        <p:spPr>
          <a:xfrm>
            <a:off x="5760720" y="1234440"/>
            <a:ext cx="1371600" cy="365760"/>
          </a:xfrm>
          <a:prstGeom prst="rect">
            <a:avLst/>
          </a:prstGeom>
          <a:noFill/>
        </p:spPr>
        <p:txBody>
          <a:bodyPr wrap="square" anchor="t" lIns="45720" rIns="45720" tIns="27432" bIns="27432">
            <a:noAutofit/>
          </a:bodyPr>
          <a:lstStyle/>
          <a:p>
            <a:pPr algn="l">
              <a:spcBef>
                <a:spcPts val="0"/>
              </a:spcBef>
              <a:spcAft>
                <a:spcPts val="0"/>
              </a:spcAft>
            </a:pPr>
            <a:r>
              <a:rPr sz="2000" b="1" i="0">
                <a:solidFill>
                  <a:srgbClr val="0E5E6F"/>
                </a:solidFill>
                <a:latin typeface="Georgia"/>
              </a:rPr>
              <a:t>Then</a:t>
            </a:r>
          </a:p>
        </p:txBody>
      </p:sp>
      <p:sp>
        <p:nvSpPr>
          <p:cNvPr id="34" name="Oval 33"/>
          <p:cNvSpPr/>
          <p:nvPr/>
        </p:nvSpPr>
        <p:spPr>
          <a:xfrm>
            <a:off x="5806440" y="1737360"/>
            <a:ext cx="310896" cy="310896"/>
          </a:xfrm>
          <a:prstGeom prst="ellipse">
            <a:avLst/>
          </a:prstGeom>
          <a:solidFill>
            <a:srgbClr val="FAF6EF"/>
          </a:solidFill>
          <a:ln w="25400">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760720" y="2194560"/>
            <a:ext cx="1371600" cy="1188720"/>
          </a:xfrm>
          <a:prstGeom prst="rect">
            <a:avLst/>
          </a:prstGeom>
          <a:noFill/>
        </p:spPr>
        <p:txBody>
          <a:bodyPr wrap="square" anchor="t" lIns="45720" rIns="45720" tIns="27432" bIns="27432">
            <a:noAutofit/>
          </a:bodyPr>
          <a:lstStyle/>
          <a:p>
            <a:pPr algn="l">
              <a:spcBef>
                <a:spcPts val="0"/>
              </a:spcBef>
              <a:spcAft>
                <a:spcPts val="0"/>
              </a:spcAft>
            </a:pPr>
            <a:r>
              <a:rPr sz="1400" b="0" i="0">
                <a:solidFill>
                  <a:srgbClr val="1F2A37"/>
                </a:solidFill>
                <a:latin typeface="Calibri"/>
              </a:rPr>
              <a:t>Policy profile per version</a:t>
            </a:r>
          </a:p>
        </p:txBody>
      </p:sp>
      <p:sp>
        <p:nvSpPr>
          <p:cNvPr id="36" name="TextBox 35"/>
          <p:cNvSpPr txBox="1"/>
          <p:nvPr/>
        </p:nvSpPr>
        <p:spPr>
          <a:xfrm>
            <a:off x="7223760" y="1234440"/>
            <a:ext cx="1371600" cy="365760"/>
          </a:xfrm>
          <a:prstGeom prst="rect">
            <a:avLst/>
          </a:prstGeom>
          <a:noFill/>
        </p:spPr>
        <p:txBody>
          <a:bodyPr wrap="square" anchor="t" lIns="45720" rIns="45720" tIns="27432" bIns="27432">
            <a:noAutofit/>
          </a:bodyPr>
          <a:lstStyle/>
          <a:p>
            <a:pPr algn="l">
              <a:spcBef>
                <a:spcPts val="0"/>
              </a:spcBef>
              <a:spcAft>
                <a:spcPts val="0"/>
              </a:spcAft>
            </a:pPr>
            <a:r>
              <a:rPr sz="2000" b="1" i="0">
                <a:solidFill>
                  <a:srgbClr val="0E5E6F"/>
                </a:solidFill>
                <a:latin typeface="Georgia"/>
              </a:rPr>
              <a:t>Then</a:t>
            </a:r>
          </a:p>
        </p:txBody>
      </p:sp>
      <p:sp>
        <p:nvSpPr>
          <p:cNvPr id="37" name="Oval 36"/>
          <p:cNvSpPr/>
          <p:nvPr/>
        </p:nvSpPr>
        <p:spPr>
          <a:xfrm>
            <a:off x="7269480" y="1737360"/>
            <a:ext cx="310896" cy="310896"/>
          </a:xfrm>
          <a:prstGeom prst="ellipse">
            <a:avLst/>
          </a:prstGeom>
          <a:solidFill>
            <a:srgbClr val="FAF6EF"/>
          </a:solidFill>
          <a:ln w="25400">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223760" y="2194560"/>
            <a:ext cx="1371600" cy="1188720"/>
          </a:xfrm>
          <a:prstGeom prst="rect">
            <a:avLst/>
          </a:prstGeom>
          <a:noFill/>
        </p:spPr>
        <p:txBody>
          <a:bodyPr wrap="square" anchor="t" lIns="45720" rIns="45720" tIns="27432" bIns="27432">
            <a:noAutofit/>
          </a:bodyPr>
          <a:lstStyle/>
          <a:p>
            <a:pPr algn="l">
              <a:spcBef>
                <a:spcPts val="0"/>
              </a:spcBef>
              <a:spcAft>
                <a:spcPts val="0"/>
              </a:spcAft>
            </a:pPr>
            <a:r>
              <a:rPr sz="1400" b="0" i="0">
                <a:solidFill>
                  <a:srgbClr val="1F2A37"/>
                </a:solidFill>
                <a:latin typeface="Calibri"/>
              </a:rPr>
              <a:t>Evaluation harness, 30 cases (not built yet)</a:t>
            </a:r>
          </a:p>
        </p:txBody>
      </p:sp>
      <p:cxnSp>
        <p:nvCxnSpPr>
          <p:cNvPr id="39" name="Connector 38"/>
          <p:cNvCxnSpPr/>
          <p:nvPr/>
        </p:nvCxnSpPr>
        <p:spPr>
          <a:xfrm>
            <a:off x="1728216" y="1892808"/>
            <a:ext cx="1152144" cy="0"/>
          </a:xfrm>
          <a:prstGeom prst="line">
            <a:avLst/>
          </a:prstGeom>
          <a:ln w="22225">
            <a:solidFill>
              <a:srgbClr val="0E5E6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3191256" y="1892808"/>
            <a:ext cx="1152144" cy="0"/>
          </a:xfrm>
          <a:prstGeom prst="line">
            <a:avLst/>
          </a:prstGeom>
          <a:ln w="22225">
            <a:solidFill>
              <a:srgbClr val="0E5E6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4654296" y="1892808"/>
            <a:ext cx="1152144" cy="0"/>
          </a:xfrm>
          <a:prstGeom prst="line">
            <a:avLst/>
          </a:prstGeom>
          <a:ln w="22225">
            <a:solidFill>
              <a:srgbClr val="0E5E6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6117336" y="1892808"/>
            <a:ext cx="1152144" cy="0"/>
          </a:xfrm>
          <a:prstGeom prst="line">
            <a:avLst/>
          </a:prstGeom>
          <a:ln w="22225">
            <a:solidFill>
              <a:srgbClr val="0E5E6F"/>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Rectangle 42"/>
          <p:cNvSpPr/>
          <p:nvPr/>
        </p:nvSpPr>
        <p:spPr>
          <a:xfrm>
            <a:off x="1371600" y="3611880"/>
            <a:ext cx="182880" cy="182880"/>
          </a:xfrm>
          <a:prstGeom prst="rect">
            <a:avLst/>
          </a:prstGeom>
          <a:solidFill>
            <a:srgbClr val="0E5E6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1612362" y="3611880"/>
            <a:ext cx="182880" cy="182880"/>
          </a:xfrm>
          <a:prstGeom prst="rect">
            <a:avLst/>
          </a:prstGeom>
          <a:solidFill>
            <a:srgbClr val="0E5E6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1853123" y="3611880"/>
            <a:ext cx="182880" cy="182880"/>
          </a:xfrm>
          <a:prstGeom prst="rect">
            <a:avLst/>
          </a:prstGeom>
          <a:solidFill>
            <a:srgbClr val="0E5E6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2093885" y="3611880"/>
            <a:ext cx="182880" cy="182880"/>
          </a:xfrm>
          <a:prstGeom prst="rect">
            <a:avLst/>
          </a:prstGeom>
          <a:solidFill>
            <a:srgbClr val="0E5E6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2334646" y="3611880"/>
            <a:ext cx="182880" cy="182880"/>
          </a:xfrm>
          <a:prstGeom prst="rect">
            <a:avLst/>
          </a:prstGeom>
          <a:solidFill>
            <a:srgbClr val="0E5E6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2575408" y="3611880"/>
            <a:ext cx="182880" cy="182880"/>
          </a:xfrm>
          <a:prstGeom prst="rect">
            <a:avLst/>
          </a:prstGeom>
          <a:solidFill>
            <a:srgbClr val="0E5E6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2816169" y="3611880"/>
            <a:ext cx="182880" cy="182880"/>
          </a:xfrm>
          <a:prstGeom prst="rect">
            <a:avLst/>
          </a:prstGeom>
          <a:solidFill>
            <a:srgbClr val="0E5E6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3056931" y="3611880"/>
            <a:ext cx="182880" cy="182880"/>
          </a:xfrm>
          <a:prstGeom prst="rect">
            <a:avLst/>
          </a:prstGeom>
          <a:solidFill>
            <a:srgbClr val="0E5E6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3297692" y="3611880"/>
            <a:ext cx="182880" cy="182880"/>
          </a:xfrm>
          <a:prstGeom prst="rect">
            <a:avLst/>
          </a:prstGeom>
          <a:solidFill>
            <a:srgbClr val="0E5E6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3538454" y="3611880"/>
            <a:ext cx="182880" cy="182880"/>
          </a:xfrm>
          <a:prstGeom prst="rect">
            <a:avLst/>
          </a:prstGeom>
          <a:solidFill>
            <a:srgbClr val="0E5E6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3779215" y="3611880"/>
            <a:ext cx="182880" cy="182880"/>
          </a:xfrm>
          <a:prstGeom prst="rect">
            <a:avLst/>
          </a:prstGeom>
          <a:solidFill>
            <a:srgbClr val="0E5E6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4019977" y="3611880"/>
            <a:ext cx="182880" cy="182880"/>
          </a:xfrm>
          <a:prstGeom prst="rect">
            <a:avLst/>
          </a:prstGeom>
          <a:solidFill>
            <a:srgbClr val="0E5E6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4260738" y="3611880"/>
            <a:ext cx="182880" cy="182880"/>
          </a:xfrm>
          <a:prstGeom prst="rect">
            <a:avLst/>
          </a:prstGeom>
          <a:solidFill>
            <a:srgbClr val="0E5E6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4501500" y="3611880"/>
            <a:ext cx="182880" cy="182880"/>
          </a:xfrm>
          <a:prstGeom prst="rect">
            <a:avLst/>
          </a:prstGeom>
          <a:solidFill>
            <a:srgbClr val="0E5E6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4742261" y="3611880"/>
            <a:ext cx="182880" cy="182880"/>
          </a:xfrm>
          <a:prstGeom prst="rect">
            <a:avLst/>
          </a:prstGeom>
          <a:solidFill>
            <a:srgbClr val="0E5E6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4983023" y="3611880"/>
            <a:ext cx="182880" cy="182880"/>
          </a:xfrm>
          <a:prstGeom prst="rect">
            <a:avLst/>
          </a:prstGeom>
          <a:solidFill>
            <a:srgbClr val="0E5E6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5223784" y="3611880"/>
            <a:ext cx="182880" cy="182880"/>
          </a:xfrm>
          <a:prstGeom prst="rect">
            <a:avLst/>
          </a:prstGeom>
          <a:solidFill>
            <a:srgbClr val="0E5E6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5464546" y="3611880"/>
            <a:ext cx="182880" cy="182880"/>
          </a:xfrm>
          <a:prstGeom prst="rect">
            <a:avLst/>
          </a:prstGeom>
          <a:solidFill>
            <a:srgbClr val="0E5E6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5705307" y="3611880"/>
            <a:ext cx="182880" cy="182880"/>
          </a:xfrm>
          <a:prstGeom prst="rect">
            <a:avLst/>
          </a:prstGeom>
          <a:solidFill>
            <a:srgbClr val="0E5E6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5946069" y="3611880"/>
            <a:ext cx="182880" cy="182880"/>
          </a:xfrm>
          <a:prstGeom prst="rect">
            <a:avLst/>
          </a:prstGeom>
          <a:solidFill>
            <a:srgbClr val="0E5E6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6186830" y="3611880"/>
            <a:ext cx="182880" cy="182880"/>
          </a:xfrm>
          <a:prstGeom prst="rect">
            <a:avLst/>
          </a:prstGeom>
          <a:solidFill>
            <a:srgbClr val="0E5E6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6427592" y="3611880"/>
            <a:ext cx="182880" cy="182880"/>
          </a:xfrm>
          <a:prstGeom prst="rect">
            <a:avLst/>
          </a:prstGeom>
          <a:solidFill>
            <a:srgbClr val="0E5E6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6668353" y="3611880"/>
            <a:ext cx="182880" cy="182880"/>
          </a:xfrm>
          <a:prstGeom prst="rect">
            <a:avLst/>
          </a:prstGeom>
          <a:solidFill>
            <a:srgbClr val="0E5E6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6909115" y="3611880"/>
            <a:ext cx="182880" cy="182880"/>
          </a:xfrm>
          <a:prstGeom prst="rect">
            <a:avLst/>
          </a:prstGeom>
          <a:solidFill>
            <a:srgbClr val="0E5E6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7149876" y="3611880"/>
            <a:ext cx="182880" cy="182880"/>
          </a:xfrm>
          <a:prstGeom prst="rect">
            <a:avLst/>
          </a:prstGeom>
          <a:noFill/>
          <a:ln w="15875">
            <a:solidFill>
              <a:srgbClr val="A973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7390638" y="3611880"/>
            <a:ext cx="182880" cy="182880"/>
          </a:xfrm>
          <a:prstGeom prst="rect">
            <a:avLst/>
          </a:prstGeom>
          <a:noFill/>
          <a:ln w="15875">
            <a:solidFill>
              <a:srgbClr val="A973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7631400" y="3611880"/>
            <a:ext cx="182880" cy="182880"/>
          </a:xfrm>
          <a:prstGeom prst="rect">
            <a:avLst/>
          </a:prstGeom>
          <a:noFill/>
          <a:ln w="15875">
            <a:solidFill>
              <a:srgbClr val="A973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7872161" y="3611880"/>
            <a:ext cx="182880" cy="182880"/>
          </a:xfrm>
          <a:prstGeom prst="rect">
            <a:avLst/>
          </a:prstGeom>
          <a:noFill/>
          <a:ln w="15875">
            <a:solidFill>
              <a:srgbClr val="A973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8112923" y="3611880"/>
            <a:ext cx="182880" cy="182880"/>
          </a:xfrm>
          <a:prstGeom prst="rect">
            <a:avLst/>
          </a:prstGeom>
          <a:noFill/>
          <a:ln w="15875">
            <a:solidFill>
              <a:srgbClr val="A973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8353684" y="3611880"/>
            <a:ext cx="182880" cy="182880"/>
          </a:xfrm>
          <a:prstGeom prst="rect">
            <a:avLst/>
          </a:prstGeom>
          <a:noFill/>
          <a:ln w="15875">
            <a:solidFill>
              <a:srgbClr val="A973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1371600" y="3886200"/>
            <a:ext cx="7223760" cy="365760"/>
          </a:xfrm>
          <a:prstGeom prst="rect">
            <a:avLst/>
          </a:prstGeom>
          <a:noFill/>
        </p:spPr>
        <p:txBody>
          <a:bodyPr wrap="square" anchor="t" lIns="45720" rIns="45720" tIns="27432" bIns="27432">
            <a:noAutofit/>
          </a:bodyPr>
          <a:lstStyle/>
          <a:p>
            <a:pPr algn="l">
              <a:spcBef>
                <a:spcPts val="0"/>
              </a:spcBef>
              <a:spcAft>
                <a:spcPts val="0"/>
              </a:spcAft>
            </a:pPr>
            <a:r>
              <a:rPr sz="1400" b="0" i="0">
                <a:solidFill>
                  <a:srgbClr val="1F2A37"/>
                </a:solidFill>
                <a:latin typeface="Calibri"/>
              </a:rPr>
              <a:t>The 30 synthetic cases cover 24 with a buyer reply and 6 manual no-reply paths.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AF6EF"/>
        </a:solidFill>
        <a:effectLst/>
      </p:bgPr>
    </p:bg>
    <p:spTree>
      <p:nvGrpSpPr>
        <p:cNvPr id="1" name=""/>
        <p:cNvGrpSpPr/>
        <p:nvPr/>
      </p:nvGrpSpPr>
      <p:grpSpPr/>
      <p:sp>
        <p:nvSpPr>
          <p:cNvPr id="2" name="TextBox 1"/>
          <p:cNvSpPr txBox="1"/>
          <p:nvPr/>
        </p:nvSpPr>
        <p:spPr>
          <a:xfrm>
            <a:off x="512064" y="256032"/>
            <a:ext cx="731520" cy="731520"/>
          </a:xfrm>
          <a:prstGeom prst="rect">
            <a:avLst/>
          </a:prstGeom>
          <a:noFill/>
        </p:spPr>
        <p:txBody>
          <a:bodyPr wrap="square" anchor="t" lIns="45720" rIns="45720" tIns="27432" bIns="27432">
            <a:noAutofit/>
          </a:bodyPr>
          <a:lstStyle/>
          <a:p>
            <a:pPr algn="l">
              <a:spcBef>
                <a:spcPts val="0"/>
              </a:spcBef>
              <a:spcAft>
                <a:spcPts val="0"/>
              </a:spcAft>
            </a:pPr>
            <a:r>
              <a:rPr sz="4400" b="1" i="0">
                <a:solidFill>
                  <a:srgbClr val="0E5E6F"/>
                </a:solidFill>
                <a:latin typeface="Georgia"/>
              </a:rPr>
              <a:t>B</a:t>
            </a:r>
          </a:p>
        </p:txBody>
      </p:sp>
      <p:cxnSp>
        <p:nvCxnSpPr>
          <p:cNvPr id="3" name="Connector 2"/>
          <p:cNvCxnSpPr/>
          <p:nvPr/>
        </p:nvCxnSpPr>
        <p:spPr>
          <a:xfrm>
            <a:off x="621792" y="1051560"/>
            <a:ext cx="0" cy="3337560"/>
          </a:xfrm>
          <a:prstGeom prst="line">
            <a:avLst/>
          </a:prstGeom>
          <a:ln w="12700">
            <a:solidFill>
              <a:srgbClr val="C58B4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371600" y="274320"/>
            <a:ext cx="7223760" cy="219456"/>
          </a:xfrm>
          <a:prstGeom prst="rect">
            <a:avLst/>
          </a:prstGeom>
          <a:noFill/>
        </p:spPr>
        <p:txBody>
          <a:bodyPr wrap="square" anchor="t" lIns="45720" rIns="45720" tIns="27432" bIns="27432">
            <a:noAutofit/>
          </a:bodyPr>
          <a:lstStyle/>
          <a:p>
            <a:pPr algn="l">
              <a:spcBef>
                <a:spcPts val="0"/>
              </a:spcBef>
              <a:spcAft>
                <a:spcPts val="0"/>
              </a:spcAft>
            </a:pPr>
            <a:r>
              <a:rPr sz="1100" b="1" i="0">
                <a:solidFill>
                  <a:srgbClr val="0E5E6F"/>
                </a:solidFill>
                <a:latin typeface="Calibri"/>
              </a:rPr>
              <a:t>BACKUP | INTEGRATION</a:t>
            </a:r>
          </a:p>
        </p:txBody>
      </p:sp>
      <p:sp>
        <p:nvSpPr>
          <p:cNvPr id="5" name="TextBox 4"/>
          <p:cNvSpPr txBox="1"/>
          <p:nvPr/>
        </p:nvSpPr>
        <p:spPr>
          <a:xfrm>
            <a:off x="548640" y="4818888"/>
            <a:ext cx="5486400" cy="219456"/>
          </a:xfrm>
          <a:prstGeom prst="rect">
            <a:avLst/>
          </a:prstGeom>
          <a:noFill/>
        </p:spPr>
        <p:txBody>
          <a:bodyPr wrap="square" anchor="t" lIns="45720" rIns="45720" tIns="27432" bIns="27432">
            <a:noAutofit/>
          </a:bodyPr>
          <a:lstStyle/>
          <a:p>
            <a:pPr algn="l">
              <a:spcBef>
                <a:spcPts val="0"/>
              </a:spcBef>
              <a:spcAft>
                <a:spcPts val="0"/>
              </a:spcAft>
            </a:pPr>
            <a:r>
              <a:rPr sz="1100" b="0" i="0">
                <a:solidFill>
                  <a:srgbClr val="5B6270"/>
                </a:solidFill>
                <a:latin typeface="Calibri"/>
              </a:rPr>
              <a:t>Order Rescue | synthetic data only | local MVP</a:t>
            </a:r>
          </a:p>
        </p:txBody>
      </p:sp>
      <p:sp>
        <p:nvSpPr>
          <p:cNvPr id="6" name="TextBox 5"/>
          <p:cNvSpPr txBox="1"/>
          <p:nvPr/>
        </p:nvSpPr>
        <p:spPr>
          <a:xfrm>
            <a:off x="7680960" y="4818888"/>
            <a:ext cx="914400" cy="219456"/>
          </a:xfrm>
          <a:prstGeom prst="rect">
            <a:avLst/>
          </a:prstGeom>
          <a:noFill/>
        </p:spPr>
        <p:txBody>
          <a:bodyPr wrap="square" anchor="t" lIns="45720" rIns="45720" tIns="27432" bIns="27432">
            <a:noAutofit/>
          </a:bodyPr>
          <a:lstStyle/>
          <a:p>
            <a:pPr algn="r">
              <a:spcBef>
                <a:spcPts val="0"/>
              </a:spcBef>
              <a:spcAft>
                <a:spcPts val="0"/>
              </a:spcAft>
            </a:pPr>
            <a:r>
              <a:rPr sz="1100" b="0" i="0">
                <a:solidFill>
                  <a:srgbClr val="5B6270"/>
                </a:solidFill>
                <a:latin typeface="Calibri"/>
              </a:rPr>
              <a:t>14 / 15</a:t>
            </a:r>
          </a:p>
        </p:txBody>
      </p:sp>
      <p:cxnSp>
        <p:nvCxnSpPr>
          <p:cNvPr id="7" name="Connector 6"/>
          <p:cNvCxnSpPr/>
          <p:nvPr/>
        </p:nvCxnSpPr>
        <p:spPr>
          <a:xfrm>
            <a:off x="548640" y="4645152"/>
            <a:ext cx="8046720" cy="0"/>
          </a:xfrm>
          <a:prstGeom prst="line">
            <a:avLst/>
          </a:prstGeom>
          <a:ln w="12700">
            <a:solidFill>
              <a:srgbClr val="C58B4B"/>
            </a:solidFill>
          </a:ln>
        </p:spPr>
        <p:style>
          <a:lnRef idx="2">
            <a:schemeClr val="accent1"/>
          </a:lnRef>
          <a:fillRef idx="0">
            <a:schemeClr val="accent1"/>
          </a:fillRef>
          <a:effectRef idx="1">
            <a:schemeClr val="accent1"/>
          </a:effectRef>
          <a:fontRef idx="minor">
            <a:schemeClr val="tx1"/>
          </a:fontRef>
        </p:style>
      </p:cxnSp>
      <p:sp>
        <p:nvSpPr>
          <p:cNvPr id="8" name="Oval 7"/>
          <p:cNvSpPr/>
          <p:nvPr/>
        </p:nvSpPr>
        <p:spPr>
          <a:xfrm>
            <a:off x="498348" y="4594860"/>
            <a:ext cx="100584" cy="100584"/>
          </a:xfrm>
          <a:prstGeom prst="ellipse">
            <a:avLst/>
          </a:prstGeom>
          <a:solidFill>
            <a:srgbClr val="FAF6E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73114" y="4594860"/>
            <a:ext cx="100584" cy="100584"/>
          </a:xfrm>
          <a:prstGeom prst="ellipse">
            <a:avLst/>
          </a:prstGeom>
          <a:solidFill>
            <a:srgbClr val="FAF6E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647879" y="4594860"/>
            <a:ext cx="100584" cy="100584"/>
          </a:xfrm>
          <a:prstGeom prst="ellipse">
            <a:avLst/>
          </a:prstGeom>
          <a:solidFill>
            <a:srgbClr val="FAF6E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222645" y="4594860"/>
            <a:ext cx="100584" cy="100584"/>
          </a:xfrm>
          <a:prstGeom prst="ellipse">
            <a:avLst/>
          </a:prstGeom>
          <a:solidFill>
            <a:srgbClr val="FAF6E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2797411" y="4594860"/>
            <a:ext cx="100584" cy="100584"/>
          </a:xfrm>
          <a:prstGeom prst="ellipse">
            <a:avLst/>
          </a:prstGeom>
          <a:solidFill>
            <a:srgbClr val="FAF6E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3372177" y="4594860"/>
            <a:ext cx="100584" cy="100584"/>
          </a:xfrm>
          <a:prstGeom prst="ellipse">
            <a:avLst/>
          </a:prstGeom>
          <a:solidFill>
            <a:srgbClr val="FAF6E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946942" y="4594860"/>
            <a:ext cx="100584" cy="100584"/>
          </a:xfrm>
          <a:prstGeom prst="ellipse">
            <a:avLst/>
          </a:prstGeom>
          <a:solidFill>
            <a:srgbClr val="FAF6E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521708" y="4594860"/>
            <a:ext cx="100584" cy="100584"/>
          </a:xfrm>
          <a:prstGeom prst="ellipse">
            <a:avLst/>
          </a:prstGeom>
          <a:solidFill>
            <a:srgbClr val="FAF6E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096474" y="4594860"/>
            <a:ext cx="100584" cy="100584"/>
          </a:xfrm>
          <a:prstGeom prst="ellipse">
            <a:avLst/>
          </a:prstGeom>
          <a:solidFill>
            <a:srgbClr val="FAF6E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5671239" y="4594860"/>
            <a:ext cx="100584" cy="100584"/>
          </a:xfrm>
          <a:prstGeom prst="ellipse">
            <a:avLst/>
          </a:prstGeom>
          <a:solidFill>
            <a:srgbClr val="FAF6E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246005" y="4594860"/>
            <a:ext cx="100584" cy="100584"/>
          </a:xfrm>
          <a:prstGeom prst="ellipse">
            <a:avLst/>
          </a:prstGeom>
          <a:solidFill>
            <a:srgbClr val="FAF6E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20771" y="4594860"/>
            <a:ext cx="100584" cy="100584"/>
          </a:xfrm>
          <a:prstGeom prst="ellipse">
            <a:avLst/>
          </a:prstGeom>
          <a:solidFill>
            <a:srgbClr val="FAF6EF"/>
          </a:solidFill>
          <a:ln w="15875">
            <a:solidFill>
              <a:srgbClr val="C58B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395537" y="4594860"/>
            <a:ext cx="100584" cy="100584"/>
          </a:xfrm>
          <a:prstGeom prst="ellipse">
            <a:avLst/>
          </a:prstGeom>
          <a:solidFill>
            <a:srgbClr val="FAF6EF"/>
          </a:solidFill>
          <a:ln w="15875">
            <a:solidFill>
              <a:srgbClr val="C58B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929154" y="4553712"/>
            <a:ext cx="182880" cy="182880"/>
          </a:xfrm>
          <a:prstGeom prst="ellipse">
            <a:avLst/>
          </a:prstGeom>
          <a:solidFill>
            <a:srgbClr val="0E5E6F"/>
          </a:solidFill>
          <a:ln w="15875">
            <a:solidFill>
              <a:srgbClr val="C58B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8545068" y="4594860"/>
            <a:ext cx="100584" cy="100584"/>
          </a:xfrm>
          <a:prstGeom prst="ellipse">
            <a:avLst/>
          </a:prstGeom>
          <a:solidFill>
            <a:srgbClr val="FAF6EF"/>
          </a:solidFill>
          <a:ln w="15875">
            <a:solidFill>
              <a:srgbClr val="C58B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371600" y="502920"/>
            <a:ext cx="7223760" cy="902208"/>
          </a:xfrm>
          <a:prstGeom prst="rect">
            <a:avLst/>
          </a:prstGeom>
          <a:noFill/>
        </p:spPr>
        <p:txBody>
          <a:bodyPr wrap="square" anchor="t" lIns="45720" rIns="45720" tIns="27432" bIns="27432">
            <a:noAutofit/>
          </a:bodyPr>
          <a:lstStyle/>
          <a:p>
            <a:pPr algn="l">
              <a:lnSpc>
                <a:spcPct val="95000"/>
              </a:lnSpc>
              <a:spcBef>
                <a:spcPts val="0"/>
              </a:spcBef>
              <a:spcAft>
                <a:spcPts val="0"/>
              </a:spcAft>
            </a:pPr>
            <a:r>
              <a:rPr sz="2800" b="1" i="0">
                <a:solidFill>
                  <a:srgbClr val="1F2A37"/>
                </a:solidFill>
                <a:latin typeface="Georgia"/>
              </a:rPr>
              <a:t>Integration: how it would plug into Ops</a:t>
            </a:r>
          </a:p>
        </p:txBody>
      </p:sp>
      <p:sp>
        <p:nvSpPr>
          <p:cNvPr id="24" name="Rectangle 23"/>
          <p:cNvSpPr/>
          <p:nvPr/>
        </p:nvSpPr>
        <p:spPr>
          <a:xfrm>
            <a:off x="1325880" y="1481328"/>
            <a:ext cx="7269480" cy="2286000"/>
          </a:xfrm>
          <a:prstGeom prst="rect">
            <a:avLst/>
          </a:prstGeom>
          <a:noFill/>
          <a:ln w="15875">
            <a:solidFill>
              <a:srgbClr val="5B627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463040" y="1517904"/>
            <a:ext cx="2743200" cy="219456"/>
          </a:xfrm>
          <a:prstGeom prst="rect">
            <a:avLst/>
          </a:prstGeom>
          <a:noFill/>
        </p:spPr>
        <p:txBody>
          <a:bodyPr wrap="square" anchor="t" lIns="45720" rIns="45720" tIns="27432" bIns="27432">
            <a:noAutofit/>
          </a:bodyPr>
          <a:lstStyle/>
          <a:p>
            <a:pPr algn="l">
              <a:spcBef>
                <a:spcPts val="0"/>
              </a:spcBef>
              <a:spcAft>
                <a:spcPts val="0"/>
              </a:spcAft>
            </a:pPr>
            <a:r>
              <a:rPr sz="1100" b="1" i="0">
                <a:solidFill>
                  <a:srgbClr val="5B6270"/>
                </a:solidFill>
                <a:latin typeface="Calibri"/>
              </a:rPr>
              <a:t>FUTURE / UNVERIFIED</a:t>
            </a:r>
          </a:p>
        </p:txBody>
      </p:sp>
      <p:sp>
        <p:nvSpPr>
          <p:cNvPr id="26" name="Rectangle 25"/>
          <p:cNvSpPr/>
          <p:nvPr/>
        </p:nvSpPr>
        <p:spPr>
          <a:xfrm>
            <a:off x="1554480" y="1828800"/>
            <a:ext cx="2011680" cy="914400"/>
          </a:xfrm>
          <a:prstGeom prst="rect">
            <a:avLst/>
          </a:prstGeom>
          <a:solidFill>
            <a:srgbClr val="FFFDF8"/>
          </a:solidFill>
          <a:ln w="12700">
            <a:solidFill>
              <a:srgbClr val="1F2A3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27432" bIns="27432">
            <a:noAutofit/>
          </a:bodyPr>
          <a:lstStyle/>
          <a:p>
            <a:pPr algn="ctr">
              <a:spcBef>
                <a:spcPts val="0"/>
              </a:spcBef>
              <a:spcAft>
                <a:spcPts val="0"/>
              </a:spcAft>
            </a:pPr>
            <a:r>
              <a:rPr sz="1400" b="1" i="0">
                <a:solidFill>
                  <a:srgbClr val="1F2A37"/>
                </a:solidFill>
                <a:latin typeface="Calibri"/>
              </a:rPr>
              <a:t>Order and delivery-event stores</a:t>
            </a:r>
          </a:p>
          <a:p>
            <a:pPr algn="ctr">
              <a:spcBef>
                <a:spcPts val="0"/>
              </a:spcBef>
              <a:spcAft>
                <a:spcPts val="0"/>
              </a:spcAft>
            </a:pPr>
            <a:r>
              <a:rPr sz="1400" b="0" i="0">
                <a:solidFill>
                  <a:srgbClr val="1F2A37"/>
                </a:solidFill>
                <a:latin typeface="Calibri"/>
              </a:rPr>
              <a:t>read only</a:t>
            </a:r>
          </a:p>
        </p:txBody>
      </p:sp>
      <p:sp>
        <p:nvSpPr>
          <p:cNvPr id="27" name="Rectangle 26"/>
          <p:cNvSpPr/>
          <p:nvPr/>
        </p:nvSpPr>
        <p:spPr>
          <a:xfrm>
            <a:off x="3840480" y="1828800"/>
            <a:ext cx="2194560" cy="914400"/>
          </a:xfrm>
          <a:prstGeom prst="rect">
            <a:avLst/>
          </a:prstGeom>
          <a:solidFill>
            <a:srgbClr val="0E5E6F"/>
          </a:solidFill>
          <a:ln w="12700">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27432" bIns="27432">
            <a:noAutofit/>
          </a:bodyPr>
          <a:lstStyle/>
          <a:p>
            <a:pPr algn="ctr">
              <a:spcBef>
                <a:spcPts val="0"/>
              </a:spcBef>
              <a:spcAft>
                <a:spcPts val="0"/>
              </a:spcAft>
            </a:pPr>
            <a:r>
              <a:rPr sz="1400" b="1" i="0">
                <a:solidFill>
                  <a:srgbClr val="FAF6EF"/>
                </a:solidFill>
                <a:latin typeface="Calibri"/>
              </a:rPr>
              <a:t>Order Rescue service</a:t>
            </a:r>
          </a:p>
          <a:p>
            <a:pPr algn="ctr">
              <a:spcBef>
                <a:spcPts val="0"/>
              </a:spcBef>
              <a:spcAft>
                <a:spcPts val="0"/>
              </a:spcAft>
            </a:pPr>
            <a:r>
              <a:rPr sz="1400" b="0" i="0">
                <a:solidFill>
                  <a:srgbClr val="FAF6EF"/>
                </a:solidFill>
                <a:latin typeface="Calibri"/>
              </a:rPr>
              <a:t>agent + policy engine</a:t>
            </a:r>
          </a:p>
        </p:txBody>
      </p:sp>
      <p:sp>
        <p:nvSpPr>
          <p:cNvPr id="28" name="Rectangle 27"/>
          <p:cNvSpPr/>
          <p:nvPr/>
        </p:nvSpPr>
        <p:spPr>
          <a:xfrm>
            <a:off x="6309360" y="1828800"/>
            <a:ext cx="2103120" cy="914400"/>
          </a:xfrm>
          <a:prstGeom prst="rect">
            <a:avLst/>
          </a:prstGeom>
          <a:solidFill>
            <a:srgbClr val="1F2A37"/>
          </a:solidFill>
          <a:ln w="12700">
            <a:solidFill>
              <a:srgbClr val="1F2A3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27432" bIns="27432">
            <a:noAutofit/>
          </a:bodyPr>
          <a:lstStyle/>
          <a:p>
            <a:pPr algn="ctr">
              <a:spcBef>
                <a:spcPts val="0"/>
              </a:spcBef>
              <a:spcAft>
                <a:spcPts val="0"/>
              </a:spcAft>
            </a:pPr>
            <a:r>
              <a:rPr sz="1400" b="1" i="0">
                <a:solidFill>
                  <a:srgbClr val="FAF6EF"/>
                </a:solidFill>
                <a:latin typeface="Calibri"/>
              </a:rPr>
              <a:t>Ops console</a:t>
            </a:r>
          </a:p>
          <a:p>
            <a:pPr algn="ctr">
              <a:spcBef>
                <a:spcPts val="0"/>
              </a:spcBef>
              <a:spcAft>
                <a:spcPts val="0"/>
              </a:spcAft>
            </a:pPr>
            <a:r>
              <a:rPr sz="1400" b="0" i="0">
                <a:solidFill>
                  <a:srgbClr val="FAF6EF"/>
                </a:solidFill>
                <a:latin typeface="Calibri"/>
              </a:rPr>
              <a:t>human approves or rejects</a:t>
            </a:r>
          </a:p>
        </p:txBody>
      </p:sp>
      <p:sp>
        <p:nvSpPr>
          <p:cNvPr id="29" name="Rectangle 28"/>
          <p:cNvSpPr/>
          <p:nvPr/>
        </p:nvSpPr>
        <p:spPr>
          <a:xfrm>
            <a:off x="3611880" y="2971800"/>
            <a:ext cx="2651760" cy="640080"/>
          </a:xfrm>
          <a:prstGeom prst="rect">
            <a:avLst/>
          </a:prstGeom>
          <a:solidFill>
            <a:srgbClr val="FFFDF8"/>
          </a:solidFill>
          <a:ln w="19050">
            <a:solidFill>
              <a:srgbClr val="A9733A"/>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27432" bIns="27432">
            <a:noAutofit/>
          </a:bodyPr>
          <a:lstStyle/>
          <a:p>
            <a:pPr algn="ctr">
              <a:spcBef>
                <a:spcPts val="0"/>
              </a:spcBef>
              <a:spcAft>
                <a:spcPts val="0"/>
              </a:spcAft>
            </a:pPr>
            <a:r>
              <a:rPr sz="1400" b="1" i="0">
                <a:solidFill>
                  <a:srgbClr val="1F2A37"/>
                </a:solidFill>
                <a:latin typeface="Calibri"/>
              </a:rPr>
              <a:t>Buyer messaging channel</a:t>
            </a:r>
          </a:p>
          <a:p>
            <a:pPr algn="ctr">
              <a:spcBef>
                <a:spcPts val="0"/>
              </a:spcBef>
              <a:spcAft>
                <a:spcPts val="0"/>
              </a:spcAft>
            </a:pPr>
            <a:r>
              <a:rPr sz="1400" b="0" i="0">
                <a:solidFill>
                  <a:srgbClr val="1F2A37"/>
                </a:solidFill>
                <a:latin typeface="Calibri"/>
              </a:rPr>
              <a:t>via backend contact gate</a:t>
            </a:r>
          </a:p>
        </p:txBody>
      </p:sp>
      <p:cxnSp>
        <p:nvCxnSpPr>
          <p:cNvPr id="30" name="Connector 29"/>
          <p:cNvCxnSpPr>
            <a:stCxn id="26" idx="3"/>
            <a:endCxn id="27" idx="1"/>
          </p:cNvCxnSpPr>
          <p:nvPr/>
        </p:nvCxnSpPr>
        <p:spPr>
          <a:xfrm flipV="1">
            <a:off x="3566160" y="2286000"/>
            <a:ext cx="274320" cy="0"/>
          </a:xfrm>
          <a:prstGeom prst="line">
            <a:avLst/>
          </a:prstGeom>
          <a:ln w="22225">
            <a:solidFill>
              <a:srgbClr val="1F2A3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a:stCxn id="27" idx="3"/>
            <a:endCxn id="28" idx="1"/>
          </p:cNvCxnSpPr>
          <p:nvPr/>
        </p:nvCxnSpPr>
        <p:spPr>
          <a:xfrm flipV="1">
            <a:off x="6035040" y="2286000"/>
            <a:ext cx="274320" cy="0"/>
          </a:xfrm>
          <a:prstGeom prst="line">
            <a:avLst/>
          </a:prstGeom>
          <a:ln w="22225">
            <a:solidFill>
              <a:srgbClr val="1F2A3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a:stCxn id="27" idx="2"/>
            <a:endCxn id="29" idx="0"/>
          </p:cNvCxnSpPr>
          <p:nvPr/>
        </p:nvCxnSpPr>
        <p:spPr>
          <a:xfrm flipH="1">
            <a:off x="4937760" y="2743200"/>
            <a:ext cx="0" cy="228600"/>
          </a:xfrm>
          <a:prstGeom prst="line">
            <a:avLst/>
          </a:prstGeom>
          <a:ln w="22225">
            <a:solidFill>
              <a:srgbClr val="A9733A"/>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1371600" y="3886200"/>
            <a:ext cx="7223760" cy="548640"/>
          </a:xfrm>
          <a:prstGeom prst="rect">
            <a:avLst/>
          </a:prstGeom>
          <a:noFill/>
        </p:spPr>
        <p:txBody>
          <a:bodyPr wrap="square" anchor="t" lIns="45720" rIns="45720" tIns="27432" bIns="27432">
            <a:noAutofit/>
          </a:bodyPr>
          <a:lstStyle/>
          <a:p>
            <a:pPr algn="l">
              <a:spcBef>
                <a:spcPts val="0"/>
              </a:spcBef>
              <a:spcAft>
                <a:spcPts val="0"/>
              </a:spcAft>
            </a:pPr>
            <a:r>
              <a:rPr sz="1600" b="1" i="0">
                <a:solidFill>
                  <a:srgbClr val="B83A26"/>
                </a:solidFill>
                <a:latin typeface="Calibri"/>
              </a:rPr>
              <a:t>Today: no Shopee/SPX data, API, messaging or dispatch. All of the above is FUTURE / UNVERIFIED.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AF6EF"/>
        </a:solidFill>
        <a:effectLst/>
      </p:bgPr>
    </p:bg>
    <p:spTree>
      <p:nvGrpSpPr>
        <p:cNvPr id="1" name=""/>
        <p:cNvGrpSpPr/>
        <p:nvPr/>
      </p:nvGrpSpPr>
      <p:grpSpPr/>
      <p:sp>
        <p:nvSpPr>
          <p:cNvPr id="2" name="TextBox 1"/>
          <p:cNvSpPr txBox="1"/>
          <p:nvPr/>
        </p:nvSpPr>
        <p:spPr>
          <a:xfrm>
            <a:off x="512064" y="256032"/>
            <a:ext cx="731520" cy="731520"/>
          </a:xfrm>
          <a:prstGeom prst="rect">
            <a:avLst/>
          </a:prstGeom>
          <a:noFill/>
        </p:spPr>
        <p:txBody>
          <a:bodyPr wrap="square" anchor="t" lIns="45720" rIns="45720" tIns="27432" bIns="27432">
            <a:noAutofit/>
          </a:bodyPr>
          <a:lstStyle/>
          <a:p>
            <a:pPr algn="l">
              <a:spcBef>
                <a:spcPts val="0"/>
              </a:spcBef>
              <a:spcAft>
                <a:spcPts val="0"/>
              </a:spcAft>
            </a:pPr>
            <a:r>
              <a:rPr sz="4400" b="1" i="0">
                <a:solidFill>
                  <a:srgbClr val="0E5E6F"/>
                </a:solidFill>
                <a:latin typeface="Georgia"/>
              </a:rPr>
              <a:t>B</a:t>
            </a:r>
          </a:p>
        </p:txBody>
      </p:sp>
      <p:cxnSp>
        <p:nvCxnSpPr>
          <p:cNvPr id="3" name="Connector 2"/>
          <p:cNvCxnSpPr/>
          <p:nvPr/>
        </p:nvCxnSpPr>
        <p:spPr>
          <a:xfrm>
            <a:off x="621792" y="1051560"/>
            <a:ext cx="0" cy="3337560"/>
          </a:xfrm>
          <a:prstGeom prst="line">
            <a:avLst/>
          </a:prstGeom>
          <a:ln w="12700">
            <a:solidFill>
              <a:srgbClr val="C58B4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371600" y="274320"/>
            <a:ext cx="7223760" cy="219456"/>
          </a:xfrm>
          <a:prstGeom prst="rect">
            <a:avLst/>
          </a:prstGeom>
          <a:noFill/>
        </p:spPr>
        <p:txBody>
          <a:bodyPr wrap="square" anchor="t" lIns="45720" rIns="45720" tIns="27432" bIns="27432">
            <a:noAutofit/>
          </a:bodyPr>
          <a:lstStyle/>
          <a:p>
            <a:pPr algn="l">
              <a:spcBef>
                <a:spcPts val="0"/>
              </a:spcBef>
              <a:spcAft>
                <a:spcPts val="0"/>
              </a:spcAft>
            </a:pPr>
            <a:r>
              <a:rPr sz="1100" b="1" i="0">
                <a:solidFill>
                  <a:srgbClr val="0E5E6F"/>
                </a:solidFill>
                <a:latin typeface="Calibri"/>
              </a:rPr>
              <a:t>BACKUP | ROADMAP</a:t>
            </a:r>
          </a:p>
        </p:txBody>
      </p:sp>
      <p:sp>
        <p:nvSpPr>
          <p:cNvPr id="5" name="TextBox 4"/>
          <p:cNvSpPr txBox="1"/>
          <p:nvPr/>
        </p:nvSpPr>
        <p:spPr>
          <a:xfrm>
            <a:off x="548640" y="4818888"/>
            <a:ext cx="5486400" cy="219456"/>
          </a:xfrm>
          <a:prstGeom prst="rect">
            <a:avLst/>
          </a:prstGeom>
          <a:noFill/>
        </p:spPr>
        <p:txBody>
          <a:bodyPr wrap="square" anchor="t" lIns="45720" rIns="45720" tIns="27432" bIns="27432">
            <a:noAutofit/>
          </a:bodyPr>
          <a:lstStyle/>
          <a:p>
            <a:pPr algn="l">
              <a:spcBef>
                <a:spcPts val="0"/>
              </a:spcBef>
              <a:spcAft>
                <a:spcPts val="0"/>
              </a:spcAft>
            </a:pPr>
            <a:r>
              <a:rPr sz="1100" b="0" i="0">
                <a:solidFill>
                  <a:srgbClr val="5B6270"/>
                </a:solidFill>
                <a:latin typeface="Calibri"/>
              </a:rPr>
              <a:t>Order Rescue | synthetic data only | local MVP</a:t>
            </a:r>
          </a:p>
        </p:txBody>
      </p:sp>
      <p:sp>
        <p:nvSpPr>
          <p:cNvPr id="6" name="TextBox 5"/>
          <p:cNvSpPr txBox="1"/>
          <p:nvPr/>
        </p:nvSpPr>
        <p:spPr>
          <a:xfrm>
            <a:off x="7680960" y="4818888"/>
            <a:ext cx="914400" cy="219456"/>
          </a:xfrm>
          <a:prstGeom prst="rect">
            <a:avLst/>
          </a:prstGeom>
          <a:noFill/>
        </p:spPr>
        <p:txBody>
          <a:bodyPr wrap="square" anchor="t" lIns="45720" rIns="45720" tIns="27432" bIns="27432">
            <a:noAutofit/>
          </a:bodyPr>
          <a:lstStyle/>
          <a:p>
            <a:pPr algn="r">
              <a:spcBef>
                <a:spcPts val="0"/>
              </a:spcBef>
              <a:spcAft>
                <a:spcPts val="0"/>
              </a:spcAft>
            </a:pPr>
            <a:r>
              <a:rPr sz="1100" b="0" i="0">
                <a:solidFill>
                  <a:srgbClr val="5B6270"/>
                </a:solidFill>
                <a:latin typeface="Calibri"/>
              </a:rPr>
              <a:t>15 / 15</a:t>
            </a:r>
          </a:p>
        </p:txBody>
      </p:sp>
      <p:cxnSp>
        <p:nvCxnSpPr>
          <p:cNvPr id="7" name="Connector 6"/>
          <p:cNvCxnSpPr/>
          <p:nvPr/>
        </p:nvCxnSpPr>
        <p:spPr>
          <a:xfrm>
            <a:off x="548640" y="4645152"/>
            <a:ext cx="8046720" cy="0"/>
          </a:xfrm>
          <a:prstGeom prst="line">
            <a:avLst/>
          </a:prstGeom>
          <a:ln w="12700">
            <a:solidFill>
              <a:srgbClr val="C58B4B"/>
            </a:solidFill>
          </a:ln>
        </p:spPr>
        <p:style>
          <a:lnRef idx="2">
            <a:schemeClr val="accent1"/>
          </a:lnRef>
          <a:fillRef idx="0">
            <a:schemeClr val="accent1"/>
          </a:fillRef>
          <a:effectRef idx="1">
            <a:schemeClr val="accent1"/>
          </a:effectRef>
          <a:fontRef idx="minor">
            <a:schemeClr val="tx1"/>
          </a:fontRef>
        </p:style>
      </p:cxnSp>
      <p:sp>
        <p:nvSpPr>
          <p:cNvPr id="8" name="Oval 7"/>
          <p:cNvSpPr/>
          <p:nvPr/>
        </p:nvSpPr>
        <p:spPr>
          <a:xfrm>
            <a:off x="498348" y="4594860"/>
            <a:ext cx="100584" cy="100584"/>
          </a:xfrm>
          <a:prstGeom prst="ellipse">
            <a:avLst/>
          </a:prstGeom>
          <a:solidFill>
            <a:srgbClr val="FAF6E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73114" y="4594860"/>
            <a:ext cx="100584" cy="100584"/>
          </a:xfrm>
          <a:prstGeom prst="ellipse">
            <a:avLst/>
          </a:prstGeom>
          <a:solidFill>
            <a:srgbClr val="FAF6E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647879" y="4594860"/>
            <a:ext cx="100584" cy="100584"/>
          </a:xfrm>
          <a:prstGeom prst="ellipse">
            <a:avLst/>
          </a:prstGeom>
          <a:solidFill>
            <a:srgbClr val="FAF6E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222645" y="4594860"/>
            <a:ext cx="100584" cy="100584"/>
          </a:xfrm>
          <a:prstGeom prst="ellipse">
            <a:avLst/>
          </a:prstGeom>
          <a:solidFill>
            <a:srgbClr val="FAF6E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2797411" y="4594860"/>
            <a:ext cx="100584" cy="100584"/>
          </a:xfrm>
          <a:prstGeom prst="ellipse">
            <a:avLst/>
          </a:prstGeom>
          <a:solidFill>
            <a:srgbClr val="FAF6E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3372177" y="4594860"/>
            <a:ext cx="100584" cy="100584"/>
          </a:xfrm>
          <a:prstGeom prst="ellipse">
            <a:avLst/>
          </a:prstGeom>
          <a:solidFill>
            <a:srgbClr val="FAF6E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946942" y="4594860"/>
            <a:ext cx="100584" cy="100584"/>
          </a:xfrm>
          <a:prstGeom prst="ellipse">
            <a:avLst/>
          </a:prstGeom>
          <a:solidFill>
            <a:srgbClr val="FAF6E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521708" y="4594860"/>
            <a:ext cx="100584" cy="100584"/>
          </a:xfrm>
          <a:prstGeom prst="ellipse">
            <a:avLst/>
          </a:prstGeom>
          <a:solidFill>
            <a:srgbClr val="FAF6E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096474" y="4594860"/>
            <a:ext cx="100584" cy="100584"/>
          </a:xfrm>
          <a:prstGeom prst="ellipse">
            <a:avLst/>
          </a:prstGeom>
          <a:solidFill>
            <a:srgbClr val="FAF6E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5671239" y="4594860"/>
            <a:ext cx="100584" cy="100584"/>
          </a:xfrm>
          <a:prstGeom prst="ellipse">
            <a:avLst/>
          </a:prstGeom>
          <a:solidFill>
            <a:srgbClr val="FAF6E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246005" y="4594860"/>
            <a:ext cx="100584" cy="100584"/>
          </a:xfrm>
          <a:prstGeom prst="ellipse">
            <a:avLst/>
          </a:prstGeom>
          <a:solidFill>
            <a:srgbClr val="FAF6EF"/>
          </a:solidFill>
          <a:ln w="15875">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20771" y="4594860"/>
            <a:ext cx="100584" cy="100584"/>
          </a:xfrm>
          <a:prstGeom prst="ellipse">
            <a:avLst/>
          </a:prstGeom>
          <a:solidFill>
            <a:srgbClr val="FAF6EF"/>
          </a:solidFill>
          <a:ln w="15875">
            <a:solidFill>
              <a:srgbClr val="C58B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395537" y="4594860"/>
            <a:ext cx="100584" cy="100584"/>
          </a:xfrm>
          <a:prstGeom prst="ellipse">
            <a:avLst/>
          </a:prstGeom>
          <a:solidFill>
            <a:srgbClr val="FAF6EF"/>
          </a:solidFill>
          <a:ln w="15875">
            <a:solidFill>
              <a:srgbClr val="C58B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970302" y="4594860"/>
            <a:ext cx="100584" cy="100584"/>
          </a:xfrm>
          <a:prstGeom prst="ellipse">
            <a:avLst/>
          </a:prstGeom>
          <a:solidFill>
            <a:srgbClr val="FAF6EF"/>
          </a:solidFill>
          <a:ln w="15875">
            <a:solidFill>
              <a:srgbClr val="C58B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8503920" y="4553712"/>
            <a:ext cx="182880" cy="182880"/>
          </a:xfrm>
          <a:prstGeom prst="ellipse">
            <a:avLst/>
          </a:prstGeom>
          <a:solidFill>
            <a:srgbClr val="0E5E6F"/>
          </a:solidFill>
          <a:ln w="15875">
            <a:solidFill>
              <a:srgbClr val="C58B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371600" y="502920"/>
            <a:ext cx="7223760" cy="496824"/>
          </a:xfrm>
          <a:prstGeom prst="rect">
            <a:avLst/>
          </a:prstGeom>
          <a:noFill/>
        </p:spPr>
        <p:txBody>
          <a:bodyPr wrap="square" anchor="t" lIns="45720" rIns="45720" tIns="27432" bIns="27432">
            <a:noAutofit/>
          </a:bodyPr>
          <a:lstStyle/>
          <a:p>
            <a:pPr algn="l">
              <a:lnSpc>
                <a:spcPct val="95000"/>
              </a:lnSpc>
              <a:spcBef>
                <a:spcPts val="0"/>
              </a:spcBef>
              <a:spcAft>
                <a:spcPts val="0"/>
              </a:spcAft>
            </a:pPr>
            <a:r>
              <a:rPr sz="2800" b="1" i="0">
                <a:solidFill>
                  <a:srgbClr val="1F2A37"/>
                </a:solidFill>
                <a:latin typeface="Georgia"/>
              </a:rPr>
              <a:t>Roadmap and Q&amp;A backup</a:t>
            </a:r>
          </a:p>
        </p:txBody>
      </p:sp>
      <p:sp>
        <p:nvSpPr>
          <p:cNvPr id="24" name="TextBox 23"/>
          <p:cNvSpPr txBox="1"/>
          <p:nvPr/>
        </p:nvSpPr>
        <p:spPr>
          <a:xfrm>
            <a:off x="1371600" y="1005840"/>
            <a:ext cx="2286000" cy="365760"/>
          </a:xfrm>
          <a:prstGeom prst="rect">
            <a:avLst/>
          </a:prstGeom>
          <a:noFill/>
        </p:spPr>
        <p:txBody>
          <a:bodyPr wrap="square" anchor="t" lIns="45720" rIns="45720" tIns="27432" bIns="27432">
            <a:noAutofit/>
          </a:bodyPr>
          <a:lstStyle/>
          <a:p>
            <a:pPr algn="l">
              <a:spcBef>
                <a:spcPts val="0"/>
              </a:spcBef>
              <a:spcAft>
                <a:spcPts val="0"/>
              </a:spcAft>
            </a:pPr>
            <a:r>
              <a:rPr sz="2000" b="1" i="0">
                <a:solidFill>
                  <a:srgbClr val="B83A26"/>
                </a:solidFill>
                <a:latin typeface="Georgia"/>
              </a:rPr>
              <a:t>Next</a:t>
            </a:r>
          </a:p>
        </p:txBody>
      </p:sp>
      <p:sp>
        <p:nvSpPr>
          <p:cNvPr id="25" name="Oval 24"/>
          <p:cNvSpPr/>
          <p:nvPr/>
        </p:nvSpPr>
        <p:spPr>
          <a:xfrm>
            <a:off x="1417320" y="1417320"/>
            <a:ext cx="310896" cy="310896"/>
          </a:xfrm>
          <a:prstGeom prst="ellipse">
            <a:avLst/>
          </a:prstGeom>
          <a:solidFill>
            <a:srgbClr val="D64933"/>
          </a:solidFill>
          <a:ln w="25400">
            <a:solidFill>
              <a:srgbClr val="D649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371600" y="1810512"/>
            <a:ext cx="2286000" cy="566928"/>
          </a:xfrm>
          <a:prstGeom prst="rect">
            <a:avLst/>
          </a:prstGeom>
          <a:noFill/>
        </p:spPr>
        <p:txBody>
          <a:bodyPr wrap="square" anchor="t" lIns="45720" rIns="45720" tIns="27432" bIns="27432">
            <a:noAutofit/>
          </a:bodyPr>
          <a:lstStyle/>
          <a:p>
            <a:pPr algn="l">
              <a:spcBef>
                <a:spcPts val="0"/>
              </a:spcBef>
              <a:spcAft>
                <a:spcPts val="0"/>
              </a:spcAft>
            </a:pPr>
            <a:r>
              <a:rPr sz="1400" b="0" i="0">
                <a:solidFill>
                  <a:srgbClr val="1F2A37"/>
                </a:solidFill>
                <a:latin typeface="Calibri"/>
              </a:rPr>
              <a:t>Connect the LLM agent to the v2.2 contract</a:t>
            </a:r>
          </a:p>
        </p:txBody>
      </p:sp>
      <p:sp>
        <p:nvSpPr>
          <p:cNvPr id="27" name="TextBox 26"/>
          <p:cNvSpPr txBox="1"/>
          <p:nvPr/>
        </p:nvSpPr>
        <p:spPr>
          <a:xfrm>
            <a:off x="3840480" y="1005840"/>
            <a:ext cx="2286000" cy="365760"/>
          </a:xfrm>
          <a:prstGeom prst="rect">
            <a:avLst/>
          </a:prstGeom>
          <a:noFill/>
        </p:spPr>
        <p:txBody>
          <a:bodyPr wrap="square" anchor="t" lIns="45720" rIns="45720" tIns="27432" bIns="27432">
            <a:noAutofit/>
          </a:bodyPr>
          <a:lstStyle/>
          <a:p>
            <a:pPr algn="l">
              <a:spcBef>
                <a:spcPts val="0"/>
              </a:spcBef>
              <a:spcAft>
                <a:spcPts val="0"/>
              </a:spcAft>
            </a:pPr>
            <a:r>
              <a:rPr sz="2000" b="1" i="0">
                <a:solidFill>
                  <a:srgbClr val="0E5E6F"/>
                </a:solidFill>
                <a:latin typeface="Georgia"/>
              </a:rPr>
              <a:t>Then</a:t>
            </a:r>
          </a:p>
        </p:txBody>
      </p:sp>
      <p:sp>
        <p:nvSpPr>
          <p:cNvPr id="28" name="Oval 27"/>
          <p:cNvSpPr/>
          <p:nvPr/>
        </p:nvSpPr>
        <p:spPr>
          <a:xfrm>
            <a:off x="3886200" y="1417320"/>
            <a:ext cx="310896" cy="310896"/>
          </a:xfrm>
          <a:prstGeom prst="ellipse">
            <a:avLst/>
          </a:prstGeom>
          <a:solidFill>
            <a:srgbClr val="FAF6EF"/>
          </a:solidFill>
          <a:ln w="25400">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840480" y="1810512"/>
            <a:ext cx="2286000" cy="566928"/>
          </a:xfrm>
          <a:prstGeom prst="rect">
            <a:avLst/>
          </a:prstGeom>
          <a:noFill/>
        </p:spPr>
        <p:txBody>
          <a:bodyPr wrap="square" anchor="t" lIns="45720" rIns="45720" tIns="27432" bIns="27432">
            <a:noAutofit/>
          </a:bodyPr>
          <a:lstStyle/>
          <a:p>
            <a:pPr algn="l">
              <a:spcBef>
                <a:spcPts val="0"/>
              </a:spcBef>
              <a:spcAft>
                <a:spcPts val="0"/>
              </a:spcAft>
            </a:pPr>
            <a:r>
              <a:rPr sz="1400" b="0" i="0">
                <a:solidFill>
                  <a:srgbClr val="1F2A37"/>
                </a:solidFill>
                <a:latin typeface="Calibri"/>
              </a:rPr>
              <a:t>Run all 30 cases through an evaluator</a:t>
            </a:r>
          </a:p>
        </p:txBody>
      </p:sp>
      <p:sp>
        <p:nvSpPr>
          <p:cNvPr id="30" name="TextBox 29"/>
          <p:cNvSpPr txBox="1"/>
          <p:nvPr/>
        </p:nvSpPr>
        <p:spPr>
          <a:xfrm>
            <a:off x="6309360" y="1005840"/>
            <a:ext cx="2286000" cy="365760"/>
          </a:xfrm>
          <a:prstGeom prst="rect">
            <a:avLst/>
          </a:prstGeom>
          <a:noFill/>
        </p:spPr>
        <p:txBody>
          <a:bodyPr wrap="square" anchor="t" lIns="45720" rIns="45720" tIns="27432" bIns="27432">
            <a:noAutofit/>
          </a:bodyPr>
          <a:lstStyle/>
          <a:p>
            <a:pPr algn="l">
              <a:spcBef>
                <a:spcPts val="0"/>
              </a:spcBef>
              <a:spcAft>
                <a:spcPts val="0"/>
              </a:spcAft>
            </a:pPr>
            <a:r>
              <a:rPr sz="2000" b="1" i="0">
                <a:solidFill>
                  <a:srgbClr val="0E5E6F"/>
                </a:solidFill>
                <a:latin typeface="Georgia"/>
              </a:rPr>
              <a:t>Later</a:t>
            </a:r>
          </a:p>
        </p:txBody>
      </p:sp>
      <p:sp>
        <p:nvSpPr>
          <p:cNvPr id="31" name="Oval 30"/>
          <p:cNvSpPr/>
          <p:nvPr/>
        </p:nvSpPr>
        <p:spPr>
          <a:xfrm>
            <a:off x="6355080" y="1417320"/>
            <a:ext cx="310896" cy="310896"/>
          </a:xfrm>
          <a:prstGeom prst="ellipse">
            <a:avLst/>
          </a:prstGeom>
          <a:solidFill>
            <a:srgbClr val="FAF6EF"/>
          </a:solidFill>
          <a:ln w="25400">
            <a:solidFill>
              <a:srgbClr val="0E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09360" y="1810512"/>
            <a:ext cx="2286000" cy="566928"/>
          </a:xfrm>
          <a:prstGeom prst="rect">
            <a:avLst/>
          </a:prstGeom>
          <a:noFill/>
        </p:spPr>
        <p:txBody>
          <a:bodyPr wrap="square" anchor="t" lIns="45720" rIns="45720" tIns="27432" bIns="27432">
            <a:noAutofit/>
          </a:bodyPr>
          <a:lstStyle/>
          <a:p>
            <a:pPr algn="l">
              <a:spcBef>
                <a:spcPts val="0"/>
              </a:spcBef>
              <a:spcAft>
                <a:spcPts val="0"/>
              </a:spcAft>
            </a:pPr>
            <a:r>
              <a:rPr sz="1400" b="0" i="0">
                <a:solidFill>
                  <a:srgbClr val="1F2A37"/>
                </a:solidFill>
                <a:latin typeface="Calibri"/>
              </a:rPr>
              <a:t>Pilot on real data with permission</a:t>
            </a:r>
          </a:p>
        </p:txBody>
      </p:sp>
      <p:cxnSp>
        <p:nvCxnSpPr>
          <p:cNvPr id="33" name="Connector 32"/>
          <p:cNvCxnSpPr/>
          <p:nvPr/>
        </p:nvCxnSpPr>
        <p:spPr>
          <a:xfrm>
            <a:off x="1728216" y="1572768"/>
            <a:ext cx="2157984" cy="0"/>
          </a:xfrm>
          <a:prstGeom prst="line">
            <a:avLst/>
          </a:prstGeom>
          <a:ln w="22225">
            <a:solidFill>
              <a:srgbClr val="0E5E6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4197096" y="1572768"/>
            <a:ext cx="2157984" cy="0"/>
          </a:xfrm>
          <a:prstGeom prst="line">
            <a:avLst/>
          </a:prstGeom>
          <a:ln w="22225">
            <a:solidFill>
              <a:srgbClr val="0E5E6F"/>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1371600" y="2423160"/>
            <a:ext cx="7223760" cy="310896"/>
          </a:xfrm>
          <a:prstGeom prst="rect">
            <a:avLst/>
          </a:prstGeom>
          <a:noFill/>
        </p:spPr>
        <p:txBody>
          <a:bodyPr wrap="square" anchor="t" lIns="45720" rIns="45720" tIns="27432" bIns="27432">
            <a:noAutofit/>
          </a:bodyPr>
          <a:lstStyle/>
          <a:p>
            <a:pPr algn="l">
              <a:spcBef>
                <a:spcPts val="0"/>
              </a:spcBef>
              <a:spcAft>
                <a:spcPts val="0"/>
              </a:spcAft>
            </a:pPr>
            <a:r>
              <a:rPr sz="1600" b="1" i="0">
                <a:solidFill>
                  <a:srgbClr val="0E5E6F"/>
                </a:solidFill>
                <a:latin typeface="Georgia"/>
              </a:rPr>
              <a:t>Q&amp;A backup:</a:t>
            </a:r>
          </a:p>
        </p:txBody>
      </p:sp>
      <p:cxnSp>
        <p:nvCxnSpPr>
          <p:cNvPr id="36" name="Connector 35"/>
          <p:cNvCxnSpPr/>
          <p:nvPr/>
        </p:nvCxnSpPr>
        <p:spPr>
          <a:xfrm>
            <a:off x="1371600" y="2788920"/>
            <a:ext cx="7223760" cy="0"/>
          </a:xfrm>
          <a:prstGeom prst="line">
            <a:avLst/>
          </a:prstGeom>
          <a:ln w="9525">
            <a:solidFill>
              <a:srgbClr val="C58B4B"/>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1371600" y="2816352"/>
            <a:ext cx="3931920" cy="512064"/>
          </a:xfrm>
          <a:prstGeom prst="rect">
            <a:avLst/>
          </a:prstGeom>
          <a:noFill/>
        </p:spPr>
        <p:txBody>
          <a:bodyPr wrap="square" anchor="ctr" lIns="45720" rIns="45720" tIns="27432" bIns="27432">
            <a:noAutofit/>
          </a:bodyPr>
          <a:lstStyle/>
          <a:p>
            <a:pPr algn="l">
              <a:spcBef>
                <a:spcPts val="0"/>
              </a:spcBef>
              <a:spcAft>
                <a:spcPts val="0"/>
              </a:spcAft>
            </a:pPr>
            <a:r>
              <a:rPr sz="1500" b="0" i="1">
                <a:solidFill>
                  <a:srgbClr val="1F2A37"/>
                </a:solidFill>
                <a:latin typeface="Georgia"/>
              </a:rPr>
              <a:t>How do you prevent hallucinated actions?</a:t>
            </a:r>
          </a:p>
        </p:txBody>
      </p:sp>
      <p:sp>
        <p:nvSpPr>
          <p:cNvPr id="38" name="TextBox 37"/>
          <p:cNvSpPr txBox="1"/>
          <p:nvPr/>
        </p:nvSpPr>
        <p:spPr>
          <a:xfrm>
            <a:off x="5394960" y="2816352"/>
            <a:ext cx="3200400" cy="512064"/>
          </a:xfrm>
          <a:prstGeom prst="rect">
            <a:avLst/>
          </a:prstGeom>
          <a:noFill/>
        </p:spPr>
        <p:txBody>
          <a:bodyPr wrap="square" anchor="ctr" lIns="45720" rIns="45720" tIns="27432" bIns="27432">
            <a:noAutofit/>
          </a:bodyPr>
          <a:lstStyle/>
          <a:p>
            <a:pPr algn="l">
              <a:spcBef>
                <a:spcPts val="0"/>
              </a:spcBef>
              <a:spcAft>
                <a:spcPts val="0"/>
              </a:spcAft>
            </a:pPr>
            <a:r>
              <a:rPr sz="1400" b="0" i="0">
                <a:solidFill>
                  <a:srgbClr val="1F2A37"/>
                </a:solidFill>
                <a:latin typeface="Calibri"/>
              </a:rPr>
              <a:t>Fixed vocabularies and a deterministic gate.</a:t>
            </a:r>
          </a:p>
        </p:txBody>
      </p:sp>
      <p:cxnSp>
        <p:nvCxnSpPr>
          <p:cNvPr id="39" name="Connector 38"/>
          <p:cNvCxnSpPr/>
          <p:nvPr/>
        </p:nvCxnSpPr>
        <p:spPr>
          <a:xfrm>
            <a:off x="1371600" y="3355848"/>
            <a:ext cx="7223760" cy="0"/>
          </a:xfrm>
          <a:prstGeom prst="line">
            <a:avLst/>
          </a:prstGeom>
          <a:ln w="9525">
            <a:solidFill>
              <a:srgbClr val="C58B4B"/>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1371600" y="3383280"/>
            <a:ext cx="3931920" cy="512064"/>
          </a:xfrm>
          <a:prstGeom prst="rect">
            <a:avLst/>
          </a:prstGeom>
          <a:noFill/>
        </p:spPr>
        <p:txBody>
          <a:bodyPr wrap="square" anchor="ctr" lIns="45720" rIns="45720" tIns="27432" bIns="27432">
            <a:noAutofit/>
          </a:bodyPr>
          <a:lstStyle/>
          <a:p>
            <a:pPr algn="l">
              <a:spcBef>
                <a:spcPts val="0"/>
              </a:spcBef>
              <a:spcAft>
                <a:spcPts val="0"/>
              </a:spcAft>
            </a:pPr>
            <a:r>
              <a:rPr sz="1500" b="0" i="1">
                <a:solidFill>
                  <a:srgbClr val="1F2A37"/>
                </a:solidFill>
                <a:latin typeface="Georgia"/>
              </a:rPr>
              <a:t>Why one question only?</a:t>
            </a:r>
          </a:p>
        </p:txBody>
      </p:sp>
      <p:sp>
        <p:nvSpPr>
          <p:cNvPr id="41" name="TextBox 40"/>
          <p:cNvSpPr txBox="1"/>
          <p:nvPr/>
        </p:nvSpPr>
        <p:spPr>
          <a:xfrm>
            <a:off x="5394960" y="3383280"/>
            <a:ext cx="3200400" cy="512064"/>
          </a:xfrm>
          <a:prstGeom prst="rect">
            <a:avLst/>
          </a:prstGeom>
          <a:noFill/>
        </p:spPr>
        <p:txBody>
          <a:bodyPr wrap="square" anchor="ctr" lIns="45720" rIns="45720" tIns="27432" bIns="27432">
            <a:noAutofit/>
          </a:bodyPr>
          <a:lstStyle/>
          <a:p>
            <a:pPr algn="l">
              <a:spcBef>
                <a:spcPts val="0"/>
              </a:spcBef>
              <a:spcAft>
                <a:spcPts val="0"/>
              </a:spcAft>
            </a:pPr>
            <a:r>
              <a:rPr sz="1400" b="0" i="0">
                <a:solidFill>
                  <a:srgbClr val="1F2A37"/>
                </a:solidFill>
                <a:latin typeface="Calibri"/>
              </a:rPr>
              <a:t>Policy profile caps buyer questions at 1.</a:t>
            </a:r>
          </a:p>
        </p:txBody>
      </p:sp>
      <p:cxnSp>
        <p:nvCxnSpPr>
          <p:cNvPr id="42" name="Connector 41"/>
          <p:cNvCxnSpPr/>
          <p:nvPr/>
        </p:nvCxnSpPr>
        <p:spPr>
          <a:xfrm>
            <a:off x="1371600" y="3922776"/>
            <a:ext cx="7223760" cy="0"/>
          </a:xfrm>
          <a:prstGeom prst="line">
            <a:avLst/>
          </a:prstGeom>
          <a:ln w="9525">
            <a:solidFill>
              <a:srgbClr val="C58B4B"/>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1371600" y="3950208"/>
            <a:ext cx="3931920" cy="512064"/>
          </a:xfrm>
          <a:prstGeom prst="rect">
            <a:avLst/>
          </a:prstGeom>
          <a:noFill/>
        </p:spPr>
        <p:txBody>
          <a:bodyPr wrap="square" anchor="ctr" lIns="45720" rIns="45720" tIns="27432" bIns="27432">
            <a:noAutofit/>
          </a:bodyPr>
          <a:lstStyle/>
          <a:p>
            <a:pPr algn="l">
              <a:spcBef>
                <a:spcPts val="0"/>
              </a:spcBef>
              <a:spcAft>
                <a:spcPts val="0"/>
              </a:spcAft>
            </a:pPr>
            <a:r>
              <a:rPr sz="1500" b="0" i="1">
                <a:solidFill>
                  <a:srgbClr val="1F2A37"/>
                </a:solidFill>
                <a:latin typeface="Georgia"/>
              </a:rPr>
              <a:t>What is real today?</a:t>
            </a:r>
          </a:p>
        </p:txBody>
      </p:sp>
      <p:sp>
        <p:nvSpPr>
          <p:cNvPr id="44" name="TextBox 43"/>
          <p:cNvSpPr txBox="1"/>
          <p:nvPr/>
        </p:nvSpPr>
        <p:spPr>
          <a:xfrm>
            <a:off x="5394960" y="3950208"/>
            <a:ext cx="3200400" cy="512064"/>
          </a:xfrm>
          <a:prstGeom prst="rect">
            <a:avLst/>
          </a:prstGeom>
          <a:noFill/>
        </p:spPr>
        <p:txBody>
          <a:bodyPr wrap="square" anchor="ctr" lIns="45720" rIns="45720" tIns="27432" bIns="27432">
            <a:noAutofit/>
          </a:bodyPr>
          <a:lstStyle/>
          <a:p>
            <a:pPr algn="l">
              <a:spcBef>
                <a:spcPts val="0"/>
              </a:spcBef>
              <a:spcAft>
                <a:spcPts val="0"/>
              </a:spcAft>
            </a:pPr>
            <a:r>
              <a:rPr sz="1400" b="0" i="0">
                <a:solidFill>
                  <a:srgbClr val="1F2A37"/>
                </a:solidFill>
                <a:latin typeface="Calibri"/>
              </a:rPr>
              <a:t>Local app, policy gate and tests.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